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7828769d81d4887" /><Relationship Type="http://schemas.openxmlformats.org/officeDocument/2006/relationships/extended-properties" Target="/docProps/app.xml" Id="Rc485a7f947b648c1" /><Relationship Type="http://schemas.openxmlformats.org/officeDocument/2006/relationships/officeDocument" Target="/ppt/presentation.xml" Id="R96b1a1c3d2234012" /></Relationships>
</file>

<file path=ppt/presentation.xml><?xml version="1.0" encoding="utf-8"?>
<p:presentation xmlns:p="http://schemas.openxmlformats.org/presentationml/2006/main">
  <p:sldMasterIdLst>
    <p:sldMasterId xmlns:r="http://schemas.openxmlformats.org/officeDocument/2006/relationships" id="2147483648" r:id="R162b34631f714032"/>
  </p:sldMasterIdLst>
  <p:notesMasterIdLst>
    <p:notesMasterId xmlns:r="http://schemas.openxmlformats.org/officeDocument/2006/relationships" r:id="Rb2efd5cffa1041ff"/>
  </p:notesMasterIdLst>
  <p:sldIdLst>
    <p:sldId xmlns:r="http://schemas.openxmlformats.org/officeDocument/2006/relationships" id="256" r:id="Rf886fdcfb2974470"/>
    <p:sldId xmlns:r="http://schemas.openxmlformats.org/officeDocument/2006/relationships" id="257" r:id="R6e4e1f86a9184df0"/>
    <p:sldId xmlns:r="http://schemas.openxmlformats.org/officeDocument/2006/relationships" id="258" r:id="R0ae0380eb9ef471a"/>
    <p:sldId xmlns:r="http://schemas.openxmlformats.org/officeDocument/2006/relationships" id="259" r:id="Rf7fd1187f3cd457a"/>
    <p:sldId xmlns:r="http://schemas.openxmlformats.org/officeDocument/2006/relationships" id="260" r:id="R20b71356e6924e8d"/>
    <p:sldId xmlns:r="http://schemas.openxmlformats.org/officeDocument/2006/relationships" id="261" r:id="Rdf03f3043e6c405f"/>
    <p:sldId xmlns:r="http://schemas.openxmlformats.org/officeDocument/2006/relationships" id="262" r:id="Rd22753df824b4a17"/>
    <p:sldId xmlns:r="http://schemas.openxmlformats.org/officeDocument/2006/relationships" id="263" r:id="Re3d36dc852434a03"/>
    <p:sldId xmlns:r="http://schemas.openxmlformats.org/officeDocument/2006/relationships" id="264" r:id="R5985ad42903b4e75"/>
    <p:sldId xmlns:r="http://schemas.openxmlformats.org/officeDocument/2006/relationships" id="265" r:id="R780abf40636843a5"/>
    <p:sldId xmlns:r="http://schemas.openxmlformats.org/officeDocument/2006/relationships" id="266" r:id="R9ed86482fcff4949"/>
    <p:sldId xmlns:r="http://schemas.openxmlformats.org/officeDocument/2006/relationships" id="267" r:id="Ref155e606ed04cc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51eded1a9b94b43" /><Relationship Type="http://schemas.openxmlformats.org/officeDocument/2006/relationships/slideMaster" Target="/ppt/slideMasters/slideMaster1.xml" Id="R162b34631f714032" /><Relationship Type="http://schemas.openxmlformats.org/officeDocument/2006/relationships/notesMaster" Target="/ppt/notesMasters/notesMaster1.xml" Id="Rb2efd5cffa1041ff" /><Relationship Type="http://schemas.openxmlformats.org/officeDocument/2006/relationships/presProps" Target="/ppt/presProps.xml" Id="R5783c0331f6245eb" /><Relationship Type="http://schemas.openxmlformats.org/officeDocument/2006/relationships/tableStyles" Target="/ppt/tableStyles.xml" Id="Rdbc2ffcfd8a94898" /><Relationship Type="http://schemas.openxmlformats.org/officeDocument/2006/relationships/slide" Target="/ppt/slides/slide1.xml" Id="Rf886fdcfb2974470" /><Relationship Type="http://schemas.openxmlformats.org/officeDocument/2006/relationships/slide" Target="/ppt/slides/slide2.xml" Id="R6e4e1f86a9184df0" /><Relationship Type="http://schemas.openxmlformats.org/officeDocument/2006/relationships/slide" Target="/ppt/slides/slide3.xml" Id="R0ae0380eb9ef471a" /><Relationship Type="http://schemas.openxmlformats.org/officeDocument/2006/relationships/slide" Target="/ppt/slides/slide4.xml" Id="Rf7fd1187f3cd457a" /><Relationship Type="http://schemas.openxmlformats.org/officeDocument/2006/relationships/slide" Target="/ppt/slides/slide5.xml" Id="R20b71356e6924e8d" /><Relationship Type="http://schemas.openxmlformats.org/officeDocument/2006/relationships/slide" Target="/ppt/slides/slide6.xml" Id="Rdf03f3043e6c405f" /><Relationship Type="http://schemas.openxmlformats.org/officeDocument/2006/relationships/slide" Target="/ppt/slides/slide7.xml" Id="Rd22753df824b4a17" /><Relationship Type="http://schemas.openxmlformats.org/officeDocument/2006/relationships/slide" Target="/ppt/slides/slide8.xml" Id="Re3d36dc852434a03" /><Relationship Type="http://schemas.openxmlformats.org/officeDocument/2006/relationships/slide" Target="/ppt/slides/slide9.xml" Id="R5985ad42903b4e75" /><Relationship Type="http://schemas.openxmlformats.org/officeDocument/2006/relationships/slide" Target="/ppt/slides/slide10.xml" Id="R780abf40636843a5" /><Relationship Type="http://schemas.openxmlformats.org/officeDocument/2006/relationships/slide" Target="/ppt/slides/slide11.xml" Id="R9ed86482fcff4949" /><Relationship Type="http://schemas.openxmlformats.org/officeDocument/2006/relationships/slide" Target="/ppt/slides/slide12.xml" Id="Ref155e606ed04cc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011ff9392ec499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290156a807f4fe2" /><Relationship Type="http://schemas.openxmlformats.org/officeDocument/2006/relationships/notesMaster" Target="/ppt/notesMasters/notesMaster1.xml" Id="R982c7e20b4f34621" /></Relationships>
</file>

<file path=ppt/notesSlides/_rels/notesSlide2.xml.rels>&#65279;<?xml version="1.0" encoding="utf-8"?><Relationships xmlns="http://schemas.openxmlformats.org/package/2006/relationships"><Relationship Type="http://schemas.openxmlformats.org/officeDocument/2006/relationships/slide" Target="/ppt/slides/slide2.xml" Id="R05cc597ae31643bc" /><Relationship Type="http://schemas.openxmlformats.org/officeDocument/2006/relationships/notesMaster" Target="/ppt/notesMasters/notesMaster1.xml" Id="R42d0548447744c8b" /></Relationships>
</file>

<file path=ppt/notesSlides/_rels/notesSlide3.xml.rels>&#65279;<?xml version="1.0" encoding="utf-8"?><Relationships xmlns="http://schemas.openxmlformats.org/package/2006/relationships"><Relationship Type="http://schemas.openxmlformats.org/officeDocument/2006/relationships/slide" Target="/ppt/slides/slide3.xml" Id="Rb93b0620fab0431c" /><Relationship Type="http://schemas.openxmlformats.org/officeDocument/2006/relationships/notesMaster" Target="/ppt/notesMasters/notesMaster1.xml" Id="R4a68aeaa861042dc" /></Relationships>
</file>

<file path=ppt/notesSlides/_rels/notesSlide4.xml.rels>&#65279;<?xml version="1.0" encoding="utf-8"?><Relationships xmlns="http://schemas.openxmlformats.org/package/2006/relationships"><Relationship Type="http://schemas.openxmlformats.org/officeDocument/2006/relationships/slide" Target="/ppt/slides/slide4.xml" Id="R2c31698762884cd7" /><Relationship Type="http://schemas.openxmlformats.org/officeDocument/2006/relationships/notesMaster" Target="/ppt/notesMasters/notesMaster1.xml" Id="Rf82cda8388f14845" /></Relationships>
</file>

<file path=ppt/notesSlides/_rels/notesSlide5.xml.rels>&#65279;<?xml version="1.0" encoding="utf-8"?><Relationships xmlns="http://schemas.openxmlformats.org/package/2006/relationships"><Relationship Type="http://schemas.openxmlformats.org/officeDocument/2006/relationships/slide" Target="/ppt/slides/slide5.xml" Id="Rfb1c7ac8dd844047" /><Relationship Type="http://schemas.openxmlformats.org/officeDocument/2006/relationships/notesMaster" Target="/ppt/notesMasters/notesMaster1.xml" Id="R61e2c027e74f49d4" /></Relationships>
</file>

<file path=ppt/notesSlides/_rels/notesSlide6.xml.rels>&#65279;<?xml version="1.0" encoding="utf-8"?><Relationships xmlns="http://schemas.openxmlformats.org/package/2006/relationships"><Relationship Type="http://schemas.openxmlformats.org/officeDocument/2006/relationships/slide" Target="/ppt/slides/slide6.xml" Id="Rdf9ec06c36ee44ad" /><Relationship Type="http://schemas.openxmlformats.org/officeDocument/2006/relationships/notesMaster" Target="/ppt/notesMasters/notesMaster1.xml" Id="Rfe2b96d0931d4c3b" /></Relationships>
</file>

<file path=ppt/notesSlides/_rels/notesSlide7.xml.rels>&#65279;<?xml version="1.0" encoding="utf-8"?><Relationships xmlns="http://schemas.openxmlformats.org/package/2006/relationships"><Relationship Type="http://schemas.openxmlformats.org/officeDocument/2006/relationships/slide" Target="/ppt/slides/slide7.xml" Id="Re0ccc88625894c22" /><Relationship Type="http://schemas.openxmlformats.org/officeDocument/2006/relationships/notesMaster" Target="/ppt/notesMasters/notesMaster1.xml" Id="Rd993a61186cd4533" /></Relationships>
</file>

<file path=ppt/notesSlides/_rels/notesSlide8.xml.rels>&#65279;<?xml version="1.0" encoding="utf-8"?><Relationships xmlns="http://schemas.openxmlformats.org/package/2006/relationships"><Relationship Type="http://schemas.openxmlformats.org/officeDocument/2006/relationships/slide" Target="/ppt/slides/slide8.xml" Id="R4847dbdbaea84500" /><Relationship Type="http://schemas.openxmlformats.org/officeDocument/2006/relationships/notesMaster" Target="/ppt/notesMasters/notesMaster1.xml" Id="R6c6a26cea7884480" /></Relationships>
</file>

<file path=ppt/notesSlides/_rels/notesSlide9.xml.rels>&#65279;<?xml version="1.0" encoding="utf-8"?><Relationships xmlns="http://schemas.openxmlformats.org/package/2006/relationships"><Relationship Type="http://schemas.openxmlformats.org/officeDocument/2006/relationships/slide" Target="/ppt/slides/slide9.xml" Id="Rd8f23ad0248c4789" /><Relationship Type="http://schemas.openxmlformats.org/officeDocument/2006/relationships/notesMaster" Target="/ppt/notesMasters/notesMaster1.xml" Id="Rc76fb2b1d05a44c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5577561ab1c40c2" /><Relationship Type="http://schemas.openxmlformats.org/officeDocument/2006/relationships/notesMaster" Target="/ppt/notesMasters/notesMaster1.xml" Id="Rc90405549af94fd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0324f4efd654ff8" /><Relationship Type="http://schemas.openxmlformats.org/officeDocument/2006/relationships/notesMaster" Target="/ppt/notesMasters/notesMaster1.xml" Id="R1792e93aa8274cd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07190b5454146e4" /><Relationship Type="http://schemas.openxmlformats.org/officeDocument/2006/relationships/notesMaster" Target="/ppt/notesMasters/notesMaster1.xml" Id="R84a6979fb892436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phạm vi và data cutoff theo release production hiện hành và docs/research_specification.md.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Vấn đề nghiên cứu lấy từ docs/research_specification.md. Tránh nói rằng competing risks tự khắc xử lý mọi sai lệch do thiếu covariate hay 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Câu hỏi rút gọn từ docs/research_specification.md.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Tổng quan có ít nhất năm công trình liên quan. Tài liệu và DOI: docs/literature_review_and_practical_implications.md. References: Deng et al. https://doi.org/10.1016/0166-0462(95)02116-7; Haughwout et al. https://doi.org/10.1016/j.jue.2008.07.008; An &amp; Qi https://doi.org/10.1080/10835547.2012.12091323; Bhattacharya et al. https://doi.org/10.1016/j.ejor.2018.10.047; Fine &amp; Gray https://doi.org/10.1080/01621459.1999.10474144.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Định nghĩa đã đối chiếu với docs/research_specification.md và nhãn nguồn Freddie Mac. Default = 90+ DPD, RA, hoặc ZBC 02/03/09. ZBC 01 competing event gộp prepaid/matured. ZBC 15/16/96 censoring termination. First event wins, default priority in same month.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Số lượng khoản vay và cutoff hiện thị trong dashboard/sidebar và release production. Time origin và hạn chế dữ liệu ghi trong docs/research_specification.md. Không nhầm acquisition/performance coverage với full life from origination.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Aalen &amp; Johansen (1978), https://doi.org/10.1214/aos/1176344198; Fine &amp; Gray (1999), https://doi.org/10.1080/01621459.1999.10474144. Release có các diagnostics PH trong diagnostics/. Xem docs/dashboard_chart_audit_2026-09-30.md.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current dashboard review of production release 20260929T235303Z_ca7d0c1, path results/production/20260929T235303Z_ca7d0c1/derived/overall_pd_horizons.parquet. Default CIF at 12/24/36/60 months: 0.71%, 1.80%, 2.81%, 4.07%. CIF ZBC 01 at those horizons: 9.2%, 22.6%, 33.5%, 49.8%. Dashboard tooltips provide CI/at-risk where artifacts contain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status as modified in app/pages/overview.py, app/pages/portfolio_risk.py, app/components/charts.py. Audit status note added to docs/dashboard_chart_audit_2026-09-30.md.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FCIC, The Financial Crisis Inquiry Report: https://fcic.law.stanford.edu/report/conclusions. Federal Reserve, 2008 remarks: https://www.federalreserve.gov/newsevents/speech/bernanke20080410a.htm. These are historical lessons; current sample has no vintage 2008.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Practical implications are reasoned implications from competing-risk results and literature review, not causal claims. ECL needs EAD/LGD/cash flows and accounting framework; this dashboard is not that. See docs/literature_review_and_practical_implications.md.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Tóm tắt theo docs/research_specification.md và docs/literature_review_and_practical_implications.md.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9aca183b345455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224af7e5fd442cf" /><Relationship Type="http://schemas.openxmlformats.org/officeDocument/2006/relationships/slideLayout" Target="/ppt/slideLayouts/slideLayout1.xml" Id="R3e38a452d63b462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e38a452d63b462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459a793db714d0f" /><Relationship Type="http://schemas.openxmlformats.org/officeDocument/2006/relationships/notesSlide" Target="/ppt/notesSlides/notesSlide1.xml" Id="Rdeb7c9be7a33488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e89a019bbf04d40" /><Relationship Type="http://schemas.openxmlformats.org/officeDocument/2006/relationships/notesSlide" Target="/ppt/notesSlides/notesSlide2.xml" Id="Rd177e8658bb74f7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db6151eb8164f4d" /><Relationship Type="http://schemas.openxmlformats.org/officeDocument/2006/relationships/notesSlide" Target="/ppt/notesSlides/notesSlide3.xml" Id="Ra1c1febdb477495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d672db9312047ab" /><Relationship Type="http://schemas.openxmlformats.org/officeDocument/2006/relationships/notesSlide" Target="/ppt/notesSlides/notesSlide4.xml" Id="R366a6a630d97413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b7b18f5ad16492f" /><Relationship Type="http://schemas.openxmlformats.org/officeDocument/2006/relationships/notesSlide" Target="/ppt/notesSlides/notesSlide5.xml" Id="R4c9bfecc0b8d421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f43dc59338b4b50" /><Relationship Type="http://schemas.openxmlformats.org/officeDocument/2006/relationships/notesSlide" Target="/ppt/notesSlides/notesSlide6.xml" Id="Rafc990dde5114fd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33747785b794b91" /><Relationship Type="http://schemas.openxmlformats.org/officeDocument/2006/relationships/notesSlide" Target="/ppt/notesSlides/notesSlide7.xml" Id="R176fbf173f004a1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f1ed51b41bf47dc" /><Relationship Type="http://schemas.openxmlformats.org/officeDocument/2006/relationships/notesSlide" Target="/ppt/notesSlides/notesSlide8.xml" Id="R53d7263677ba427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d0b2be2ba334dd5" /><Relationship Type="http://schemas.openxmlformats.org/officeDocument/2006/relationships/notesSlide" Target="/ppt/notesSlides/notesSlide9.xml" Id="R71cac2f43759400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c0073e4c3214876" /><Relationship Type="http://schemas.openxmlformats.org/officeDocument/2006/relationships/notesSlide" Target="/ppt/notesSlides/notesSlide10.xml" Id="Rbd6341a76d0745a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0379c7f0896420e" /><Relationship Type="http://schemas.openxmlformats.org/officeDocument/2006/relationships/notesSlide" Target="/ppt/notesSlides/notesSlide11.xml" Id="Re18a9e1d3ad44c2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94229322c9e4198" /><Relationship Type="http://schemas.openxmlformats.org/officeDocument/2006/relationships/notesSlide" Target="/ppt/notesSlides/notesSlide12.xml" Id="R0107d67e79784e80" /></Relationships>
</file>

<file path=ppt/slides/slide1.xml><?xml version="1.0" encoding="utf-8"?>
<p:sld xmlns:p="http://schemas.openxmlformats.org/presentationml/2006/main">
  <p:cSld>
    <p:bg>
      <p:bgPr>
        <a:solidFill xmlns:a="http://schemas.openxmlformats.org/drawingml/2006/main">
          <a:srgbClr val="F1EFE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F52960B-3594-4B4A-B2A2-BD4F32764363}"/>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B5A15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887712B-1522-47E2-BC84-7D3B5F884C1B}"/>
              </a:ext>
            </a:extLst>
          </p:cNvPr>
          <p:cNvSpPr>
            <a:spLocks xmlns:a="http://schemas.openxmlformats.org/drawingml/2006/main" noGrp="1"/>
          </p:cNvSpPr>
          <p:nvPr/>
        </p:nvSpPr>
        <p:spPr>
          <a:xfrm xmlns:a="http://schemas.openxmlformats.org/drawingml/2006/main">
            <a:off x="781050" y="742950"/>
            <a:ext cx="971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B5A15B"/>
                </a:solidFill>
                <a:latin typeface="Arial"/>
                <a:ea typeface="Arial"/>
                <a:cs typeface="Arial"/>
              </a:defRPr>
            </a:pPr>
            <a:r>
              <a:rPr sz="1125" b="1">
                <a:solidFill>
                  <a:srgbClr val="B5A15B"/>
                </a:solidFill>
                <a:latin typeface="Arial"/>
                <a:ea typeface="Arial"/>
                <a:cs typeface="Arial"/>
              </a:rPr>
              <a:t>NGHIÊN CỨU TÍN DỤNG · QUẢN TRỊ RỦI RO</a:t>
            </a:r>
          </a:p>
        </p:txBody>
      </p:sp>
      <p:sp>
        <p:nvSpPr>
          <p:cNvPr id="3" name="">
            <a:extLst xmlns:a="http://schemas.openxmlformats.org/drawingml/2006/main">
              <a:ext uri="{FF2B5EF4-FFF2-40B4-BE49-F238E27FC236}">
                <a16:creationId xmlns:a16="http://schemas.microsoft.com/office/drawing/2014/main" id="{DC210F76-0E0F-4E3B-87E8-1FCC9DE44308}"/>
              </a:ext>
            </a:extLst>
          </p:cNvPr>
          <p:cNvSpPr>
            <a:spLocks xmlns:a="http://schemas.openxmlformats.org/drawingml/2006/main" noGrp="1"/>
          </p:cNvSpPr>
          <p:nvPr/>
        </p:nvSpPr>
        <p:spPr>
          <a:xfrm xmlns:a="http://schemas.openxmlformats.org/drawingml/2006/main">
            <a:off x="781050" y="1619250"/>
            <a:ext cx="10287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474"/>
          </a:bodyPr>
          <a:lstStyle xmlns:a="http://schemas.openxmlformats.org/drawingml/2006/main"/>
          <a:p xmlns:a="http://schemas.openxmlformats.org/drawingml/2006/main">
            <a:pPr>
              <a:defRPr sz="3900" b="1">
                <a:solidFill>
                  <a:srgbClr val="2E3B35"/>
                </a:solidFill>
                <a:latin typeface="Georgia"/>
                <a:ea typeface="Georgia"/>
                <a:cs typeface="Georgia"/>
              </a:defRPr>
            </a:pPr>
            <a:r>
              <a:rPr sz="3900" b="1">
                <a:solidFill>
                  <a:srgbClr val="2E3B35"/>
                </a:solidFill>
                <a:latin typeface="Georgia"/>
                <a:ea typeface="Georgia"/>
                <a:cs typeface="Georgia"/>
              </a:rPr>
              <a:t>Phân tích rủi ro</a:t>
            </a:r>
          </a:p>
          <a:p xmlns:a="http://schemas.openxmlformats.org/drawingml/2006/main">
            <a:pPr>
              <a:defRPr sz="3900" b="1">
                <a:solidFill>
                  <a:srgbClr val="2E3B35"/>
                </a:solidFill>
                <a:latin typeface="Georgia"/>
                <a:ea typeface="Georgia"/>
                <a:cs typeface="Georgia"/>
              </a:defRPr>
            </a:pPr>
            <a:r>
              <a:rPr sz="3900" b="1">
                <a:solidFill>
                  <a:srgbClr val="2E3B35"/>
                </a:solidFill>
                <a:latin typeface="Georgia"/>
                <a:ea typeface="Georgia"/>
                <a:cs typeface="Georgia"/>
              </a:rPr>
              <a:t>khoản vay thế chấp</a:t>
            </a:r>
          </a:p>
        </p:txBody>
      </p:sp>
      <p:sp>
        <p:nvSpPr>
          <p:cNvPr id="4" name="">
            <a:extLst xmlns:a="http://schemas.openxmlformats.org/drawingml/2006/main">
              <a:ext uri="{FF2B5EF4-FFF2-40B4-BE49-F238E27FC236}">
                <a16:creationId xmlns:a16="http://schemas.microsoft.com/office/drawing/2014/main" id="{4E1DFB7E-A26D-4123-8DF7-3E7123D516B6}"/>
              </a:ext>
            </a:extLst>
          </p:cNvPr>
          <p:cNvSpPr>
            <a:spLocks xmlns:a="http://schemas.openxmlformats.org/drawingml/2006/main" noGrp="1"/>
          </p:cNvSpPr>
          <p:nvPr/>
        </p:nvSpPr>
        <p:spPr>
          <a:xfrm xmlns:a="http://schemas.openxmlformats.org/drawingml/2006/main">
            <a:off x="819150" y="3238500"/>
            <a:ext cx="9144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0">
                <a:solidFill>
                  <a:srgbClr val="748078"/>
                </a:solidFill>
                <a:latin typeface="Georgia"/>
                <a:ea typeface="Georgia"/>
                <a:cs typeface="Georgia"/>
              </a:defRPr>
            </a:pPr>
            <a:r>
              <a:rPr sz="1800" b="0">
                <a:solidFill>
                  <a:srgbClr val="748078"/>
                </a:solidFill>
                <a:latin typeface="Georgia"/>
                <a:ea typeface="Georgia"/>
                <a:cs typeface="Georgia"/>
              </a:rPr>
              <a:t>Vỡ nợ theo thời gian, rủi ro cạnh tranh và khác biệt giữa các vintage</a:t>
            </a:r>
          </a:p>
        </p:txBody>
      </p:sp>
      <p:sp>
        <p:nvSpPr>
          <p:cNvPr id="5" name="">
            <a:extLst xmlns:a="http://schemas.openxmlformats.org/drawingml/2006/main">
              <a:ext uri="{FF2B5EF4-FFF2-40B4-BE49-F238E27FC236}">
                <a16:creationId xmlns:a16="http://schemas.microsoft.com/office/drawing/2014/main" id="{0722BBEC-2979-446C-BADD-FD7D1061662D}"/>
              </a:ext>
            </a:extLst>
          </p:cNvPr>
          <p:cNvSpPr>
            <a:spLocks xmlns:a="http://schemas.openxmlformats.org/drawingml/2006/main" noGrp="1"/>
          </p:cNvSpPr>
          <p:nvPr/>
        </p:nvSpPr>
        <p:spPr>
          <a:xfrm xmlns:a="http://schemas.openxmlformats.org/drawingml/2006/main">
            <a:off x="819150" y="4305300"/>
            <a:ext cx="5715000" cy="495300"/>
          </a:xfrm>
          <a:prstGeom xmlns:a="http://schemas.openxmlformats.org/drawingml/2006/main" prst="rect">
            <a:avLst/>
          </a:prstGeom>
          <a:solidFill xmlns:a="http://schemas.openxmlformats.org/drawingml/2006/main">
            <a:srgbClr val="FFFDF8"/>
          </a:solidFill>
          <a:ln xmlns:a="http://schemas.openxmlformats.org/drawingml/2006/main" w="9525">
            <a:solidFill>
              <a:srgbClr val="D8D4C6"/>
            </a:solidFill>
          </a:ln>
        </p:spPr>
      </p:sp>
      <p:sp>
        <p:nvSpPr>
          <p:cNvPr id="6" name="">
            <a:extLst xmlns:a="http://schemas.openxmlformats.org/drawingml/2006/main">
              <a:ext uri="{FF2B5EF4-FFF2-40B4-BE49-F238E27FC236}">
                <a16:creationId xmlns:a16="http://schemas.microsoft.com/office/drawing/2014/main" id="{A3B978CD-8377-4501-B5A8-2ED733D1A05A}"/>
              </a:ext>
            </a:extLst>
          </p:cNvPr>
          <p:cNvSpPr>
            <a:spLocks xmlns:a="http://schemas.openxmlformats.org/drawingml/2006/main" noGrp="1"/>
          </p:cNvSpPr>
          <p:nvPr/>
        </p:nvSpPr>
        <p:spPr>
          <a:xfrm xmlns:a="http://schemas.openxmlformats.org/drawingml/2006/main">
            <a:off x="1009650" y="4391025"/>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2E3B35"/>
                </a:solidFill>
                <a:latin typeface="Georgia"/>
                <a:ea typeface="Georgia"/>
                <a:cs typeface="Georgia"/>
              </a:defRPr>
            </a:pPr>
            <a:r>
              <a:rPr sz="1275" b="0">
                <a:solidFill>
                  <a:srgbClr val="2E3B35"/>
                </a:solidFill>
                <a:latin typeface="Georgia"/>
                <a:ea typeface="Georgia"/>
                <a:cs typeface="Georgia"/>
              </a:rPr>
              <a:t>Freddie Mac · 2016–2026 · theo dõi đến 31/03/2026</a:t>
            </a:r>
          </a:p>
        </p:txBody>
      </p:sp>
      <p:sp>
        <p:nvSpPr>
          <p:cNvPr id="7" name="">
            <a:extLst xmlns:a="http://schemas.openxmlformats.org/drawingml/2006/main">
              <a:ext uri="{FF2B5EF4-FFF2-40B4-BE49-F238E27FC236}">
                <a16:creationId xmlns:a16="http://schemas.microsoft.com/office/drawing/2014/main" id="{9140E429-6AB4-4DDD-A0B1-A99FAEA54EB4}"/>
              </a:ext>
            </a:extLst>
          </p:cNvPr>
          <p:cNvSpPr>
            <a:spLocks xmlns:a="http://schemas.openxmlformats.org/drawingml/2006/main" noGrp="1"/>
          </p:cNvSpPr>
          <p:nvPr/>
        </p:nvSpPr>
        <p:spPr>
          <a:xfrm xmlns:a="http://schemas.openxmlformats.org/drawingml/2006/main">
            <a:off x="819150" y="5953125"/>
            <a:ext cx="714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344F78"/>
                </a:solidFill>
                <a:latin typeface="Arial"/>
                <a:ea typeface="Arial"/>
                <a:cs typeface="Arial"/>
              </a:defRPr>
            </a:pPr>
            <a:r>
              <a:rPr sz="975" b="1">
                <a:solidFill>
                  <a:srgbClr val="344F78"/>
                </a:solidFill>
                <a:latin typeface="Arial"/>
                <a:ea typeface="Arial"/>
                <a:cs typeface="Arial"/>
              </a:rPr>
              <a:t>BỘ SLIDE BẢO VỆ NGHIÊN CỨU</a:t>
            </a:r>
          </a:p>
        </p:txBody>
      </p:sp>
    </p:spTree>
    <p:extLst>
      <p:ext uri="{BB962C8B-B14F-4D97-AF65-F5344CB8AC3E}">
        <p14:creationId xmlns:p14="http://schemas.microsoft.com/office/powerpoint/2010/main" val="482998267"/>
      </p:ext>
    </p:extLst>
  </p:cSld>
</p:sld>
</file>

<file path=ppt/slides/slide2.xml><?xml version="1.0" encoding="utf-8"?>
<p:sld xmlns:p="http://schemas.openxmlformats.org/presentationml/2006/main">
  <p:cSld>
    <p:bg>
      <p:bgPr>
        <a:solidFill xmlns:a="http://schemas.openxmlformats.org/drawingml/2006/main">
          <a:srgbClr val="F1EF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DE04B9D-9ED2-4E45-B91E-1E32F7BD8D89}"/>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2E3B3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49B59AB-0B4F-4DAC-AEEE-DFC727F22303}"/>
              </a:ext>
            </a:extLst>
          </p:cNvPr>
          <p:cNvSpPr>
            <a:spLocks xmlns:a="http://schemas.openxmlformats.org/drawingml/2006/main" noGrp="1"/>
          </p:cNvSpPr>
          <p:nvPr/>
        </p:nvSpPr>
        <p:spPr>
          <a:xfrm xmlns:a="http://schemas.openxmlformats.org/drawingml/2006/main">
            <a:off x="609600" y="3238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defRPr sz="1050" b="1">
                <a:solidFill>
                  <a:srgbClr val="B5A15B"/>
                </a:solidFill>
                <a:latin typeface="Arial"/>
                <a:ea typeface="Arial"/>
                <a:cs typeface="Arial"/>
              </a:defRPr>
            </a:pPr>
            <a:r>
              <a:rPr sz="1050" b="1">
                <a:solidFill>
                  <a:srgbClr val="B5A15B"/>
                </a:solidFill>
                <a:latin typeface="Arial"/>
                <a:ea typeface="Arial"/>
                <a:cs typeface="Arial"/>
              </a:rPr>
              <a:t>01 · BỐI CẢNH</a:t>
            </a:r>
          </a:p>
        </p:txBody>
      </p:sp>
      <p:sp>
        <p:nvSpPr>
          <p:cNvPr id="3" name="">
            <a:extLst xmlns:a="http://schemas.openxmlformats.org/drawingml/2006/main">
              <a:ext uri="{FF2B5EF4-FFF2-40B4-BE49-F238E27FC236}">
                <a16:creationId xmlns:a16="http://schemas.microsoft.com/office/drawing/2014/main" id="{25147AE5-92C0-45E2-BB7B-9032878210C1}"/>
              </a:ext>
            </a:extLst>
          </p:cNvPr>
          <p:cNvSpPr>
            <a:spLocks xmlns:a="http://schemas.openxmlformats.org/drawingml/2006/main" noGrp="1"/>
          </p:cNvSpPr>
          <p:nvPr/>
        </p:nvSpPr>
        <p:spPr>
          <a:xfrm xmlns:a="http://schemas.openxmlformats.org/drawingml/2006/main">
            <a:off x="609600" y="6477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850" b="1">
                <a:solidFill>
                  <a:srgbClr val="2E3B35"/>
                </a:solidFill>
                <a:latin typeface="Georgia"/>
                <a:ea typeface="Georgia"/>
                <a:cs typeface="Georgia"/>
              </a:defRPr>
            </a:pPr>
            <a:r>
              <a:rPr sz="2850" b="1">
                <a:solidFill>
                  <a:srgbClr val="2E3B35"/>
                </a:solidFill>
                <a:latin typeface="Georgia"/>
                <a:ea typeface="Georgia"/>
                <a:cs typeface="Georgia"/>
              </a:rPr>
              <a:t>Khoản vay “không vỡ nợ” không cùng một kết cục</a:t>
            </a:r>
          </a:p>
        </p:txBody>
      </p:sp>
      <p:sp>
        <p:nvSpPr>
          <p:cNvPr id="4" name="">
            <a:extLst xmlns:a="http://schemas.openxmlformats.org/drawingml/2006/main">
              <a:ext uri="{FF2B5EF4-FFF2-40B4-BE49-F238E27FC236}">
                <a16:creationId xmlns:a16="http://schemas.microsoft.com/office/drawing/2014/main" id="{11996D49-7773-43E0-9B88-9A1F239A7C31}"/>
              </a:ext>
            </a:extLst>
          </p:cNvPr>
          <p:cNvSpPr>
            <a:spLocks xmlns:a="http://schemas.openxmlformats.org/drawingml/2006/main" noGrp="1"/>
          </p:cNvSpPr>
          <p:nvPr/>
        </p:nvSpPr>
        <p:spPr>
          <a:xfrm xmlns:a="http://schemas.openxmlformats.org/drawingml/2006/main">
            <a:off x="628650" y="13239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748078"/>
                </a:solidFill>
                <a:latin typeface="Georgia"/>
                <a:ea typeface="Georgia"/>
                <a:cs typeface="Georgia"/>
              </a:defRPr>
            </a:pPr>
            <a:r>
              <a:rPr sz="1425" b="0">
                <a:solidFill>
                  <a:srgbClr val="748078"/>
                </a:solidFill>
                <a:latin typeface="Georgia"/>
                <a:ea typeface="Georgia"/>
                <a:cs typeface="Georgia"/>
              </a:rPr>
              <a:t>Trả trước hoặc đáo hạn cũng kết thúc thời gian quan sát khoản vay.</a:t>
            </a:r>
          </a:p>
        </p:txBody>
      </p:sp>
      <p:sp>
        <p:nvSpPr>
          <p:cNvPr id="5" name="">
            <a:extLst xmlns:a="http://schemas.openxmlformats.org/drawingml/2006/main">
              <a:ext uri="{FF2B5EF4-FFF2-40B4-BE49-F238E27FC236}">
                <a16:creationId xmlns:a16="http://schemas.microsoft.com/office/drawing/2014/main" id="{1458B258-A21E-4239-BE6F-8C98EE524083}"/>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8D4C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53399C8-EFBF-497B-BB78-F80FB5ECAE52}"/>
              </a:ext>
            </a:extLst>
          </p:cNvPr>
          <p:cNvSpPr>
            <a:spLocks xmlns:a="http://schemas.openxmlformats.org/drawingml/2006/main" noGrp="1"/>
          </p:cNvSpPr>
          <p:nvPr/>
        </p:nvSpPr>
        <p:spPr>
          <a:xfrm xmlns:a="http://schemas.openxmlformats.org/drawingml/2006/main">
            <a:off x="628650" y="649605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0">
                <a:solidFill>
                  <a:srgbClr val="748078"/>
                </a:solidFill>
                <a:latin typeface="Arial"/>
                <a:ea typeface="Arial"/>
                <a:cs typeface="Arial"/>
              </a:defRPr>
            </a:pPr>
            <a:r>
              <a:rPr sz="750" b="0">
                <a:solidFill>
                  <a:srgbClr val="748078"/>
                </a:solidFill>
                <a:latin typeface="Arial"/>
                <a:ea typeface="Arial"/>
                <a:cs typeface="Arial"/>
              </a:rPr>
              <a:t>Mortgage Default &amp; Prepayment · Freddie Mac 2016–2026</a:t>
            </a:r>
          </a:p>
        </p:txBody>
      </p:sp>
      <p:sp>
        <p:nvSpPr>
          <p:cNvPr id="7" name="">
            <a:extLst xmlns:a="http://schemas.openxmlformats.org/drawingml/2006/main">
              <a:ext uri="{FF2B5EF4-FFF2-40B4-BE49-F238E27FC236}">
                <a16:creationId xmlns:a16="http://schemas.microsoft.com/office/drawing/2014/main" id="{CE5856CF-C312-4C98-A87E-50D954FFEC96}"/>
              </a:ext>
            </a:extLst>
          </p:cNvPr>
          <p:cNvSpPr>
            <a:spLocks xmlns:a="http://schemas.openxmlformats.org/drawingml/2006/main" noGrp="1"/>
          </p:cNvSpPr>
          <p:nvPr/>
        </p:nvSpPr>
        <p:spPr>
          <a:xfrm xmlns:a="http://schemas.openxmlformats.org/drawingml/2006/main">
            <a:off x="11049000" y="647700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0">
                <a:solidFill>
                  <a:srgbClr val="748078"/>
                </a:solidFill>
                <a:latin typeface="Arial"/>
                <a:ea typeface="Arial"/>
                <a:cs typeface="Arial"/>
              </a:defRPr>
            </a:pPr>
            <a:r>
              <a:rPr sz="825" b="0">
                <a:solidFill>
                  <a:srgbClr val="748078"/>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14168342-6008-487F-91C7-DCFAE51C5A2F}"/>
              </a:ext>
            </a:extLst>
          </p:cNvPr>
          <p:cNvSpPr>
            <a:spLocks xmlns:a="http://schemas.openxmlformats.org/drawingml/2006/main" noGrp="1"/>
          </p:cNvSpPr>
          <p:nvPr/>
        </p:nvSpPr>
        <p:spPr>
          <a:xfrm xmlns:a="http://schemas.openxmlformats.org/drawingml/2006/main">
            <a:off x="609600" y="2190750"/>
            <a:ext cx="3333750" cy="1666875"/>
          </a:xfrm>
          <a:prstGeom xmlns:a="http://schemas.openxmlformats.org/drawingml/2006/main" prst="rect">
            <a:avLst/>
          </a:prstGeom>
          <a:solidFill xmlns:a="http://schemas.openxmlformats.org/drawingml/2006/main">
            <a:srgbClr val="FFFDF8"/>
          </a:solidFill>
          <a:ln xmlns:a="http://schemas.openxmlformats.org/drawingml/2006/main" w="12383">
            <a:solidFill>
              <a:srgbClr val="D8D4C6"/>
            </a:solidFill>
          </a:ln>
        </p:spPr>
      </p:sp>
      <p:sp>
        <p:nvSpPr>
          <p:cNvPr id="9" name="">
            <a:extLst xmlns:a="http://schemas.openxmlformats.org/drawingml/2006/main">
              <a:ext uri="{FF2B5EF4-FFF2-40B4-BE49-F238E27FC236}">
                <a16:creationId xmlns:a16="http://schemas.microsoft.com/office/drawing/2014/main" id="{BB88223A-2AFB-4403-9FB3-9467369EF505}"/>
              </a:ext>
            </a:extLst>
          </p:cNvPr>
          <p:cNvSpPr>
            <a:spLocks xmlns:a="http://schemas.openxmlformats.org/drawingml/2006/main" noGrp="1"/>
          </p:cNvSpPr>
          <p:nvPr/>
        </p:nvSpPr>
        <p:spPr>
          <a:xfrm xmlns:a="http://schemas.openxmlformats.org/drawingml/2006/main">
            <a:off x="609600" y="2190750"/>
            <a:ext cx="57150" cy="1666875"/>
          </a:xfrm>
          <a:prstGeom xmlns:a="http://schemas.openxmlformats.org/drawingml/2006/main" prst="rect">
            <a:avLst/>
          </a:prstGeom>
          <a:solidFill xmlns:a="http://schemas.openxmlformats.org/drawingml/2006/main">
            <a:srgbClr val="B8625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BDF0762-738F-4026-90F9-5720E64BCEC5}"/>
              </a:ext>
            </a:extLst>
          </p:cNvPr>
          <p:cNvSpPr>
            <a:spLocks xmlns:a="http://schemas.openxmlformats.org/drawingml/2006/main" noGrp="1"/>
          </p:cNvSpPr>
          <p:nvPr/>
        </p:nvSpPr>
        <p:spPr>
          <a:xfrm xmlns:a="http://schemas.openxmlformats.org/drawingml/2006/main">
            <a:off x="819150" y="2333625"/>
            <a:ext cx="2914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056"/>
          </a:bodyPr>
          <a:lstStyle xmlns:a="http://schemas.openxmlformats.org/drawingml/2006/main"/>
          <a:p xmlns:a="http://schemas.openxmlformats.org/drawingml/2006/main">
            <a:pPr>
              <a:defRPr sz="900" b="1">
                <a:solidFill>
                  <a:srgbClr val="B86252"/>
                </a:solidFill>
                <a:latin typeface="Arial"/>
                <a:ea typeface="Arial"/>
                <a:cs typeface="Arial"/>
              </a:defRPr>
            </a:pPr>
            <a:r>
              <a:rPr sz="900" b="1">
                <a:solidFill>
                  <a:srgbClr val="B86252"/>
                </a:solidFill>
                <a:latin typeface="Arial"/>
                <a:ea typeface="Arial"/>
                <a:cs typeface="Arial"/>
              </a:rPr>
              <a:t>CÂU HỎI THỰC TIỄN</a:t>
            </a:r>
          </a:p>
        </p:txBody>
      </p:sp>
      <p:sp>
        <p:nvSpPr>
          <p:cNvPr id="11" name="">
            <a:extLst xmlns:a="http://schemas.openxmlformats.org/drawingml/2006/main">
              <a:ext uri="{FF2B5EF4-FFF2-40B4-BE49-F238E27FC236}">
                <a16:creationId xmlns:a16="http://schemas.microsoft.com/office/drawing/2014/main" id="{5C79621E-1B2B-4E2F-90A4-D25F4F8207BD}"/>
              </a:ext>
            </a:extLst>
          </p:cNvPr>
          <p:cNvSpPr>
            <a:spLocks xmlns:a="http://schemas.openxmlformats.org/drawingml/2006/main" noGrp="1"/>
          </p:cNvSpPr>
          <p:nvPr/>
        </p:nvSpPr>
        <p:spPr>
          <a:xfrm xmlns:a="http://schemas.openxmlformats.org/drawingml/2006/main">
            <a:off x="819150" y="2638425"/>
            <a:ext cx="29146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2E3B35"/>
                </a:solidFill>
                <a:latin typeface="Georgia"/>
                <a:ea typeface="Georgia"/>
                <a:cs typeface="Georgia"/>
              </a:defRPr>
            </a:pPr>
            <a:r>
              <a:rPr sz="1350" b="0">
                <a:solidFill>
                  <a:srgbClr val="2E3B35"/>
                </a:solidFill>
                <a:latin typeface="Georgia"/>
                <a:ea typeface="Georgia"/>
                <a:cs typeface="Georgia"/>
              </a:rPr>
              <a:t>Khi nào khoản vay vỡ nợ, và nhóm nào có xác suất tích lũy cao hơn?</a:t>
            </a:r>
          </a:p>
        </p:txBody>
      </p:sp>
      <p:sp>
        <p:nvSpPr>
          <p:cNvPr id="12" name="">
            <a:extLst xmlns:a="http://schemas.openxmlformats.org/drawingml/2006/main">
              <a:ext uri="{FF2B5EF4-FFF2-40B4-BE49-F238E27FC236}">
                <a16:creationId xmlns:a16="http://schemas.microsoft.com/office/drawing/2014/main" id="{BBAD46D8-910D-487D-9324-619539677225}"/>
              </a:ext>
            </a:extLst>
          </p:cNvPr>
          <p:cNvSpPr>
            <a:spLocks xmlns:a="http://schemas.openxmlformats.org/drawingml/2006/main" noGrp="1"/>
          </p:cNvSpPr>
          <p:nvPr/>
        </p:nvSpPr>
        <p:spPr>
          <a:xfrm xmlns:a="http://schemas.openxmlformats.org/drawingml/2006/main">
            <a:off x="4419600" y="2190750"/>
            <a:ext cx="3333750" cy="1666875"/>
          </a:xfrm>
          <a:prstGeom xmlns:a="http://schemas.openxmlformats.org/drawingml/2006/main" prst="rect">
            <a:avLst/>
          </a:prstGeom>
          <a:solidFill xmlns:a="http://schemas.openxmlformats.org/drawingml/2006/main">
            <a:srgbClr val="FFFDF8"/>
          </a:solidFill>
          <a:ln xmlns:a="http://schemas.openxmlformats.org/drawingml/2006/main" w="12383">
            <a:solidFill>
              <a:srgbClr val="D8D4C6"/>
            </a:solidFill>
          </a:ln>
        </p:spPr>
      </p:sp>
      <p:sp>
        <p:nvSpPr>
          <p:cNvPr id="13" name="">
            <a:extLst xmlns:a="http://schemas.openxmlformats.org/drawingml/2006/main">
              <a:ext uri="{FF2B5EF4-FFF2-40B4-BE49-F238E27FC236}">
                <a16:creationId xmlns:a16="http://schemas.microsoft.com/office/drawing/2014/main" id="{B2E3776A-B8CC-47DC-9555-D5EAA7141492}"/>
              </a:ext>
            </a:extLst>
          </p:cNvPr>
          <p:cNvSpPr>
            <a:spLocks xmlns:a="http://schemas.openxmlformats.org/drawingml/2006/main" noGrp="1"/>
          </p:cNvSpPr>
          <p:nvPr/>
        </p:nvSpPr>
        <p:spPr>
          <a:xfrm xmlns:a="http://schemas.openxmlformats.org/drawingml/2006/main">
            <a:off x="4419600" y="2190750"/>
            <a:ext cx="57150" cy="1666875"/>
          </a:xfrm>
          <a:prstGeom xmlns:a="http://schemas.openxmlformats.org/drawingml/2006/main" prst="rect">
            <a:avLst/>
          </a:prstGeom>
          <a:solidFill xmlns:a="http://schemas.openxmlformats.org/drawingml/2006/main">
            <a:srgbClr val="344F7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839FD47-24EE-4E0D-8BCF-781AB8287777}"/>
              </a:ext>
            </a:extLst>
          </p:cNvPr>
          <p:cNvSpPr>
            <a:spLocks xmlns:a="http://schemas.openxmlformats.org/drawingml/2006/main" noGrp="1"/>
          </p:cNvSpPr>
          <p:nvPr/>
        </p:nvSpPr>
        <p:spPr>
          <a:xfrm xmlns:a="http://schemas.openxmlformats.org/drawingml/2006/main">
            <a:off x="4629150" y="2333625"/>
            <a:ext cx="2914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056"/>
          </a:bodyPr>
          <a:lstStyle xmlns:a="http://schemas.openxmlformats.org/drawingml/2006/main"/>
          <a:p xmlns:a="http://schemas.openxmlformats.org/drawingml/2006/main">
            <a:pPr>
              <a:defRPr sz="900" b="1">
                <a:solidFill>
                  <a:srgbClr val="344F78"/>
                </a:solidFill>
                <a:latin typeface="Arial"/>
                <a:ea typeface="Arial"/>
                <a:cs typeface="Arial"/>
              </a:defRPr>
            </a:pPr>
            <a:r>
              <a:rPr sz="900" b="1">
                <a:solidFill>
                  <a:srgbClr val="344F78"/>
                </a:solidFill>
                <a:latin typeface="Arial"/>
                <a:ea typeface="Arial"/>
                <a:cs typeface="Arial"/>
              </a:rPr>
              <a:t>VẤN ĐỀ PHÂN TÍCH</a:t>
            </a:r>
          </a:p>
        </p:txBody>
      </p:sp>
      <p:sp>
        <p:nvSpPr>
          <p:cNvPr id="15" name="">
            <a:extLst xmlns:a="http://schemas.openxmlformats.org/drawingml/2006/main">
              <a:ext uri="{FF2B5EF4-FFF2-40B4-BE49-F238E27FC236}">
                <a16:creationId xmlns:a16="http://schemas.microsoft.com/office/drawing/2014/main" id="{EF147B21-EA29-4719-8473-C0D69A85C10B}"/>
              </a:ext>
            </a:extLst>
          </p:cNvPr>
          <p:cNvSpPr>
            <a:spLocks xmlns:a="http://schemas.openxmlformats.org/drawingml/2006/main" noGrp="1"/>
          </p:cNvSpPr>
          <p:nvPr/>
        </p:nvSpPr>
        <p:spPr>
          <a:xfrm xmlns:a="http://schemas.openxmlformats.org/drawingml/2006/main">
            <a:off x="4629150" y="2638425"/>
            <a:ext cx="29146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2E3B35"/>
                </a:solidFill>
                <a:latin typeface="Georgia"/>
                <a:ea typeface="Georgia"/>
                <a:cs typeface="Georgia"/>
              </a:defRPr>
            </a:pPr>
            <a:r>
              <a:rPr sz="1350" b="0">
                <a:solidFill>
                  <a:srgbClr val="2E3B35"/>
                </a:solidFill>
                <a:latin typeface="Georgia"/>
                <a:ea typeface="Georgia"/>
                <a:cs typeface="Georgia"/>
              </a:rPr>
              <a:t>Nếu bỏ qua trả trước, ước lượng rủi ro default có thể mô tả sai xác suất trong thực tế.</a:t>
            </a:r>
          </a:p>
        </p:txBody>
      </p:sp>
      <p:sp>
        <p:nvSpPr>
          <p:cNvPr id="16" name="">
            <a:extLst xmlns:a="http://schemas.openxmlformats.org/drawingml/2006/main">
              <a:ext uri="{FF2B5EF4-FFF2-40B4-BE49-F238E27FC236}">
                <a16:creationId xmlns:a16="http://schemas.microsoft.com/office/drawing/2014/main" id="{699B5D54-B4EC-455B-8051-8F4C7E4F3594}"/>
              </a:ext>
            </a:extLst>
          </p:cNvPr>
          <p:cNvSpPr>
            <a:spLocks xmlns:a="http://schemas.openxmlformats.org/drawingml/2006/main" noGrp="1"/>
          </p:cNvSpPr>
          <p:nvPr/>
        </p:nvSpPr>
        <p:spPr>
          <a:xfrm xmlns:a="http://schemas.openxmlformats.org/drawingml/2006/main">
            <a:off x="8229600" y="2190750"/>
            <a:ext cx="3333750" cy="1666875"/>
          </a:xfrm>
          <a:prstGeom xmlns:a="http://schemas.openxmlformats.org/drawingml/2006/main" prst="rect">
            <a:avLst/>
          </a:prstGeom>
          <a:solidFill xmlns:a="http://schemas.openxmlformats.org/drawingml/2006/main">
            <a:srgbClr val="FFFDF8"/>
          </a:solidFill>
          <a:ln xmlns:a="http://schemas.openxmlformats.org/drawingml/2006/main" w="12383">
            <a:solidFill>
              <a:srgbClr val="D8D4C6"/>
            </a:solidFill>
          </a:ln>
        </p:spPr>
      </p:sp>
      <p:sp>
        <p:nvSpPr>
          <p:cNvPr id="17" name="">
            <a:extLst xmlns:a="http://schemas.openxmlformats.org/drawingml/2006/main">
              <a:ext uri="{FF2B5EF4-FFF2-40B4-BE49-F238E27FC236}">
                <a16:creationId xmlns:a16="http://schemas.microsoft.com/office/drawing/2014/main" id="{6DFD10E4-489F-4D2B-828F-B25A10682546}"/>
              </a:ext>
            </a:extLst>
          </p:cNvPr>
          <p:cNvSpPr>
            <a:spLocks xmlns:a="http://schemas.openxmlformats.org/drawingml/2006/main" noGrp="1"/>
          </p:cNvSpPr>
          <p:nvPr/>
        </p:nvSpPr>
        <p:spPr>
          <a:xfrm xmlns:a="http://schemas.openxmlformats.org/drawingml/2006/main">
            <a:off x="8229600" y="2190750"/>
            <a:ext cx="57150" cy="1666875"/>
          </a:xfrm>
          <a:prstGeom xmlns:a="http://schemas.openxmlformats.org/drawingml/2006/main" prst="rect">
            <a:avLst/>
          </a:prstGeom>
          <a:solidFill xmlns:a="http://schemas.openxmlformats.org/drawingml/2006/main">
            <a:srgbClr val="64816D"/>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DEF05B4-B446-4F85-B20A-7A82F0174DDE}"/>
              </a:ext>
            </a:extLst>
          </p:cNvPr>
          <p:cNvSpPr>
            <a:spLocks xmlns:a="http://schemas.openxmlformats.org/drawingml/2006/main" noGrp="1"/>
          </p:cNvSpPr>
          <p:nvPr/>
        </p:nvSpPr>
        <p:spPr>
          <a:xfrm xmlns:a="http://schemas.openxmlformats.org/drawingml/2006/main">
            <a:off x="8439150" y="2333625"/>
            <a:ext cx="2914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056"/>
          </a:bodyPr>
          <a:lstStyle xmlns:a="http://schemas.openxmlformats.org/drawingml/2006/main"/>
          <a:p xmlns:a="http://schemas.openxmlformats.org/drawingml/2006/main">
            <a:pPr>
              <a:defRPr sz="900" b="1">
                <a:solidFill>
                  <a:srgbClr val="64816D"/>
                </a:solidFill>
                <a:latin typeface="Arial"/>
                <a:ea typeface="Arial"/>
                <a:cs typeface="Arial"/>
              </a:defRPr>
            </a:pPr>
            <a:r>
              <a:rPr sz="900" b="1">
                <a:solidFill>
                  <a:srgbClr val="64816D"/>
                </a:solidFill>
                <a:latin typeface="Arial"/>
                <a:ea typeface="Arial"/>
                <a:cs typeface="Arial"/>
              </a:rPr>
              <a:t>ĐÓNG GÓP</a:t>
            </a:r>
          </a:p>
        </p:txBody>
      </p:sp>
      <p:sp>
        <p:nvSpPr>
          <p:cNvPr id="19" name="">
            <a:extLst xmlns:a="http://schemas.openxmlformats.org/drawingml/2006/main">
              <a:ext uri="{FF2B5EF4-FFF2-40B4-BE49-F238E27FC236}">
                <a16:creationId xmlns:a16="http://schemas.microsoft.com/office/drawing/2014/main" id="{B8FF7EE6-875F-43CE-8EB0-09EA5F50D099}"/>
              </a:ext>
            </a:extLst>
          </p:cNvPr>
          <p:cNvSpPr>
            <a:spLocks xmlns:a="http://schemas.openxmlformats.org/drawingml/2006/main" noGrp="1"/>
          </p:cNvSpPr>
          <p:nvPr/>
        </p:nvSpPr>
        <p:spPr>
          <a:xfrm xmlns:a="http://schemas.openxmlformats.org/drawingml/2006/main">
            <a:off x="8439150" y="2638425"/>
            <a:ext cx="29146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2E3B35"/>
                </a:solidFill>
                <a:latin typeface="Georgia"/>
                <a:ea typeface="Georgia"/>
                <a:cs typeface="Georgia"/>
              </a:defRPr>
            </a:pPr>
            <a:r>
              <a:rPr sz="1350" b="0">
                <a:solidFill>
                  <a:srgbClr val="2E3B35"/>
                </a:solidFill>
                <a:latin typeface="Georgia"/>
                <a:ea typeface="Georgia"/>
                <a:cs typeface="Georgia"/>
              </a:rPr>
              <a:t>Dùng survival và competing risks để giữ lại cả thời điểm sự kiện lẫn kiểm duyệt.</a:t>
            </a:r>
          </a:p>
        </p:txBody>
      </p:sp>
      <p:sp>
        <p:nvSpPr>
          <p:cNvPr id="20" name="">
            <a:extLst xmlns:a="http://schemas.openxmlformats.org/drawingml/2006/main">
              <a:ext uri="{FF2B5EF4-FFF2-40B4-BE49-F238E27FC236}">
                <a16:creationId xmlns:a16="http://schemas.microsoft.com/office/drawing/2014/main" id="{FB0E0205-2F52-455C-9DAE-168D6BFCBDE2}"/>
              </a:ext>
            </a:extLst>
          </p:cNvPr>
          <p:cNvSpPr>
            <a:spLocks xmlns:a="http://schemas.openxmlformats.org/drawingml/2006/main" noGrp="1"/>
          </p:cNvSpPr>
          <p:nvPr/>
        </p:nvSpPr>
        <p:spPr>
          <a:xfrm xmlns:a="http://schemas.openxmlformats.org/drawingml/2006/main">
            <a:off x="857250" y="4524375"/>
            <a:ext cx="1028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2E3B35"/>
                </a:solidFill>
                <a:latin typeface="Georgia"/>
                <a:ea typeface="Georgia"/>
                <a:cs typeface="Georgia"/>
              </a:defRPr>
            </a:pPr>
            <a:r>
              <a:rPr sz="1575" b="0">
                <a:solidFill>
                  <a:srgbClr val="2E3B35"/>
                </a:solidFill>
                <a:latin typeface="Georgia"/>
                <a:ea typeface="Georgia"/>
                <a:cs typeface="Georgia"/>
              </a:rPr>
              <a:t>Đối tượng: khoản vay thế chấp Freddie Mac trong mẫu nghiên cứu.</a:t>
            </a:r>
          </a:p>
          <a:p xmlns:a="http://schemas.openxmlformats.org/drawingml/2006/main">
            <a:pPr>
              <a:defRPr sz="1575" b="0">
                <a:solidFill>
                  <a:srgbClr val="2E3B35"/>
                </a:solidFill>
                <a:latin typeface="Georgia"/>
                <a:ea typeface="Georgia"/>
                <a:cs typeface="Georgia"/>
              </a:defRPr>
            </a:pPr>
            <a:r>
              <a:rPr sz="1575" b="0">
                <a:solidFill>
                  <a:srgbClr val="2E3B35"/>
                </a:solidFill>
                <a:latin typeface="Georgia"/>
                <a:ea typeface="Georgia"/>
                <a:cs typeface="Georgia"/>
              </a:rPr>
              <a:t>Mục tiêu: mô tả rủi ro tích lũy và các yếu tố liên quan, không quyết định cấp tín dụng cá nhân.</a:t>
            </a:r>
          </a:p>
        </p:txBody>
      </p:sp>
    </p:spTree>
    <p:extLst>
      <p:ext uri="{BB962C8B-B14F-4D97-AF65-F5344CB8AC3E}">
        <p14:creationId xmlns:p14="http://schemas.microsoft.com/office/powerpoint/2010/main" val="1238367026"/>
      </p:ext>
    </p:extLst>
  </p:cSld>
</p:sld>
</file>

<file path=ppt/slides/slide3.xml><?xml version="1.0" encoding="utf-8"?>
<p:sld xmlns:p="http://schemas.openxmlformats.org/presentationml/2006/main">
  <p:cSld>
    <p:bg>
      <p:bgPr>
        <a:solidFill xmlns:a="http://schemas.openxmlformats.org/drawingml/2006/main">
          <a:srgbClr val="F1EFE6"/>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6E995AD-8A56-43DF-A64A-6FE67993E4A7}"/>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2E3B3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289B12B-44A0-47C0-A357-5C346CD13CD3}"/>
              </a:ext>
            </a:extLst>
          </p:cNvPr>
          <p:cNvSpPr>
            <a:spLocks xmlns:a="http://schemas.openxmlformats.org/drawingml/2006/main" noGrp="1"/>
          </p:cNvSpPr>
          <p:nvPr/>
        </p:nvSpPr>
        <p:spPr>
          <a:xfrm xmlns:a="http://schemas.openxmlformats.org/drawingml/2006/main">
            <a:off x="609600" y="3238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defRPr sz="1050" b="1">
                <a:solidFill>
                  <a:srgbClr val="B5A15B"/>
                </a:solidFill>
                <a:latin typeface="Arial"/>
                <a:ea typeface="Arial"/>
                <a:cs typeface="Arial"/>
              </a:defRPr>
            </a:pPr>
            <a:r>
              <a:rPr sz="1050" b="1">
                <a:solidFill>
                  <a:srgbClr val="B5A15B"/>
                </a:solidFill>
                <a:latin typeface="Arial"/>
                <a:ea typeface="Arial"/>
                <a:cs typeface="Arial"/>
              </a:rPr>
              <a:t>02 · MỤC TIÊU</a:t>
            </a:r>
          </a:p>
        </p:txBody>
      </p:sp>
      <p:sp>
        <p:nvSpPr>
          <p:cNvPr id="3" name="">
            <a:extLst xmlns:a="http://schemas.openxmlformats.org/drawingml/2006/main">
              <a:ext uri="{FF2B5EF4-FFF2-40B4-BE49-F238E27FC236}">
                <a16:creationId xmlns:a16="http://schemas.microsoft.com/office/drawing/2014/main" id="{2CB4DA1E-C1AA-4015-94EC-AEB1642E2EF7}"/>
              </a:ext>
            </a:extLst>
          </p:cNvPr>
          <p:cNvSpPr>
            <a:spLocks xmlns:a="http://schemas.openxmlformats.org/drawingml/2006/main" noGrp="1"/>
          </p:cNvSpPr>
          <p:nvPr/>
        </p:nvSpPr>
        <p:spPr>
          <a:xfrm xmlns:a="http://schemas.openxmlformats.org/drawingml/2006/main">
            <a:off x="609600" y="6477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850" b="1">
                <a:solidFill>
                  <a:srgbClr val="2E3B35"/>
                </a:solidFill>
                <a:latin typeface="Georgia"/>
                <a:ea typeface="Georgia"/>
                <a:cs typeface="Georgia"/>
              </a:defRPr>
            </a:pPr>
            <a:r>
              <a:rPr sz="2850" b="1">
                <a:solidFill>
                  <a:srgbClr val="2E3B35"/>
                </a:solidFill>
                <a:latin typeface="Georgia"/>
                <a:ea typeface="Georgia"/>
                <a:cs typeface="Georgia"/>
              </a:rPr>
              <a:t>Ba câu hỏi dẫn dắt phân tích</a:t>
            </a:r>
          </a:p>
        </p:txBody>
      </p:sp>
      <p:sp>
        <p:nvSpPr>
          <p:cNvPr id="4" name="">
            <a:extLst xmlns:a="http://schemas.openxmlformats.org/drawingml/2006/main">
              <a:ext uri="{FF2B5EF4-FFF2-40B4-BE49-F238E27FC236}">
                <a16:creationId xmlns:a16="http://schemas.microsoft.com/office/drawing/2014/main" id="{2BB0A7D4-6AE2-4614-9BFA-9A39EDBB64FB}"/>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8D4C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21E7457-23A6-49D5-8913-1FFF59BBA9CF}"/>
              </a:ext>
            </a:extLst>
          </p:cNvPr>
          <p:cNvSpPr>
            <a:spLocks xmlns:a="http://schemas.openxmlformats.org/drawingml/2006/main" noGrp="1"/>
          </p:cNvSpPr>
          <p:nvPr/>
        </p:nvSpPr>
        <p:spPr>
          <a:xfrm xmlns:a="http://schemas.openxmlformats.org/drawingml/2006/main">
            <a:off x="628650" y="649605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0">
                <a:solidFill>
                  <a:srgbClr val="748078"/>
                </a:solidFill>
                <a:latin typeface="Arial"/>
                <a:ea typeface="Arial"/>
                <a:cs typeface="Arial"/>
              </a:defRPr>
            </a:pPr>
            <a:r>
              <a:rPr sz="750" b="0">
                <a:solidFill>
                  <a:srgbClr val="748078"/>
                </a:solidFill>
                <a:latin typeface="Arial"/>
                <a:ea typeface="Arial"/>
                <a:cs typeface="Arial"/>
              </a:rPr>
              <a:t>Mortgage Default &amp; Prepayment · Freddie Mac 2016–2026</a:t>
            </a:r>
          </a:p>
        </p:txBody>
      </p:sp>
      <p:sp>
        <p:nvSpPr>
          <p:cNvPr id="6" name="">
            <a:extLst xmlns:a="http://schemas.openxmlformats.org/drawingml/2006/main">
              <a:ext uri="{FF2B5EF4-FFF2-40B4-BE49-F238E27FC236}">
                <a16:creationId xmlns:a16="http://schemas.microsoft.com/office/drawing/2014/main" id="{0385DD1F-AE13-437F-B210-54E3CBB427B2}"/>
              </a:ext>
            </a:extLst>
          </p:cNvPr>
          <p:cNvSpPr>
            <a:spLocks xmlns:a="http://schemas.openxmlformats.org/drawingml/2006/main" noGrp="1"/>
          </p:cNvSpPr>
          <p:nvPr/>
        </p:nvSpPr>
        <p:spPr>
          <a:xfrm xmlns:a="http://schemas.openxmlformats.org/drawingml/2006/main">
            <a:off x="11049000" y="647700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0">
                <a:solidFill>
                  <a:srgbClr val="748078"/>
                </a:solidFill>
                <a:latin typeface="Arial"/>
                <a:ea typeface="Arial"/>
                <a:cs typeface="Arial"/>
              </a:defRPr>
            </a:pPr>
            <a:r>
              <a:rPr sz="825" b="0">
                <a:solidFill>
                  <a:srgbClr val="748078"/>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D09C7D44-84D8-4E3E-8CF9-D9841FB18CF9}"/>
              </a:ext>
            </a:extLst>
          </p:cNvPr>
          <p:cNvSpPr>
            <a:spLocks xmlns:a="http://schemas.openxmlformats.org/drawingml/2006/main" noGrp="1"/>
          </p:cNvSpPr>
          <p:nvPr/>
        </p:nvSpPr>
        <p:spPr>
          <a:xfrm xmlns:a="http://schemas.openxmlformats.org/drawingml/2006/main">
            <a:off x="609600" y="1885950"/>
            <a:ext cx="3333750" cy="2952750"/>
          </a:xfrm>
          <a:prstGeom xmlns:a="http://schemas.openxmlformats.org/drawingml/2006/main" prst="rect">
            <a:avLst/>
          </a:prstGeom>
          <a:solidFill xmlns:a="http://schemas.openxmlformats.org/drawingml/2006/main">
            <a:srgbClr val="FFFDF8"/>
          </a:solidFill>
          <a:ln xmlns:a="http://schemas.openxmlformats.org/drawingml/2006/main" w="12383">
            <a:solidFill>
              <a:srgbClr val="D8D4C6"/>
            </a:solidFill>
          </a:ln>
        </p:spPr>
      </p:sp>
      <p:sp>
        <p:nvSpPr>
          <p:cNvPr id="8" name="">
            <a:extLst xmlns:a="http://schemas.openxmlformats.org/drawingml/2006/main">
              <a:ext uri="{FF2B5EF4-FFF2-40B4-BE49-F238E27FC236}">
                <a16:creationId xmlns:a16="http://schemas.microsoft.com/office/drawing/2014/main" id="{FCB0B4B1-4CC6-44B4-B544-2034D98EB5A0}"/>
              </a:ext>
            </a:extLst>
          </p:cNvPr>
          <p:cNvSpPr>
            <a:spLocks xmlns:a="http://schemas.openxmlformats.org/drawingml/2006/main" noGrp="1"/>
          </p:cNvSpPr>
          <p:nvPr/>
        </p:nvSpPr>
        <p:spPr>
          <a:xfrm xmlns:a="http://schemas.openxmlformats.org/drawingml/2006/main">
            <a:off x="609600" y="1885950"/>
            <a:ext cx="57150" cy="2952750"/>
          </a:xfrm>
          <a:prstGeom xmlns:a="http://schemas.openxmlformats.org/drawingml/2006/main" prst="rect">
            <a:avLst/>
          </a:prstGeom>
          <a:solidFill xmlns:a="http://schemas.openxmlformats.org/drawingml/2006/main">
            <a:srgbClr val="B8625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AAF8344-20D2-4EC2-A498-723729AC16F7}"/>
              </a:ext>
            </a:extLst>
          </p:cNvPr>
          <p:cNvSpPr>
            <a:spLocks xmlns:a="http://schemas.openxmlformats.org/drawingml/2006/main" noGrp="1"/>
          </p:cNvSpPr>
          <p:nvPr/>
        </p:nvSpPr>
        <p:spPr>
          <a:xfrm xmlns:a="http://schemas.openxmlformats.org/drawingml/2006/main">
            <a:off x="819150" y="2028825"/>
            <a:ext cx="2914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056"/>
          </a:bodyPr>
          <a:lstStyle xmlns:a="http://schemas.openxmlformats.org/drawingml/2006/main"/>
          <a:p xmlns:a="http://schemas.openxmlformats.org/drawingml/2006/main">
            <a:pPr>
              <a:defRPr sz="900" b="1">
                <a:solidFill>
                  <a:srgbClr val="B86252"/>
                </a:solidFill>
                <a:latin typeface="Arial"/>
                <a:ea typeface="Arial"/>
                <a:cs typeface="Arial"/>
              </a:defRPr>
            </a:pPr>
            <a:r>
              <a:rPr sz="900" b="1">
                <a:solidFill>
                  <a:srgbClr val="B86252"/>
                </a:solidFill>
                <a:latin typeface="Arial"/>
                <a:ea typeface="Arial"/>
                <a:cs typeface="Arial"/>
              </a:rPr>
              <a:t>01 · THEO THỜI GIAN</a:t>
            </a:r>
          </a:p>
        </p:txBody>
      </p:sp>
      <p:sp>
        <p:nvSpPr>
          <p:cNvPr id="10" name="">
            <a:extLst xmlns:a="http://schemas.openxmlformats.org/drawingml/2006/main">
              <a:ext uri="{FF2B5EF4-FFF2-40B4-BE49-F238E27FC236}">
                <a16:creationId xmlns:a16="http://schemas.microsoft.com/office/drawing/2014/main" id="{9AA08B05-1F6D-47C3-9C43-67F73241C7AE}"/>
              </a:ext>
            </a:extLst>
          </p:cNvPr>
          <p:cNvSpPr>
            <a:spLocks xmlns:a="http://schemas.openxmlformats.org/drawingml/2006/main" noGrp="1"/>
          </p:cNvSpPr>
          <p:nvPr/>
        </p:nvSpPr>
        <p:spPr>
          <a:xfrm xmlns:a="http://schemas.openxmlformats.org/drawingml/2006/main">
            <a:off x="819150" y="2333625"/>
            <a:ext cx="2914650"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2E3B35"/>
                </a:solidFill>
                <a:latin typeface="Georgia"/>
                <a:ea typeface="Georgia"/>
                <a:cs typeface="Georgia"/>
              </a:defRPr>
            </a:pPr>
            <a:r>
              <a:rPr sz="1350" b="0">
                <a:solidFill>
                  <a:srgbClr val="2E3B35"/>
                </a:solidFill>
                <a:latin typeface="Georgia"/>
                <a:ea typeface="Georgia"/>
                <a:cs typeface="Georgia"/>
              </a:rPr>
              <a:t>Xác suất vỡ nợ tích lũy thay đổi thế nào theo tuổi khoản vay?</a:t>
            </a:r>
          </a:p>
        </p:txBody>
      </p:sp>
      <p:sp>
        <p:nvSpPr>
          <p:cNvPr id="11" name="">
            <a:extLst xmlns:a="http://schemas.openxmlformats.org/drawingml/2006/main">
              <a:ext uri="{FF2B5EF4-FFF2-40B4-BE49-F238E27FC236}">
                <a16:creationId xmlns:a16="http://schemas.microsoft.com/office/drawing/2014/main" id="{9053D28D-223B-4ED8-8615-5F1D35C30616}"/>
              </a:ext>
            </a:extLst>
          </p:cNvPr>
          <p:cNvSpPr>
            <a:spLocks xmlns:a="http://schemas.openxmlformats.org/drawingml/2006/main" noGrp="1"/>
          </p:cNvSpPr>
          <p:nvPr/>
        </p:nvSpPr>
        <p:spPr>
          <a:xfrm xmlns:a="http://schemas.openxmlformats.org/drawingml/2006/main">
            <a:off x="4419600" y="1885950"/>
            <a:ext cx="3333750" cy="2952750"/>
          </a:xfrm>
          <a:prstGeom xmlns:a="http://schemas.openxmlformats.org/drawingml/2006/main" prst="rect">
            <a:avLst/>
          </a:prstGeom>
          <a:solidFill xmlns:a="http://schemas.openxmlformats.org/drawingml/2006/main">
            <a:srgbClr val="FFFDF8"/>
          </a:solidFill>
          <a:ln xmlns:a="http://schemas.openxmlformats.org/drawingml/2006/main" w="12383">
            <a:solidFill>
              <a:srgbClr val="D8D4C6"/>
            </a:solidFill>
          </a:ln>
        </p:spPr>
      </p:sp>
      <p:sp>
        <p:nvSpPr>
          <p:cNvPr id="12" name="">
            <a:extLst xmlns:a="http://schemas.openxmlformats.org/drawingml/2006/main">
              <a:ext uri="{FF2B5EF4-FFF2-40B4-BE49-F238E27FC236}">
                <a16:creationId xmlns:a16="http://schemas.microsoft.com/office/drawing/2014/main" id="{6762C7F0-7067-437F-BB3D-6377EFE48158}"/>
              </a:ext>
            </a:extLst>
          </p:cNvPr>
          <p:cNvSpPr>
            <a:spLocks xmlns:a="http://schemas.openxmlformats.org/drawingml/2006/main" noGrp="1"/>
          </p:cNvSpPr>
          <p:nvPr/>
        </p:nvSpPr>
        <p:spPr>
          <a:xfrm xmlns:a="http://schemas.openxmlformats.org/drawingml/2006/main">
            <a:off x="4419600" y="1885950"/>
            <a:ext cx="57150" cy="2952750"/>
          </a:xfrm>
          <a:prstGeom xmlns:a="http://schemas.openxmlformats.org/drawingml/2006/main" prst="rect">
            <a:avLst/>
          </a:prstGeom>
          <a:solidFill xmlns:a="http://schemas.openxmlformats.org/drawingml/2006/main">
            <a:srgbClr val="B5A15B"/>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B36D1C8-2BA9-48AF-8BA0-C01B572299AC}"/>
              </a:ext>
            </a:extLst>
          </p:cNvPr>
          <p:cNvSpPr>
            <a:spLocks xmlns:a="http://schemas.openxmlformats.org/drawingml/2006/main" noGrp="1"/>
          </p:cNvSpPr>
          <p:nvPr/>
        </p:nvSpPr>
        <p:spPr>
          <a:xfrm xmlns:a="http://schemas.openxmlformats.org/drawingml/2006/main">
            <a:off x="4629150" y="2028825"/>
            <a:ext cx="2914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056"/>
          </a:bodyPr>
          <a:lstStyle xmlns:a="http://schemas.openxmlformats.org/drawingml/2006/main"/>
          <a:p xmlns:a="http://schemas.openxmlformats.org/drawingml/2006/main">
            <a:pPr>
              <a:defRPr sz="900" b="1">
                <a:solidFill>
                  <a:srgbClr val="B5A15B"/>
                </a:solidFill>
                <a:latin typeface="Arial"/>
                <a:ea typeface="Arial"/>
                <a:cs typeface="Arial"/>
              </a:defRPr>
            </a:pPr>
            <a:r>
              <a:rPr sz="900" b="1">
                <a:solidFill>
                  <a:srgbClr val="B5A15B"/>
                </a:solidFill>
                <a:latin typeface="Arial"/>
                <a:ea typeface="Arial"/>
                <a:cs typeface="Arial"/>
              </a:rPr>
              <a:t>02 · NHÓM KHOẢN VAY</a:t>
            </a:r>
          </a:p>
        </p:txBody>
      </p:sp>
      <p:sp>
        <p:nvSpPr>
          <p:cNvPr id="14" name="">
            <a:extLst xmlns:a="http://schemas.openxmlformats.org/drawingml/2006/main">
              <a:ext uri="{FF2B5EF4-FFF2-40B4-BE49-F238E27FC236}">
                <a16:creationId xmlns:a16="http://schemas.microsoft.com/office/drawing/2014/main" id="{41392CD0-6AB7-446C-96BA-C537BCB6FEB4}"/>
              </a:ext>
            </a:extLst>
          </p:cNvPr>
          <p:cNvSpPr>
            <a:spLocks xmlns:a="http://schemas.openxmlformats.org/drawingml/2006/main" noGrp="1"/>
          </p:cNvSpPr>
          <p:nvPr/>
        </p:nvSpPr>
        <p:spPr>
          <a:xfrm xmlns:a="http://schemas.openxmlformats.org/drawingml/2006/main">
            <a:off x="4629150" y="2333625"/>
            <a:ext cx="2914650"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2E3B35"/>
                </a:solidFill>
                <a:latin typeface="Georgia"/>
                <a:ea typeface="Georgia"/>
                <a:cs typeface="Georgia"/>
              </a:defRPr>
            </a:pPr>
            <a:r>
              <a:rPr sz="1350" b="0">
                <a:solidFill>
                  <a:srgbClr val="2E3B35"/>
                </a:solidFill>
                <a:latin typeface="Georgia"/>
                <a:ea typeface="Georgia"/>
                <a:cs typeface="Georgia"/>
              </a:rPr>
              <a:t>Default CIF khác nhau ra sao giữa FICO, LTV, DTI và vintage?</a:t>
            </a:r>
          </a:p>
        </p:txBody>
      </p:sp>
      <p:sp>
        <p:nvSpPr>
          <p:cNvPr id="15" name="">
            <a:extLst xmlns:a="http://schemas.openxmlformats.org/drawingml/2006/main">
              <a:ext uri="{FF2B5EF4-FFF2-40B4-BE49-F238E27FC236}">
                <a16:creationId xmlns:a16="http://schemas.microsoft.com/office/drawing/2014/main" id="{5210C394-2301-4477-BEE7-68F722CB1267}"/>
              </a:ext>
            </a:extLst>
          </p:cNvPr>
          <p:cNvSpPr>
            <a:spLocks xmlns:a="http://schemas.openxmlformats.org/drawingml/2006/main" noGrp="1"/>
          </p:cNvSpPr>
          <p:nvPr/>
        </p:nvSpPr>
        <p:spPr>
          <a:xfrm xmlns:a="http://schemas.openxmlformats.org/drawingml/2006/main">
            <a:off x="8229600" y="1885950"/>
            <a:ext cx="3333750" cy="2952750"/>
          </a:xfrm>
          <a:prstGeom xmlns:a="http://schemas.openxmlformats.org/drawingml/2006/main" prst="rect">
            <a:avLst/>
          </a:prstGeom>
          <a:solidFill xmlns:a="http://schemas.openxmlformats.org/drawingml/2006/main">
            <a:srgbClr val="FFFDF8"/>
          </a:solidFill>
          <a:ln xmlns:a="http://schemas.openxmlformats.org/drawingml/2006/main" w="12383">
            <a:solidFill>
              <a:srgbClr val="D8D4C6"/>
            </a:solidFill>
          </a:ln>
        </p:spPr>
      </p:sp>
      <p:sp>
        <p:nvSpPr>
          <p:cNvPr id="16" name="">
            <a:extLst xmlns:a="http://schemas.openxmlformats.org/drawingml/2006/main">
              <a:ext uri="{FF2B5EF4-FFF2-40B4-BE49-F238E27FC236}">
                <a16:creationId xmlns:a16="http://schemas.microsoft.com/office/drawing/2014/main" id="{7BF34F14-9BE0-4E2B-A573-D0D191BB919D}"/>
              </a:ext>
            </a:extLst>
          </p:cNvPr>
          <p:cNvSpPr>
            <a:spLocks xmlns:a="http://schemas.openxmlformats.org/drawingml/2006/main" noGrp="1"/>
          </p:cNvSpPr>
          <p:nvPr/>
        </p:nvSpPr>
        <p:spPr>
          <a:xfrm xmlns:a="http://schemas.openxmlformats.org/drawingml/2006/main">
            <a:off x="8229600" y="1885950"/>
            <a:ext cx="57150" cy="2952750"/>
          </a:xfrm>
          <a:prstGeom xmlns:a="http://schemas.openxmlformats.org/drawingml/2006/main" prst="rect">
            <a:avLst/>
          </a:prstGeom>
          <a:solidFill xmlns:a="http://schemas.openxmlformats.org/drawingml/2006/main">
            <a:srgbClr val="64816D"/>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5105BB9-055C-4718-8C17-A7985ACF98EA}"/>
              </a:ext>
            </a:extLst>
          </p:cNvPr>
          <p:cNvSpPr>
            <a:spLocks xmlns:a="http://schemas.openxmlformats.org/drawingml/2006/main" noGrp="1"/>
          </p:cNvSpPr>
          <p:nvPr/>
        </p:nvSpPr>
        <p:spPr>
          <a:xfrm xmlns:a="http://schemas.openxmlformats.org/drawingml/2006/main">
            <a:off x="8439150" y="2028825"/>
            <a:ext cx="2914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056"/>
          </a:bodyPr>
          <a:lstStyle xmlns:a="http://schemas.openxmlformats.org/drawingml/2006/main"/>
          <a:p xmlns:a="http://schemas.openxmlformats.org/drawingml/2006/main">
            <a:pPr>
              <a:defRPr sz="900" b="1">
                <a:solidFill>
                  <a:srgbClr val="64816D"/>
                </a:solidFill>
                <a:latin typeface="Arial"/>
                <a:ea typeface="Arial"/>
                <a:cs typeface="Arial"/>
              </a:defRPr>
            </a:pPr>
            <a:r>
              <a:rPr sz="900" b="1">
                <a:solidFill>
                  <a:srgbClr val="64816D"/>
                </a:solidFill>
                <a:latin typeface="Arial"/>
                <a:ea typeface="Arial"/>
                <a:cs typeface="Arial"/>
              </a:rPr>
              <a:t>03 · YẾU TỐ LIÊN QUAN</a:t>
            </a:r>
          </a:p>
        </p:txBody>
      </p:sp>
      <p:sp>
        <p:nvSpPr>
          <p:cNvPr id="18" name="">
            <a:extLst xmlns:a="http://schemas.openxmlformats.org/drawingml/2006/main">
              <a:ext uri="{FF2B5EF4-FFF2-40B4-BE49-F238E27FC236}">
                <a16:creationId xmlns:a16="http://schemas.microsoft.com/office/drawing/2014/main" id="{4B2724FC-12C4-4BFF-B712-B7F29F2D7C10}"/>
              </a:ext>
            </a:extLst>
          </p:cNvPr>
          <p:cNvSpPr>
            <a:spLocks xmlns:a="http://schemas.openxmlformats.org/drawingml/2006/main" noGrp="1"/>
          </p:cNvSpPr>
          <p:nvPr/>
        </p:nvSpPr>
        <p:spPr>
          <a:xfrm xmlns:a="http://schemas.openxmlformats.org/drawingml/2006/main">
            <a:off x="8439150" y="2333625"/>
            <a:ext cx="2914650"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2E3B35"/>
                </a:solidFill>
                <a:latin typeface="Georgia"/>
                <a:ea typeface="Georgia"/>
                <a:cs typeface="Georgia"/>
              </a:defRPr>
            </a:pPr>
            <a:r>
              <a:rPr sz="1350" b="0">
                <a:solidFill>
                  <a:srgbClr val="2E3B35"/>
                </a:solidFill>
                <a:latin typeface="Georgia"/>
                <a:ea typeface="Georgia"/>
                <a:cs typeface="Georgia"/>
              </a:rPr>
              <a:t>Đặc điểm ban đầu nào liên hệ với hazard hoặc subdistribution hazard?</a:t>
            </a:r>
          </a:p>
        </p:txBody>
      </p:sp>
      <p:sp>
        <p:nvSpPr>
          <p:cNvPr id="19" name="">
            <a:extLst xmlns:a="http://schemas.openxmlformats.org/drawingml/2006/main">
              <a:ext uri="{FF2B5EF4-FFF2-40B4-BE49-F238E27FC236}">
                <a16:creationId xmlns:a16="http://schemas.microsoft.com/office/drawing/2014/main" id="{A2A8DD35-B2F6-453E-B70C-E790001F056A}"/>
              </a:ext>
            </a:extLst>
          </p:cNvPr>
          <p:cNvSpPr>
            <a:spLocks xmlns:a="http://schemas.openxmlformats.org/drawingml/2006/main" noGrp="1"/>
          </p:cNvSpPr>
          <p:nvPr/>
        </p:nvSpPr>
        <p:spPr>
          <a:xfrm xmlns:a="http://schemas.openxmlformats.org/drawingml/2006/main">
            <a:off x="666750" y="52863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748078"/>
                </a:solidFill>
                <a:latin typeface="Georgia"/>
                <a:ea typeface="Georgia"/>
                <a:cs typeface="Georgia"/>
              </a:defRPr>
            </a:pPr>
            <a:r>
              <a:rPr sz="1350" b="0">
                <a:solidFill>
                  <a:srgbClr val="748078"/>
                </a:solidFill>
                <a:latin typeface="Georgia"/>
                <a:ea typeface="Georgia"/>
                <a:cs typeface="Georgia"/>
              </a:rPr>
              <a:t>Các kết quả là mô tả/ước lượng hoặc liên hệ có điều kiện; không tự chứng minh nguyên nhân.</a:t>
            </a:r>
          </a:p>
        </p:txBody>
      </p:sp>
    </p:spTree>
    <p:extLst>
      <p:ext uri="{BB962C8B-B14F-4D97-AF65-F5344CB8AC3E}">
        <p14:creationId xmlns:p14="http://schemas.microsoft.com/office/powerpoint/2010/main" val="1411604993"/>
      </p:ext>
    </p:extLst>
  </p:cSld>
</p:sld>
</file>

<file path=ppt/slides/slide4.xml><?xml version="1.0" encoding="utf-8"?>
<p:sld xmlns:p="http://schemas.openxmlformats.org/presentationml/2006/main">
  <p:cSld>
    <p:bg>
      <p:bgPr>
        <a:solidFill xmlns:a="http://schemas.openxmlformats.org/drawingml/2006/main">
          <a:srgbClr val="F1EFE6"/>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EA23F937-76C4-471B-9774-22901F6818DE}"/>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2E3B3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56985FF-0876-4BE6-9442-1D515EC1BBEA}"/>
              </a:ext>
            </a:extLst>
          </p:cNvPr>
          <p:cNvSpPr>
            <a:spLocks xmlns:a="http://schemas.openxmlformats.org/drawingml/2006/main" noGrp="1"/>
          </p:cNvSpPr>
          <p:nvPr/>
        </p:nvSpPr>
        <p:spPr>
          <a:xfrm xmlns:a="http://schemas.openxmlformats.org/drawingml/2006/main">
            <a:off x="609600" y="3238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defRPr sz="1050" b="1">
                <a:solidFill>
                  <a:srgbClr val="B5A15B"/>
                </a:solidFill>
                <a:latin typeface="Arial"/>
                <a:ea typeface="Arial"/>
                <a:cs typeface="Arial"/>
              </a:defRPr>
            </a:pPr>
            <a:r>
              <a:rPr sz="1050" b="1">
                <a:solidFill>
                  <a:srgbClr val="B5A15B"/>
                </a:solidFill>
                <a:latin typeface="Arial"/>
                <a:ea typeface="Arial"/>
                <a:cs typeface="Arial"/>
              </a:rPr>
              <a:t>03 · NỀN TẢNG HỌC THUẬT</a:t>
            </a:r>
          </a:p>
        </p:txBody>
      </p:sp>
      <p:sp>
        <p:nvSpPr>
          <p:cNvPr id="3" name="">
            <a:extLst xmlns:a="http://schemas.openxmlformats.org/drawingml/2006/main">
              <a:ext uri="{FF2B5EF4-FFF2-40B4-BE49-F238E27FC236}">
                <a16:creationId xmlns:a16="http://schemas.microsoft.com/office/drawing/2014/main" id="{9BD899CE-D725-402C-BC9B-87BFCA6D22FA}"/>
              </a:ext>
            </a:extLst>
          </p:cNvPr>
          <p:cNvSpPr>
            <a:spLocks xmlns:a="http://schemas.openxmlformats.org/drawingml/2006/main" noGrp="1"/>
          </p:cNvSpPr>
          <p:nvPr/>
        </p:nvSpPr>
        <p:spPr>
          <a:xfrm xmlns:a="http://schemas.openxmlformats.org/drawingml/2006/main">
            <a:off x="609600" y="6477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850" b="1">
                <a:solidFill>
                  <a:srgbClr val="2E3B35"/>
                </a:solidFill>
                <a:latin typeface="Georgia"/>
                <a:ea typeface="Georgia"/>
                <a:cs typeface="Georgia"/>
              </a:defRPr>
            </a:pPr>
            <a:r>
              <a:rPr sz="2850" b="1">
                <a:solidFill>
                  <a:srgbClr val="2E3B35"/>
                </a:solidFill>
                <a:latin typeface="Georgia"/>
                <a:ea typeface="Georgia"/>
                <a:cs typeface="Georgia"/>
              </a:rPr>
              <a:t>Năm nghiên cứu đặt nền cho thiết kế</a:t>
            </a:r>
          </a:p>
        </p:txBody>
      </p:sp>
      <p:sp>
        <p:nvSpPr>
          <p:cNvPr id="4" name="">
            <a:extLst xmlns:a="http://schemas.openxmlformats.org/drawingml/2006/main">
              <a:ext uri="{FF2B5EF4-FFF2-40B4-BE49-F238E27FC236}">
                <a16:creationId xmlns:a16="http://schemas.microsoft.com/office/drawing/2014/main" id="{E2904499-7719-4EA0-80C1-FDCDA0F44227}"/>
              </a:ext>
            </a:extLst>
          </p:cNvPr>
          <p:cNvSpPr>
            <a:spLocks xmlns:a="http://schemas.openxmlformats.org/drawingml/2006/main" noGrp="1"/>
          </p:cNvSpPr>
          <p:nvPr/>
        </p:nvSpPr>
        <p:spPr>
          <a:xfrm xmlns:a="http://schemas.openxmlformats.org/drawingml/2006/main">
            <a:off x="628650" y="13239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748078"/>
                </a:solidFill>
                <a:latin typeface="Georgia"/>
                <a:ea typeface="Georgia"/>
                <a:cs typeface="Georgia"/>
              </a:defRPr>
            </a:pPr>
            <a:r>
              <a:rPr sz="1425" b="0">
                <a:solidFill>
                  <a:srgbClr val="748078"/>
                </a:solidFill>
                <a:latin typeface="Georgia"/>
                <a:ea typeface="Georgia"/>
                <a:cs typeface="Georgia"/>
              </a:rPr>
              <a:t>Các bài báo giúp xác định phương pháp và giới hạn diễn giải.</a:t>
            </a:r>
          </a:p>
        </p:txBody>
      </p:sp>
      <p:sp>
        <p:nvSpPr>
          <p:cNvPr id="5" name="">
            <a:extLst xmlns:a="http://schemas.openxmlformats.org/drawingml/2006/main">
              <a:ext uri="{FF2B5EF4-FFF2-40B4-BE49-F238E27FC236}">
                <a16:creationId xmlns:a16="http://schemas.microsoft.com/office/drawing/2014/main" id="{7CFF04EB-870B-4FAE-9A3B-36358AA86764}"/>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8D4C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E0D3F25-79CB-48DF-AA99-B89CF063F344}"/>
              </a:ext>
            </a:extLst>
          </p:cNvPr>
          <p:cNvSpPr>
            <a:spLocks xmlns:a="http://schemas.openxmlformats.org/drawingml/2006/main" noGrp="1"/>
          </p:cNvSpPr>
          <p:nvPr/>
        </p:nvSpPr>
        <p:spPr>
          <a:xfrm xmlns:a="http://schemas.openxmlformats.org/drawingml/2006/main">
            <a:off x="628650" y="649605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0">
                <a:solidFill>
                  <a:srgbClr val="748078"/>
                </a:solidFill>
                <a:latin typeface="Arial"/>
                <a:ea typeface="Arial"/>
                <a:cs typeface="Arial"/>
              </a:defRPr>
            </a:pPr>
            <a:r>
              <a:rPr sz="750" b="0">
                <a:solidFill>
                  <a:srgbClr val="748078"/>
                </a:solidFill>
                <a:latin typeface="Arial"/>
                <a:ea typeface="Arial"/>
                <a:cs typeface="Arial"/>
              </a:rPr>
              <a:t>Mortgage Default &amp; Prepayment · Freddie Mac 2016–2026</a:t>
            </a:r>
          </a:p>
        </p:txBody>
      </p:sp>
      <p:sp>
        <p:nvSpPr>
          <p:cNvPr id="7" name="">
            <a:extLst xmlns:a="http://schemas.openxmlformats.org/drawingml/2006/main">
              <a:ext uri="{FF2B5EF4-FFF2-40B4-BE49-F238E27FC236}">
                <a16:creationId xmlns:a16="http://schemas.microsoft.com/office/drawing/2014/main" id="{75E86051-F31B-4065-AB5C-E53E758FBE0E}"/>
              </a:ext>
            </a:extLst>
          </p:cNvPr>
          <p:cNvSpPr>
            <a:spLocks xmlns:a="http://schemas.openxmlformats.org/drawingml/2006/main" noGrp="1"/>
          </p:cNvSpPr>
          <p:nvPr/>
        </p:nvSpPr>
        <p:spPr>
          <a:xfrm xmlns:a="http://schemas.openxmlformats.org/drawingml/2006/main">
            <a:off x="11049000" y="647700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0">
                <a:solidFill>
                  <a:srgbClr val="748078"/>
                </a:solidFill>
                <a:latin typeface="Arial"/>
                <a:ea typeface="Arial"/>
                <a:cs typeface="Arial"/>
              </a:defRPr>
            </a:pPr>
            <a:r>
              <a:rPr sz="825" b="0">
                <a:solidFill>
                  <a:srgbClr val="748078"/>
                </a:solidFill>
                <a:latin typeface="Arial"/>
                <a:ea typeface="Arial"/>
                <a:cs typeface="Arial"/>
              </a:rPr>
              <a:t>04</a:t>
            </a:r>
          </a:p>
        </p:txBody>
      </p:sp>
      <p:sp>
        <p:nvSpPr>
          <p:cNvPr id="8" name="">
            <a:extLst xmlns:a="http://schemas.openxmlformats.org/drawingml/2006/main">
              <a:ext uri="{FF2B5EF4-FFF2-40B4-BE49-F238E27FC236}">
                <a16:creationId xmlns:a16="http://schemas.microsoft.com/office/drawing/2014/main" id="{62604235-B49F-4AD7-B261-CDA5D08BA5C2}"/>
              </a:ext>
            </a:extLst>
          </p:cNvPr>
          <p:cNvSpPr>
            <a:spLocks xmlns:a="http://schemas.openxmlformats.org/drawingml/2006/main" noGrp="1"/>
          </p:cNvSpPr>
          <p:nvPr/>
        </p:nvSpPr>
        <p:spPr>
          <a:xfrm xmlns:a="http://schemas.openxmlformats.org/drawingml/2006/main">
            <a:off x="647700" y="2000250"/>
            <a:ext cx="457200" cy="457200"/>
          </a:xfrm>
          <a:prstGeom xmlns:a="http://schemas.openxmlformats.org/drawingml/2006/main" prst="rect">
            <a:avLst/>
          </a:prstGeom>
          <a:solidFill xmlns:a="http://schemas.openxmlformats.org/drawingml/2006/main">
            <a:srgbClr val="B5A15B"/>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32A7157-B78E-4053-99D9-BEDCA7725961}"/>
              </a:ext>
            </a:extLst>
          </p:cNvPr>
          <p:cNvSpPr>
            <a:spLocks xmlns:a="http://schemas.openxmlformats.org/drawingml/2006/main" noGrp="1"/>
          </p:cNvSpPr>
          <p:nvPr/>
        </p:nvSpPr>
        <p:spPr>
          <a:xfrm xmlns:a="http://schemas.openxmlformats.org/drawingml/2006/main">
            <a:off x="647700" y="2000250"/>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2E3B35"/>
                </a:solidFill>
                <a:latin typeface="Arial"/>
                <a:ea typeface="Arial"/>
                <a:cs typeface="Arial"/>
              </a:defRPr>
            </a:pPr>
            <a:r>
              <a:rPr sz="1050" b="1">
                <a:solidFill>
                  <a:srgbClr val="2E3B35"/>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3F13D007-4269-45CC-A46B-3EE3E080E3F7}"/>
              </a:ext>
            </a:extLst>
          </p:cNvPr>
          <p:cNvSpPr>
            <a:spLocks xmlns:a="http://schemas.openxmlformats.org/drawingml/2006/main" noGrp="1"/>
          </p:cNvSpPr>
          <p:nvPr/>
        </p:nvSpPr>
        <p:spPr>
          <a:xfrm xmlns:a="http://schemas.openxmlformats.org/drawingml/2006/main">
            <a:off x="1295400" y="1971675"/>
            <a:ext cx="428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6316"/>
          </a:bodyPr>
          <a:lstStyle xmlns:a="http://schemas.openxmlformats.org/drawingml/2006/main"/>
          <a:p xmlns:a="http://schemas.openxmlformats.org/drawingml/2006/main">
            <a:pPr>
              <a:defRPr sz="1425" b="1">
                <a:solidFill>
                  <a:srgbClr val="2E3B35"/>
                </a:solidFill>
                <a:latin typeface="Georgia"/>
                <a:ea typeface="Georgia"/>
                <a:cs typeface="Georgia"/>
              </a:defRPr>
            </a:pPr>
            <a:r>
              <a:rPr sz="1425" b="1">
                <a:solidFill>
                  <a:srgbClr val="2E3B35"/>
                </a:solidFill>
                <a:latin typeface="Georgia"/>
                <a:ea typeface="Georgia"/>
                <a:cs typeface="Georgia"/>
              </a:rPr>
              <a:t>Deng, Quigley &amp; Van Order (1996)</a:t>
            </a:r>
          </a:p>
        </p:txBody>
      </p:sp>
      <p:sp>
        <p:nvSpPr>
          <p:cNvPr id="11" name="">
            <a:extLst xmlns:a="http://schemas.openxmlformats.org/drawingml/2006/main">
              <a:ext uri="{FF2B5EF4-FFF2-40B4-BE49-F238E27FC236}">
                <a16:creationId xmlns:a16="http://schemas.microsoft.com/office/drawing/2014/main" id="{9438A9C6-8DDB-4CD2-8CAA-54A25C023E6E}"/>
              </a:ext>
            </a:extLst>
          </p:cNvPr>
          <p:cNvSpPr>
            <a:spLocks xmlns:a="http://schemas.openxmlformats.org/drawingml/2006/main" noGrp="1"/>
          </p:cNvSpPr>
          <p:nvPr/>
        </p:nvSpPr>
        <p:spPr>
          <a:xfrm xmlns:a="http://schemas.openxmlformats.org/drawingml/2006/main">
            <a:off x="5572125" y="1971675"/>
            <a:ext cx="5810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748078"/>
                </a:solidFill>
                <a:latin typeface="Georgia"/>
                <a:ea typeface="Georgia"/>
                <a:cs typeface="Georgia"/>
              </a:defRPr>
            </a:pPr>
            <a:r>
              <a:rPr sz="1200" b="0">
                <a:solidFill>
                  <a:srgbClr val="748078"/>
                </a:solidFill>
                <a:latin typeface="Georgia"/>
                <a:ea typeface="Georgia"/>
                <a:cs typeface="Georgia"/>
              </a:rPr>
              <a:t>Mortgage default và prepayment như hai nguy cơ cạnh tranh.</a:t>
            </a:r>
          </a:p>
        </p:txBody>
      </p:sp>
      <p:sp>
        <p:nvSpPr>
          <p:cNvPr id="12" name="">
            <a:extLst xmlns:a="http://schemas.openxmlformats.org/drawingml/2006/main">
              <a:ext uri="{FF2B5EF4-FFF2-40B4-BE49-F238E27FC236}">
                <a16:creationId xmlns:a16="http://schemas.microsoft.com/office/drawing/2014/main" id="{069DCA2E-C5ED-4F2A-953D-4B40EA62B69E}"/>
              </a:ext>
            </a:extLst>
          </p:cNvPr>
          <p:cNvSpPr>
            <a:spLocks xmlns:a="http://schemas.openxmlformats.org/drawingml/2006/main" noGrp="1"/>
          </p:cNvSpPr>
          <p:nvPr/>
        </p:nvSpPr>
        <p:spPr>
          <a:xfrm xmlns:a="http://schemas.openxmlformats.org/drawingml/2006/main">
            <a:off x="647700" y="2809875"/>
            <a:ext cx="457200" cy="457200"/>
          </a:xfrm>
          <a:prstGeom xmlns:a="http://schemas.openxmlformats.org/drawingml/2006/main" prst="rect">
            <a:avLst/>
          </a:prstGeom>
          <a:solidFill xmlns:a="http://schemas.openxmlformats.org/drawingml/2006/main">
            <a:srgbClr val="E8E5D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0F0BDB8-0328-499E-9C4E-FCDF231E41DE}"/>
              </a:ext>
            </a:extLst>
          </p:cNvPr>
          <p:cNvSpPr>
            <a:spLocks xmlns:a="http://schemas.openxmlformats.org/drawingml/2006/main" noGrp="1"/>
          </p:cNvSpPr>
          <p:nvPr/>
        </p:nvSpPr>
        <p:spPr>
          <a:xfrm xmlns:a="http://schemas.openxmlformats.org/drawingml/2006/main">
            <a:off x="647700" y="2809875"/>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2E3B35"/>
                </a:solidFill>
                <a:latin typeface="Arial"/>
                <a:ea typeface="Arial"/>
                <a:cs typeface="Arial"/>
              </a:defRPr>
            </a:pPr>
            <a:r>
              <a:rPr sz="1050" b="1">
                <a:solidFill>
                  <a:srgbClr val="2E3B35"/>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944C61A5-43BA-4DFD-BD12-F1881CBB9BFF}"/>
              </a:ext>
            </a:extLst>
          </p:cNvPr>
          <p:cNvSpPr>
            <a:spLocks xmlns:a="http://schemas.openxmlformats.org/drawingml/2006/main" noGrp="1"/>
          </p:cNvSpPr>
          <p:nvPr/>
        </p:nvSpPr>
        <p:spPr>
          <a:xfrm xmlns:a="http://schemas.openxmlformats.org/drawingml/2006/main">
            <a:off x="1295400" y="2781300"/>
            <a:ext cx="428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6316"/>
          </a:bodyPr>
          <a:lstStyle xmlns:a="http://schemas.openxmlformats.org/drawingml/2006/main"/>
          <a:p xmlns:a="http://schemas.openxmlformats.org/drawingml/2006/main">
            <a:pPr>
              <a:defRPr sz="1425" b="1">
                <a:solidFill>
                  <a:srgbClr val="2E3B35"/>
                </a:solidFill>
                <a:latin typeface="Georgia"/>
                <a:ea typeface="Georgia"/>
                <a:cs typeface="Georgia"/>
              </a:defRPr>
            </a:pPr>
            <a:r>
              <a:rPr sz="1425" b="1">
                <a:solidFill>
                  <a:srgbClr val="2E3B35"/>
                </a:solidFill>
                <a:latin typeface="Georgia"/>
                <a:ea typeface="Georgia"/>
                <a:cs typeface="Georgia"/>
              </a:rPr>
              <a:t>Haughwout, Peach &amp; Tracy (2008)</a:t>
            </a:r>
          </a:p>
        </p:txBody>
      </p:sp>
      <p:sp>
        <p:nvSpPr>
          <p:cNvPr id="15" name="">
            <a:extLst xmlns:a="http://schemas.openxmlformats.org/drawingml/2006/main">
              <a:ext uri="{FF2B5EF4-FFF2-40B4-BE49-F238E27FC236}">
                <a16:creationId xmlns:a16="http://schemas.microsoft.com/office/drawing/2014/main" id="{498207F4-BAF3-4034-9890-782AEED0FA87}"/>
              </a:ext>
            </a:extLst>
          </p:cNvPr>
          <p:cNvSpPr>
            <a:spLocks xmlns:a="http://schemas.openxmlformats.org/drawingml/2006/main" noGrp="1"/>
          </p:cNvSpPr>
          <p:nvPr/>
        </p:nvSpPr>
        <p:spPr>
          <a:xfrm xmlns:a="http://schemas.openxmlformats.org/drawingml/2006/main">
            <a:off x="5572125" y="2781300"/>
            <a:ext cx="5810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748078"/>
                </a:solidFill>
                <a:latin typeface="Georgia"/>
                <a:ea typeface="Georgia"/>
                <a:cs typeface="Georgia"/>
              </a:defRPr>
            </a:pPr>
            <a:r>
              <a:rPr sz="1200" b="0">
                <a:solidFill>
                  <a:srgbClr val="748078"/>
                </a:solidFill>
                <a:latin typeface="Georgia"/>
                <a:ea typeface="Georgia"/>
                <a:cs typeface="Georgia"/>
              </a:rPr>
              <a:t>Vintage, tiêu chuẩn tín dụng và điều kiện kinh tế trong nợ quá hạn.</a:t>
            </a:r>
          </a:p>
        </p:txBody>
      </p:sp>
      <p:sp>
        <p:nvSpPr>
          <p:cNvPr id="16" name="">
            <a:extLst xmlns:a="http://schemas.openxmlformats.org/drawingml/2006/main">
              <a:ext uri="{FF2B5EF4-FFF2-40B4-BE49-F238E27FC236}">
                <a16:creationId xmlns:a16="http://schemas.microsoft.com/office/drawing/2014/main" id="{1242F4CE-B6F5-4241-BC07-2305C41C09F4}"/>
              </a:ext>
            </a:extLst>
          </p:cNvPr>
          <p:cNvSpPr>
            <a:spLocks xmlns:a="http://schemas.openxmlformats.org/drawingml/2006/main" noGrp="1"/>
          </p:cNvSpPr>
          <p:nvPr/>
        </p:nvSpPr>
        <p:spPr>
          <a:xfrm xmlns:a="http://schemas.openxmlformats.org/drawingml/2006/main">
            <a:off x="647700" y="3619500"/>
            <a:ext cx="457200" cy="457200"/>
          </a:xfrm>
          <a:prstGeom xmlns:a="http://schemas.openxmlformats.org/drawingml/2006/main" prst="rect">
            <a:avLst/>
          </a:prstGeom>
          <a:solidFill xmlns:a="http://schemas.openxmlformats.org/drawingml/2006/main">
            <a:srgbClr val="E8E5D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2C90E6A-9747-4BB2-849D-F15205D80673}"/>
              </a:ext>
            </a:extLst>
          </p:cNvPr>
          <p:cNvSpPr>
            <a:spLocks xmlns:a="http://schemas.openxmlformats.org/drawingml/2006/main" noGrp="1"/>
          </p:cNvSpPr>
          <p:nvPr/>
        </p:nvSpPr>
        <p:spPr>
          <a:xfrm xmlns:a="http://schemas.openxmlformats.org/drawingml/2006/main">
            <a:off x="647700" y="3619500"/>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2E3B35"/>
                </a:solidFill>
                <a:latin typeface="Arial"/>
                <a:ea typeface="Arial"/>
                <a:cs typeface="Arial"/>
              </a:defRPr>
            </a:pPr>
            <a:r>
              <a:rPr sz="1050" b="1">
                <a:solidFill>
                  <a:srgbClr val="2E3B35"/>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C957412E-4068-45D9-9F79-32786185B562}"/>
              </a:ext>
            </a:extLst>
          </p:cNvPr>
          <p:cNvSpPr>
            <a:spLocks xmlns:a="http://schemas.openxmlformats.org/drawingml/2006/main" noGrp="1"/>
          </p:cNvSpPr>
          <p:nvPr/>
        </p:nvSpPr>
        <p:spPr>
          <a:xfrm xmlns:a="http://schemas.openxmlformats.org/drawingml/2006/main">
            <a:off x="1295400" y="3590925"/>
            <a:ext cx="428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6316"/>
          </a:bodyPr>
          <a:lstStyle xmlns:a="http://schemas.openxmlformats.org/drawingml/2006/main"/>
          <a:p xmlns:a="http://schemas.openxmlformats.org/drawingml/2006/main">
            <a:pPr>
              <a:defRPr sz="1425" b="1">
                <a:solidFill>
                  <a:srgbClr val="2E3B35"/>
                </a:solidFill>
                <a:latin typeface="Georgia"/>
                <a:ea typeface="Georgia"/>
                <a:cs typeface="Georgia"/>
              </a:defRPr>
            </a:pPr>
            <a:r>
              <a:rPr sz="1425" b="1">
                <a:solidFill>
                  <a:srgbClr val="2E3B35"/>
                </a:solidFill>
                <a:latin typeface="Georgia"/>
                <a:ea typeface="Georgia"/>
                <a:cs typeface="Georgia"/>
              </a:rPr>
              <a:t>An &amp; Qi (2012)</a:t>
            </a:r>
          </a:p>
        </p:txBody>
      </p:sp>
      <p:sp>
        <p:nvSpPr>
          <p:cNvPr id="19" name="">
            <a:extLst xmlns:a="http://schemas.openxmlformats.org/drawingml/2006/main">
              <a:ext uri="{FF2B5EF4-FFF2-40B4-BE49-F238E27FC236}">
                <a16:creationId xmlns:a16="http://schemas.microsoft.com/office/drawing/2014/main" id="{CCC25196-0544-4D26-87F5-2DC858A961F1}"/>
              </a:ext>
            </a:extLst>
          </p:cNvPr>
          <p:cNvSpPr>
            <a:spLocks xmlns:a="http://schemas.openxmlformats.org/drawingml/2006/main" noGrp="1"/>
          </p:cNvSpPr>
          <p:nvPr/>
        </p:nvSpPr>
        <p:spPr>
          <a:xfrm xmlns:a="http://schemas.openxmlformats.org/drawingml/2006/main">
            <a:off x="5572125" y="3590925"/>
            <a:ext cx="5810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748078"/>
                </a:solidFill>
                <a:latin typeface="Georgia"/>
                <a:ea typeface="Georgia"/>
                <a:cs typeface="Georgia"/>
              </a:defRPr>
            </a:pPr>
            <a:r>
              <a:rPr sz="1200" b="0">
                <a:solidFill>
                  <a:srgbClr val="748078"/>
                </a:solidFill>
                <a:latin typeface="Georgia"/>
                <a:ea typeface="Georgia"/>
                <a:cs typeface="Georgia"/>
              </a:rPr>
              <a:t>Giả định proportional hazards với thời lượng mortgage theo kỳ.</a:t>
            </a:r>
          </a:p>
        </p:txBody>
      </p:sp>
      <p:sp>
        <p:nvSpPr>
          <p:cNvPr id="20" name="">
            <a:extLst xmlns:a="http://schemas.openxmlformats.org/drawingml/2006/main">
              <a:ext uri="{FF2B5EF4-FFF2-40B4-BE49-F238E27FC236}">
                <a16:creationId xmlns:a16="http://schemas.microsoft.com/office/drawing/2014/main" id="{7C511D60-A9A7-49B8-80F8-D401D929083B}"/>
              </a:ext>
            </a:extLst>
          </p:cNvPr>
          <p:cNvSpPr>
            <a:spLocks xmlns:a="http://schemas.openxmlformats.org/drawingml/2006/main" noGrp="1"/>
          </p:cNvSpPr>
          <p:nvPr/>
        </p:nvSpPr>
        <p:spPr>
          <a:xfrm xmlns:a="http://schemas.openxmlformats.org/drawingml/2006/main">
            <a:off x="647700" y="4429125"/>
            <a:ext cx="457200" cy="457200"/>
          </a:xfrm>
          <a:prstGeom xmlns:a="http://schemas.openxmlformats.org/drawingml/2006/main" prst="rect">
            <a:avLst/>
          </a:prstGeom>
          <a:solidFill xmlns:a="http://schemas.openxmlformats.org/drawingml/2006/main">
            <a:srgbClr val="E8E5D9"/>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34D049B-0F25-4E41-9000-C99FF021B2C5}"/>
              </a:ext>
            </a:extLst>
          </p:cNvPr>
          <p:cNvSpPr>
            <a:spLocks xmlns:a="http://schemas.openxmlformats.org/drawingml/2006/main" noGrp="1"/>
          </p:cNvSpPr>
          <p:nvPr/>
        </p:nvSpPr>
        <p:spPr>
          <a:xfrm xmlns:a="http://schemas.openxmlformats.org/drawingml/2006/main">
            <a:off x="647700" y="4429125"/>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2E3B35"/>
                </a:solidFill>
                <a:latin typeface="Arial"/>
                <a:ea typeface="Arial"/>
                <a:cs typeface="Arial"/>
              </a:defRPr>
            </a:pPr>
            <a:r>
              <a:rPr sz="1050" b="1">
                <a:solidFill>
                  <a:srgbClr val="2E3B35"/>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FDB24EA4-0AB1-4E82-901A-568A0C715AFF}"/>
              </a:ext>
            </a:extLst>
          </p:cNvPr>
          <p:cNvSpPr>
            <a:spLocks xmlns:a="http://schemas.openxmlformats.org/drawingml/2006/main" noGrp="1"/>
          </p:cNvSpPr>
          <p:nvPr/>
        </p:nvSpPr>
        <p:spPr>
          <a:xfrm xmlns:a="http://schemas.openxmlformats.org/drawingml/2006/main">
            <a:off x="1295400" y="4400550"/>
            <a:ext cx="428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6316"/>
          </a:bodyPr>
          <a:lstStyle xmlns:a="http://schemas.openxmlformats.org/drawingml/2006/main"/>
          <a:p xmlns:a="http://schemas.openxmlformats.org/drawingml/2006/main">
            <a:pPr>
              <a:defRPr sz="1425" b="1">
                <a:solidFill>
                  <a:srgbClr val="2E3B35"/>
                </a:solidFill>
                <a:latin typeface="Georgia"/>
                <a:ea typeface="Georgia"/>
                <a:cs typeface="Georgia"/>
              </a:defRPr>
            </a:pPr>
            <a:r>
              <a:rPr sz="1425" b="1">
                <a:solidFill>
                  <a:srgbClr val="2E3B35"/>
                </a:solidFill>
                <a:latin typeface="Georgia"/>
                <a:ea typeface="Georgia"/>
                <a:cs typeface="Georgia"/>
              </a:rPr>
              <a:t>Bhattacharya, Wilson &amp; Soyer (2019)</a:t>
            </a:r>
          </a:p>
        </p:txBody>
      </p:sp>
      <p:sp>
        <p:nvSpPr>
          <p:cNvPr id="23" name="">
            <a:extLst xmlns:a="http://schemas.openxmlformats.org/drawingml/2006/main">
              <a:ext uri="{FF2B5EF4-FFF2-40B4-BE49-F238E27FC236}">
                <a16:creationId xmlns:a16="http://schemas.microsoft.com/office/drawing/2014/main" id="{E7CC20A9-64F8-4743-B649-83F5C71CD337}"/>
              </a:ext>
            </a:extLst>
          </p:cNvPr>
          <p:cNvSpPr>
            <a:spLocks xmlns:a="http://schemas.openxmlformats.org/drawingml/2006/main" noGrp="1"/>
          </p:cNvSpPr>
          <p:nvPr/>
        </p:nvSpPr>
        <p:spPr>
          <a:xfrm xmlns:a="http://schemas.openxmlformats.org/drawingml/2006/main">
            <a:off x="5572125" y="4400550"/>
            <a:ext cx="5810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748078"/>
                </a:solidFill>
                <a:latin typeface="Georgia"/>
                <a:ea typeface="Georgia"/>
                <a:cs typeface="Georgia"/>
              </a:defRPr>
            </a:pPr>
            <a:r>
              <a:rPr sz="1200" b="0">
                <a:solidFill>
                  <a:srgbClr val="748078"/>
                </a:solidFill>
                <a:latin typeface="Georgia"/>
                <a:ea typeface="Georgia"/>
                <a:cs typeface="Georgia"/>
              </a:rPr>
              <a:t>Mô hình Bayesian cho default và prepayment, bất định tham số.</a:t>
            </a:r>
          </a:p>
        </p:txBody>
      </p:sp>
      <p:sp>
        <p:nvSpPr>
          <p:cNvPr id="24" name="">
            <a:extLst xmlns:a="http://schemas.openxmlformats.org/drawingml/2006/main">
              <a:ext uri="{FF2B5EF4-FFF2-40B4-BE49-F238E27FC236}">
                <a16:creationId xmlns:a16="http://schemas.microsoft.com/office/drawing/2014/main" id="{9AD44D0E-8933-4767-AF9D-5D40BF580B37}"/>
              </a:ext>
            </a:extLst>
          </p:cNvPr>
          <p:cNvSpPr>
            <a:spLocks xmlns:a="http://schemas.openxmlformats.org/drawingml/2006/main" noGrp="1"/>
          </p:cNvSpPr>
          <p:nvPr/>
        </p:nvSpPr>
        <p:spPr>
          <a:xfrm xmlns:a="http://schemas.openxmlformats.org/drawingml/2006/main">
            <a:off x="647700" y="5238750"/>
            <a:ext cx="457200" cy="457200"/>
          </a:xfrm>
          <a:prstGeom xmlns:a="http://schemas.openxmlformats.org/drawingml/2006/main" prst="rect">
            <a:avLst/>
          </a:prstGeom>
          <a:solidFill xmlns:a="http://schemas.openxmlformats.org/drawingml/2006/main">
            <a:srgbClr val="E8E5D9"/>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2763B339-8620-4FFD-9BB9-A48597E8BB50}"/>
              </a:ext>
            </a:extLst>
          </p:cNvPr>
          <p:cNvSpPr>
            <a:spLocks xmlns:a="http://schemas.openxmlformats.org/drawingml/2006/main" noGrp="1"/>
          </p:cNvSpPr>
          <p:nvPr/>
        </p:nvSpPr>
        <p:spPr>
          <a:xfrm xmlns:a="http://schemas.openxmlformats.org/drawingml/2006/main">
            <a:off x="647700" y="5238750"/>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2E3B35"/>
                </a:solidFill>
                <a:latin typeface="Arial"/>
                <a:ea typeface="Arial"/>
                <a:cs typeface="Arial"/>
              </a:defRPr>
            </a:pPr>
            <a:r>
              <a:rPr sz="1050" b="1">
                <a:solidFill>
                  <a:srgbClr val="2E3B35"/>
                </a:solidFill>
                <a:latin typeface="Arial"/>
                <a:ea typeface="Arial"/>
                <a:cs typeface="Arial"/>
              </a:rPr>
              <a:t>05</a:t>
            </a:r>
          </a:p>
        </p:txBody>
      </p:sp>
      <p:sp>
        <p:nvSpPr>
          <p:cNvPr id="26" name="">
            <a:extLst xmlns:a="http://schemas.openxmlformats.org/drawingml/2006/main">
              <a:ext uri="{FF2B5EF4-FFF2-40B4-BE49-F238E27FC236}">
                <a16:creationId xmlns:a16="http://schemas.microsoft.com/office/drawing/2014/main" id="{4CA57082-4597-474C-B3EA-DDD6D44A6DAF}"/>
              </a:ext>
            </a:extLst>
          </p:cNvPr>
          <p:cNvSpPr>
            <a:spLocks xmlns:a="http://schemas.openxmlformats.org/drawingml/2006/main" noGrp="1"/>
          </p:cNvSpPr>
          <p:nvPr/>
        </p:nvSpPr>
        <p:spPr>
          <a:xfrm xmlns:a="http://schemas.openxmlformats.org/drawingml/2006/main">
            <a:off x="1295400" y="5210175"/>
            <a:ext cx="428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6316"/>
          </a:bodyPr>
          <a:lstStyle xmlns:a="http://schemas.openxmlformats.org/drawingml/2006/main"/>
          <a:p xmlns:a="http://schemas.openxmlformats.org/drawingml/2006/main">
            <a:pPr>
              <a:defRPr sz="1425" b="1">
                <a:solidFill>
                  <a:srgbClr val="2E3B35"/>
                </a:solidFill>
                <a:latin typeface="Georgia"/>
                <a:ea typeface="Georgia"/>
                <a:cs typeface="Georgia"/>
              </a:defRPr>
            </a:pPr>
            <a:r>
              <a:rPr sz="1425" b="1">
                <a:solidFill>
                  <a:srgbClr val="2E3B35"/>
                </a:solidFill>
                <a:latin typeface="Georgia"/>
                <a:ea typeface="Georgia"/>
                <a:cs typeface="Georgia"/>
              </a:rPr>
              <a:t>Fine &amp; Gray (1999)</a:t>
            </a:r>
          </a:p>
        </p:txBody>
      </p:sp>
      <p:sp>
        <p:nvSpPr>
          <p:cNvPr id="27" name="">
            <a:extLst xmlns:a="http://schemas.openxmlformats.org/drawingml/2006/main">
              <a:ext uri="{FF2B5EF4-FFF2-40B4-BE49-F238E27FC236}">
                <a16:creationId xmlns:a16="http://schemas.microsoft.com/office/drawing/2014/main" id="{487FDE74-84C3-4BB0-AE0D-83F44E233662}"/>
              </a:ext>
            </a:extLst>
          </p:cNvPr>
          <p:cNvSpPr>
            <a:spLocks xmlns:a="http://schemas.openxmlformats.org/drawingml/2006/main" noGrp="1"/>
          </p:cNvSpPr>
          <p:nvPr/>
        </p:nvSpPr>
        <p:spPr>
          <a:xfrm xmlns:a="http://schemas.openxmlformats.org/drawingml/2006/main">
            <a:off x="5572125" y="5210175"/>
            <a:ext cx="5810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748078"/>
                </a:solidFill>
                <a:latin typeface="Georgia"/>
                <a:ea typeface="Georgia"/>
                <a:cs typeface="Georgia"/>
              </a:defRPr>
            </a:pPr>
            <a:r>
              <a:rPr sz="1200" b="0">
                <a:solidFill>
                  <a:srgbClr val="748078"/>
                </a:solidFill>
                <a:latin typeface="Georgia"/>
                <a:ea typeface="Georgia"/>
                <a:cs typeface="Georgia"/>
              </a:rPr>
              <a:t>Hồi quy subdistribution hazard cho cumulative incidence.</a:t>
            </a:r>
          </a:p>
        </p:txBody>
      </p:sp>
    </p:spTree>
    <p:extLst>
      <p:ext uri="{BB962C8B-B14F-4D97-AF65-F5344CB8AC3E}">
        <p14:creationId xmlns:p14="http://schemas.microsoft.com/office/powerpoint/2010/main" val="1429095824"/>
      </p:ext>
    </p:extLst>
  </p:cSld>
</p:sld>
</file>

<file path=ppt/slides/slide5.xml><?xml version="1.0" encoding="utf-8"?>
<p:sld xmlns:p="http://schemas.openxmlformats.org/presentationml/2006/main">
  <p:cSld>
    <p:bg>
      <p:bgPr>
        <a:solidFill xmlns:a="http://schemas.openxmlformats.org/drawingml/2006/main">
          <a:srgbClr val="F1EFE6"/>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AE10A0F-F853-4A6F-A77F-CF27B6BF6691}"/>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2E3B3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DD8435C-EEFC-4769-92D3-BED9FDAB954E}"/>
              </a:ext>
            </a:extLst>
          </p:cNvPr>
          <p:cNvSpPr>
            <a:spLocks xmlns:a="http://schemas.openxmlformats.org/drawingml/2006/main" noGrp="1"/>
          </p:cNvSpPr>
          <p:nvPr/>
        </p:nvSpPr>
        <p:spPr>
          <a:xfrm xmlns:a="http://schemas.openxmlformats.org/drawingml/2006/main">
            <a:off x="609600" y="3238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defRPr sz="1050" b="1">
                <a:solidFill>
                  <a:srgbClr val="B5A15B"/>
                </a:solidFill>
                <a:latin typeface="Arial"/>
                <a:ea typeface="Arial"/>
                <a:cs typeface="Arial"/>
              </a:defRPr>
            </a:pPr>
            <a:r>
              <a:rPr sz="1050" b="1">
                <a:solidFill>
                  <a:srgbClr val="B5A15B"/>
                </a:solidFill>
                <a:latin typeface="Arial"/>
                <a:ea typeface="Arial"/>
                <a:cs typeface="Arial"/>
              </a:rPr>
              <a:t>04 · THIẾT KẾ</a:t>
            </a:r>
          </a:p>
        </p:txBody>
      </p:sp>
      <p:sp>
        <p:nvSpPr>
          <p:cNvPr id="3" name="">
            <a:extLst xmlns:a="http://schemas.openxmlformats.org/drawingml/2006/main">
              <a:ext uri="{FF2B5EF4-FFF2-40B4-BE49-F238E27FC236}">
                <a16:creationId xmlns:a16="http://schemas.microsoft.com/office/drawing/2014/main" id="{8D9954FD-922C-44E7-976A-DCFAAF874FD0}"/>
              </a:ext>
            </a:extLst>
          </p:cNvPr>
          <p:cNvSpPr>
            <a:spLocks xmlns:a="http://schemas.openxmlformats.org/drawingml/2006/main" noGrp="1"/>
          </p:cNvSpPr>
          <p:nvPr/>
        </p:nvSpPr>
        <p:spPr>
          <a:xfrm xmlns:a="http://schemas.openxmlformats.org/drawingml/2006/main">
            <a:off x="609600" y="6477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850" b="1">
                <a:solidFill>
                  <a:srgbClr val="2E3B35"/>
                </a:solidFill>
                <a:latin typeface="Georgia"/>
                <a:ea typeface="Georgia"/>
                <a:cs typeface="Georgia"/>
              </a:defRPr>
            </a:pPr>
            <a:r>
              <a:rPr sz="2850" b="1">
                <a:solidFill>
                  <a:srgbClr val="2E3B35"/>
                </a:solidFill>
                <a:latin typeface="Georgia"/>
                <a:ea typeface="Georgia"/>
                <a:cs typeface="Georgia"/>
              </a:rPr>
              <a:t>Hai loại kết cục, một risk set ban đầu</a:t>
            </a:r>
          </a:p>
        </p:txBody>
      </p:sp>
      <p:sp>
        <p:nvSpPr>
          <p:cNvPr id="4" name="">
            <a:extLst xmlns:a="http://schemas.openxmlformats.org/drawingml/2006/main">
              <a:ext uri="{FF2B5EF4-FFF2-40B4-BE49-F238E27FC236}">
                <a16:creationId xmlns:a16="http://schemas.microsoft.com/office/drawing/2014/main" id="{7F2269DD-C064-4934-A97F-AC67D939EE5F}"/>
              </a:ext>
            </a:extLst>
          </p:cNvPr>
          <p:cNvSpPr>
            <a:spLocks xmlns:a="http://schemas.openxmlformats.org/drawingml/2006/main" noGrp="1"/>
          </p:cNvSpPr>
          <p:nvPr/>
        </p:nvSpPr>
        <p:spPr>
          <a:xfrm xmlns:a="http://schemas.openxmlformats.org/drawingml/2006/main">
            <a:off x="628650" y="13239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748078"/>
                </a:solidFill>
                <a:latin typeface="Georgia"/>
                <a:ea typeface="Georgia"/>
                <a:cs typeface="Georgia"/>
              </a:defRPr>
            </a:pPr>
            <a:r>
              <a:rPr sz="1425" b="0">
                <a:solidFill>
                  <a:srgbClr val="748078"/>
                </a:solidFill>
                <a:latin typeface="Georgia"/>
                <a:ea typeface="Georgia"/>
                <a:cs typeface="Georgia"/>
              </a:rPr>
              <a:t>Cumulative incidence trả lời xác suất xảy ra một loại biến cố khi có biến cố cạnh tranh.</a:t>
            </a:r>
          </a:p>
        </p:txBody>
      </p:sp>
      <p:sp>
        <p:nvSpPr>
          <p:cNvPr id="5" name="">
            <a:extLst xmlns:a="http://schemas.openxmlformats.org/drawingml/2006/main">
              <a:ext uri="{FF2B5EF4-FFF2-40B4-BE49-F238E27FC236}">
                <a16:creationId xmlns:a16="http://schemas.microsoft.com/office/drawing/2014/main" id="{FFBA7546-4BA6-4802-8F30-A82A5F484D98}"/>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8D4C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6AA82AC-A559-44BE-8C38-A53190B1E802}"/>
              </a:ext>
            </a:extLst>
          </p:cNvPr>
          <p:cNvSpPr>
            <a:spLocks xmlns:a="http://schemas.openxmlformats.org/drawingml/2006/main" noGrp="1"/>
          </p:cNvSpPr>
          <p:nvPr/>
        </p:nvSpPr>
        <p:spPr>
          <a:xfrm xmlns:a="http://schemas.openxmlformats.org/drawingml/2006/main">
            <a:off x="628650" y="649605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0">
                <a:solidFill>
                  <a:srgbClr val="748078"/>
                </a:solidFill>
                <a:latin typeface="Arial"/>
                <a:ea typeface="Arial"/>
                <a:cs typeface="Arial"/>
              </a:defRPr>
            </a:pPr>
            <a:r>
              <a:rPr sz="750" b="0">
                <a:solidFill>
                  <a:srgbClr val="748078"/>
                </a:solidFill>
                <a:latin typeface="Arial"/>
                <a:ea typeface="Arial"/>
                <a:cs typeface="Arial"/>
              </a:rPr>
              <a:t>Mortgage Default &amp; Prepayment · Freddie Mac 2016–2026</a:t>
            </a:r>
          </a:p>
        </p:txBody>
      </p:sp>
      <p:sp>
        <p:nvSpPr>
          <p:cNvPr id="7" name="">
            <a:extLst xmlns:a="http://schemas.openxmlformats.org/drawingml/2006/main">
              <a:ext uri="{FF2B5EF4-FFF2-40B4-BE49-F238E27FC236}">
                <a16:creationId xmlns:a16="http://schemas.microsoft.com/office/drawing/2014/main" id="{90C7BDC9-A965-424A-8FE8-0AB506588739}"/>
              </a:ext>
            </a:extLst>
          </p:cNvPr>
          <p:cNvSpPr>
            <a:spLocks xmlns:a="http://schemas.openxmlformats.org/drawingml/2006/main" noGrp="1"/>
          </p:cNvSpPr>
          <p:nvPr/>
        </p:nvSpPr>
        <p:spPr>
          <a:xfrm xmlns:a="http://schemas.openxmlformats.org/drawingml/2006/main">
            <a:off x="11049000" y="647700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0">
                <a:solidFill>
                  <a:srgbClr val="748078"/>
                </a:solidFill>
                <a:latin typeface="Arial"/>
                <a:ea typeface="Arial"/>
                <a:cs typeface="Arial"/>
              </a:defRPr>
            </a:pPr>
            <a:r>
              <a:rPr sz="825" b="0">
                <a:solidFill>
                  <a:srgbClr val="748078"/>
                </a:solidFill>
                <a:latin typeface="Arial"/>
                <a:ea typeface="Arial"/>
                <a:cs typeface="Arial"/>
              </a:rPr>
              <a:t>05</a:t>
            </a:r>
          </a:p>
        </p:txBody>
      </p:sp>
      <p:sp>
        <p:nvSpPr>
          <p:cNvPr id="8" name="">
            <a:extLst xmlns:a="http://schemas.openxmlformats.org/drawingml/2006/main">
              <a:ext uri="{FF2B5EF4-FFF2-40B4-BE49-F238E27FC236}">
                <a16:creationId xmlns:a16="http://schemas.microsoft.com/office/drawing/2014/main" id="{CEC071AA-99AD-49E1-96A5-49329081C021}"/>
              </a:ext>
            </a:extLst>
          </p:cNvPr>
          <p:cNvSpPr>
            <a:spLocks xmlns:a="http://schemas.openxmlformats.org/drawingml/2006/main" noGrp="1"/>
          </p:cNvSpPr>
          <p:nvPr/>
        </p:nvSpPr>
        <p:spPr>
          <a:xfrm xmlns:a="http://schemas.openxmlformats.org/drawingml/2006/main">
            <a:off x="723900" y="2305050"/>
            <a:ext cx="2857500" cy="1143000"/>
          </a:xfrm>
          <a:prstGeom xmlns:a="http://schemas.openxmlformats.org/drawingml/2006/main" prst="rect">
            <a:avLst/>
          </a:prstGeom>
          <a:solidFill xmlns:a="http://schemas.openxmlformats.org/drawingml/2006/main">
            <a:srgbClr val="FFFDF8"/>
          </a:solidFill>
          <a:ln xmlns:a="http://schemas.openxmlformats.org/drawingml/2006/main" w="11430">
            <a:solidFill>
              <a:srgbClr val="D8D4C6"/>
            </a:solidFill>
          </a:ln>
        </p:spPr>
      </p:sp>
      <p:sp>
        <p:nvSpPr>
          <p:cNvPr id="9" name="">
            <a:extLst xmlns:a="http://schemas.openxmlformats.org/drawingml/2006/main">
              <a:ext uri="{FF2B5EF4-FFF2-40B4-BE49-F238E27FC236}">
                <a16:creationId xmlns:a16="http://schemas.microsoft.com/office/drawing/2014/main" id="{7D12A9B8-1BC4-4DFD-A2CD-F1032085C143}"/>
              </a:ext>
            </a:extLst>
          </p:cNvPr>
          <p:cNvSpPr>
            <a:spLocks xmlns:a="http://schemas.openxmlformats.org/drawingml/2006/main" noGrp="1"/>
          </p:cNvSpPr>
          <p:nvPr/>
        </p:nvSpPr>
        <p:spPr>
          <a:xfrm xmlns:a="http://schemas.openxmlformats.org/drawingml/2006/main">
            <a:off x="933450" y="2476500"/>
            <a:ext cx="2428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079"/>
          </a:bodyPr>
          <a:lstStyle xmlns:a="http://schemas.openxmlformats.org/drawingml/2006/main"/>
          <a:p xmlns:a="http://schemas.openxmlformats.org/drawingml/2006/main">
            <a:pPr>
              <a:defRPr sz="1275" b="1">
                <a:solidFill>
                  <a:srgbClr val="2E3B35"/>
                </a:solidFill>
                <a:latin typeface="Georgia"/>
                <a:ea typeface="Georgia"/>
                <a:cs typeface="Georgia"/>
              </a:defRPr>
            </a:pPr>
            <a:r>
              <a:rPr sz="1275" b="1">
                <a:solidFill>
                  <a:srgbClr val="2E3B35"/>
                </a:solidFill>
                <a:latin typeface="Georgia"/>
                <a:ea typeface="Georgia"/>
                <a:cs typeface="Georgia"/>
              </a:rPr>
              <a:t>KHOẢN VAY ĐANG THEO DÕI</a:t>
            </a:r>
          </a:p>
        </p:txBody>
      </p:sp>
      <p:sp>
        <p:nvSpPr>
          <p:cNvPr id="10" name="">
            <a:extLst xmlns:a="http://schemas.openxmlformats.org/drawingml/2006/main">
              <a:ext uri="{FF2B5EF4-FFF2-40B4-BE49-F238E27FC236}">
                <a16:creationId xmlns:a16="http://schemas.microsoft.com/office/drawing/2014/main" id="{6082C446-9688-4EC7-B79B-79F65011EE04}"/>
              </a:ext>
            </a:extLst>
          </p:cNvPr>
          <p:cNvSpPr>
            <a:spLocks xmlns:a="http://schemas.openxmlformats.org/drawingml/2006/main" noGrp="1"/>
          </p:cNvSpPr>
          <p:nvPr/>
        </p:nvSpPr>
        <p:spPr>
          <a:xfrm xmlns:a="http://schemas.openxmlformats.org/drawingml/2006/main">
            <a:off x="933450" y="2914650"/>
            <a:ext cx="2428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748078"/>
                </a:solidFill>
                <a:latin typeface="Georgia"/>
                <a:ea typeface="Georgia"/>
                <a:cs typeface="Georgia"/>
              </a:defRPr>
            </a:pPr>
            <a:r>
              <a:rPr sz="1350" b="0">
                <a:solidFill>
                  <a:srgbClr val="748078"/>
                </a:solidFill>
                <a:latin typeface="Georgia"/>
                <a:ea typeface="Georgia"/>
                <a:cs typeface="Georgia"/>
              </a:rPr>
              <a:t>t = 0</a:t>
            </a:r>
          </a:p>
        </p:txBody>
      </p:sp>
      <p:sp>
        <p:nvSpPr>
          <p:cNvPr id="11" name="">
            <a:extLst xmlns:a="http://schemas.openxmlformats.org/drawingml/2006/main">
              <a:ext uri="{FF2B5EF4-FFF2-40B4-BE49-F238E27FC236}">
                <a16:creationId xmlns:a16="http://schemas.microsoft.com/office/drawing/2014/main" id="{635FFF5F-D753-4A99-B97F-D205514A01E6}"/>
              </a:ext>
            </a:extLst>
          </p:cNvPr>
          <p:cNvSpPr>
            <a:spLocks xmlns:a="http://schemas.openxmlformats.org/drawingml/2006/main" noGrp="1"/>
          </p:cNvSpPr>
          <p:nvPr/>
        </p:nvSpPr>
        <p:spPr>
          <a:xfrm xmlns:a="http://schemas.openxmlformats.org/drawingml/2006/main">
            <a:off x="4762500" y="1866900"/>
            <a:ext cx="2857500" cy="952500"/>
          </a:xfrm>
          <a:prstGeom xmlns:a="http://schemas.openxmlformats.org/drawingml/2006/main" prst="rect">
            <a:avLst/>
          </a:prstGeom>
          <a:solidFill xmlns:a="http://schemas.openxmlformats.org/drawingml/2006/main">
            <a:srgbClr val="FFFDF8"/>
          </a:solidFill>
          <a:ln xmlns:a="http://schemas.openxmlformats.org/drawingml/2006/main" w="19050">
            <a:solidFill>
              <a:srgbClr val="C98675"/>
            </a:solidFill>
          </a:ln>
        </p:spPr>
      </p:sp>
      <p:sp>
        <p:nvSpPr>
          <p:cNvPr id="12" name="">
            <a:extLst xmlns:a="http://schemas.openxmlformats.org/drawingml/2006/main">
              <a:ext uri="{FF2B5EF4-FFF2-40B4-BE49-F238E27FC236}">
                <a16:creationId xmlns:a16="http://schemas.microsoft.com/office/drawing/2014/main" id="{BCA468FB-F3A1-4612-B872-50897AE5DC9E}"/>
              </a:ext>
            </a:extLst>
          </p:cNvPr>
          <p:cNvSpPr>
            <a:spLocks xmlns:a="http://schemas.openxmlformats.org/drawingml/2006/main" noGrp="1"/>
          </p:cNvSpPr>
          <p:nvPr/>
        </p:nvSpPr>
        <p:spPr>
          <a:xfrm xmlns:a="http://schemas.openxmlformats.org/drawingml/2006/main">
            <a:off x="5000625" y="2009775"/>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B86252"/>
                </a:solidFill>
                <a:latin typeface="Georgia"/>
                <a:ea typeface="Georgia"/>
                <a:cs typeface="Georgia"/>
              </a:defRPr>
            </a:pPr>
            <a:r>
              <a:rPr sz="1500" b="1">
                <a:solidFill>
                  <a:srgbClr val="B86252"/>
                </a:solidFill>
                <a:latin typeface="Georgia"/>
                <a:ea typeface="Georgia"/>
                <a:cs typeface="Georgia"/>
              </a:rPr>
              <a:t>DEFAULT</a:t>
            </a:r>
          </a:p>
        </p:txBody>
      </p:sp>
      <p:sp>
        <p:nvSpPr>
          <p:cNvPr id="13" name="">
            <a:extLst xmlns:a="http://schemas.openxmlformats.org/drawingml/2006/main">
              <a:ext uri="{FF2B5EF4-FFF2-40B4-BE49-F238E27FC236}">
                <a16:creationId xmlns:a16="http://schemas.microsoft.com/office/drawing/2014/main" id="{E761FD7B-3184-4743-B3F4-A3263748F7A0}"/>
              </a:ext>
            </a:extLst>
          </p:cNvPr>
          <p:cNvSpPr>
            <a:spLocks xmlns:a="http://schemas.openxmlformats.org/drawingml/2006/main" noGrp="1"/>
          </p:cNvSpPr>
          <p:nvPr/>
        </p:nvSpPr>
        <p:spPr>
          <a:xfrm xmlns:a="http://schemas.openxmlformats.org/drawingml/2006/main">
            <a:off x="5000625" y="240030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2E3B35"/>
                </a:solidFill>
                <a:latin typeface="Georgia"/>
                <a:ea typeface="Georgia"/>
                <a:cs typeface="Georgia"/>
              </a:defRPr>
            </a:pPr>
            <a:r>
              <a:rPr sz="1050" b="0">
                <a:solidFill>
                  <a:srgbClr val="2E3B35"/>
                </a:solidFill>
                <a:latin typeface="Georgia"/>
                <a:ea typeface="Georgia"/>
                <a:cs typeface="Georgia"/>
              </a:rPr>
              <a:t>90+ DPD · RA · ZBC 02/03/09</a:t>
            </a:r>
          </a:p>
        </p:txBody>
      </p:sp>
      <p:sp>
        <p:nvSpPr>
          <p:cNvPr id="14" name="">
            <a:extLst xmlns:a="http://schemas.openxmlformats.org/drawingml/2006/main">
              <a:ext uri="{FF2B5EF4-FFF2-40B4-BE49-F238E27FC236}">
                <a16:creationId xmlns:a16="http://schemas.microsoft.com/office/drawing/2014/main" id="{EF5884C1-1908-448F-A3AC-BDA4CA7C6D98}"/>
              </a:ext>
            </a:extLst>
          </p:cNvPr>
          <p:cNvSpPr>
            <a:spLocks xmlns:a="http://schemas.openxmlformats.org/drawingml/2006/main" noGrp="1"/>
          </p:cNvSpPr>
          <p:nvPr/>
        </p:nvSpPr>
        <p:spPr>
          <a:xfrm xmlns:a="http://schemas.openxmlformats.org/drawingml/2006/main">
            <a:off x="4762500" y="3333750"/>
            <a:ext cx="2857500" cy="952500"/>
          </a:xfrm>
          <a:prstGeom xmlns:a="http://schemas.openxmlformats.org/drawingml/2006/main" prst="rect">
            <a:avLst/>
          </a:prstGeom>
          <a:solidFill xmlns:a="http://schemas.openxmlformats.org/drawingml/2006/main">
            <a:srgbClr val="FFFDF8"/>
          </a:solidFill>
          <a:ln xmlns:a="http://schemas.openxmlformats.org/drawingml/2006/main" w="19050">
            <a:solidFill>
              <a:srgbClr val="8EA694"/>
            </a:solidFill>
          </a:ln>
        </p:spPr>
      </p:sp>
      <p:sp>
        <p:nvSpPr>
          <p:cNvPr id="15" name="">
            <a:extLst xmlns:a="http://schemas.openxmlformats.org/drawingml/2006/main">
              <a:ext uri="{FF2B5EF4-FFF2-40B4-BE49-F238E27FC236}">
                <a16:creationId xmlns:a16="http://schemas.microsoft.com/office/drawing/2014/main" id="{DA7A54CF-3A48-4F46-8C3D-5C633CA6BE29}"/>
              </a:ext>
            </a:extLst>
          </p:cNvPr>
          <p:cNvSpPr>
            <a:spLocks xmlns:a="http://schemas.openxmlformats.org/drawingml/2006/main" noGrp="1"/>
          </p:cNvSpPr>
          <p:nvPr/>
        </p:nvSpPr>
        <p:spPr>
          <a:xfrm xmlns:a="http://schemas.openxmlformats.org/drawingml/2006/main">
            <a:off x="5000625" y="3476625"/>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64816D"/>
                </a:solidFill>
                <a:latin typeface="Georgia"/>
                <a:ea typeface="Georgia"/>
                <a:cs typeface="Georgia"/>
              </a:defRPr>
            </a:pPr>
            <a:r>
              <a:rPr sz="1500" b="1">
                <a:solidFill>
                  <a:srgbClr val="64816D"/>
                </a:solidFill>
                <a:latin typeface="Georgia"/>
                <a:ea typeface="Georgia"/>
                <a:cs typeface="Georgia"/>
              </a:rPr>
              <a:t>ZBC 01</a:t>
            </a:r>
          </a:p>
        </p:txBody>
      </p:sp>
      <p:sp>
        <p:nvSpPr>
          <p:cNvPr id="16" name="">
            <a:extLst xmlns:a="http://schemas.openxmlformats.org/drawingml/2006/main">
              <a:ext uri="{FF2B5EF4-FFF2-40B4-BE49-F238E27FC236}">
                <a16:creationId xmlns:a16="http://schemas.microsoft.com/office/drawing/2014/main" id="{1BAEE1EF-6212-4BC8-8264-5A3F9029E13D}"/>
              </a:ext>
            </a:extLst>
          </p:cNvPr>
          <p:cNvSpPr>
            <a:spLocks xmlns:a="http://schemas.openxmlformats.org/drawingml/2006/main" noGrp="1"/>
          </p:cNvSpPr>
          <p:nvPr/>
        </p:nvSpPr>
        <p:spPr>
          <a:xfrm xmlns:a="http://schemas.openxmlformats.org/drawingml/2006/main">
            <a:off x="5000625" y="38671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2E3B35"/>
                </a:solidFill>
                <a:latin typeface="Georgia"/>
                <a:ea typeface="Georgia"/>
                <a:cs typeface="Georgia"/>
              </a:defRPr>
            </a:pPr>
            <a:r>
              <a:rPr sz="1050" b="0">
                <a:solidFill>
                  <a:srgbClr val="2E3B35"/>
                </a:solidFill>
                <a:latin typeface="Georgia"/>
                <a:ea typeface="Georgia"/>
                <a:cs typeface="Georgia"/>
              </a:rPr>
              <a:t>Trả trước / đáo hạn, gộp</a:t>
            </a:r>
          </a:p>
        </p:txBody>
      </p:sp>
      <p:sp>
        <p:nvSpPr>
          <p:cNvPr id="17" name="">
            <a:extLst xmlns:a="http://schemas.openxmlformats.org/drawingml/2006/main">
              <a:ext uri="{FF2B5EF4-FFF2-40B4-BE49-F238E27FC236}">
                <a16:creationId xmlns:a16="http://schemas.microsoft.com/office/drawing/2014/main" id="{C8DAE398-0BC6-4AA8-802E-CA18EA9F90AF}"/>
              </a:ext>
            </a:extLst>
          </p:cNvPr>
          <p:cNvSpPr>
            <a:spLocks xmlns:a="http://schemas.openxmlformats.org/drawingml/2006/main" noGrp="1"/>
          </p:cNvSpPr>
          <p:nvPr/>
        </p:nvSpPr>
        <p:spPr>
          <a:xfrm xmlns:a="http://schemas.openxmlformats.org/drawingml/2006/main">
            <a:off x="4762500" y="4810125"/>
            <a:ext cx="2857500" cy="952500"/>
          </a:xfrm>
          <a:prstGeom xmlns:a="http://schemas.openxmlformats.org/drawingml/2006/main" prst="rect">
            <a:avLst/>
          </a:prstGeom>
          <a:solidFill xmlns:a="http://schemas.openxmlformats.org/drawingml/2006/main">
            <a:srgbClr val="FFFDF8"/>
          </a:solidFill>
          <a:ln xmlns:a="http://schemas.openxmlformats.org/drawingml/2006/main" w="14288">
            <a:solidFill>
              <a:srgbClr val="D8D4C6"/>
            </a:solidFill>
          </a:ln>
        </p:spPr>
      </p:sp>
      <p:sp>
        <p:nvSpPr>
          <p:cNvPr id="18" name="">
            <a:extLst xmlns:a="http://schemas.openxmlformats.org/drawingml/2006/main">
              <a:ext uri="{FF2B5EF4-FFF2-40B4-BE49-F238E27FC236}">
                <a16:creationId xmlns:a16="http://schemas.microsoft.com/office/drawing/2014/main" id="{5F9F8885-3FB0-4597-BAF1-76E8D41302F8}"/>
              </a:ext>
            </a:extLst>
          </p:cNvPr>
          <p:cNvSpPr>
            <a:spLocks xmlns:a="http://schemas.openxmlformats.org/drawingml/2006/main" noGrp="1"/>
          </p:cNvSpPr>
          <p:nvPr/>
        </p:nvSpPr>
        <p:spPr>
          <a:xfrm xmlns:a="http://schemas.openxmlformats.org/drawingml/2006/main">
            <a:off x="5000625" y="49530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344F78"/>
                </a:solidFill>
                <a:latin typeface="Georgia"/>
                <a:ea typeface="Georgia"/>
                <a:cs typeface="Georgia"/>
              </a:defRPr>
            </a:pPr>
            <a:r>
              <a:rPr sz="1500" b="1">
                <a:solidFill>
                  <a:srgbClr val="344F78"/>
                </a:solidFill>
                <a:latin typeface="Georgia"/>
                <a:ea typeface="Georgia"/>
                <a:cs typeface="Georgia"/>
              </a:rPr>
              <a:t>KIỂM DUYỆT</a:t>
            </a:r>
          </a:p>
        </p:txBody>
      </p:sp>
      <p:sp>
        <p:nvSpPr>
          <p:cNvPr id="19" name="">
            <a:extLst xmlns:a="http://schemas.openxmlformats.org/drawingml/2006/main">
              <a:ext uri="{FF2B5EF4-FFF2-40B4-BE49-F238E27FC236}">
                <a16:creationId xmlns:a16="http://schemas.microsoft.com/office/drawing/2014/main" id="{25A72E2C-C9FA-4B9C-B1FA-2B5FA87F357C}"/>
              </a:ext>
            </a:extLst>
          </p:cNvPr>
          <p:cNvSpPr>
            <a:spLocks xmlns:a="http://schemas.openxmlformats.org/drawingml/2006/main" noGrp="1"/>
          </p:cNvSpPr>
          <p:nvPr/>
        </p:nvSpPr>
        <p:spPr>
          <a:xfrm xmlns:a="http://schemas.openxmlformats.org/drawingml/2006/main">
            <a:off x="5000625" y="5343525"/>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2E3B35"/>
                </a:solidFill>
                <a:latin typeface="Georgia"/>
                <a:ea typeface="Georgia"/>
                <a:cs typeface="Georgia"/>
              </a:defRPr>
            </a:pPr>
            <a:r>
              <a:rPr sz="1050" b="0">
                <a:solidFill>
                  <a:srgbClr val="2E3B35"/>
                </a:solidFill>
                <a:latin typeface="Georgia"/>
                <a:ea typeface="Georgia"/>
                <a:cs typeface="Georgia"/>
              </a:rPr>
              <a:t>ZBC 15/16/96 hoặc hết quan sát</a:t>
            </a:r>
          </a:p>
        </p:txBody>
      </p:sp>
      <p:sp>
        <p:nvSpPr>
          <p:cNvPr id="20" name="">
            <a:extLst xmlns:a="http://schemas.openxmlformats.org/drawingml/2006/main">
              <a:ext uri="{FF2B5EF4-FFF2-40B4-BE49-F238E27FC236}">
                <a16:creationId xmlns:a16="http://schemas.microsoft.com/office/drawing/2014/main" id="{0D3AA1A4-98A7-441F-BD9B-0E60F06026FB}"/>
              </a:ext>
            </a:extLst>
          </p:cNvPr>
          <p:cNvSpPr>
            <a:spLocks xmlns:a="http://schemas.openxmlformats.org/drawingml/2006/main" noGrp="1"/>
          </p:cNvSpPr>
          <p:nvPr/>
        </p:nvSpPr>
        <p:spPr>
          <a:xfrm xmlns:a="http://schemas.openxmlformats.org/drawingml/2006/main">
            <a:off x="8096250" y="2076450"/>
            <a:ext cx="323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2E3B35"/>
                </a:solidFill>
                <a:latin typeface="Georgia"/>
                <a:ea typeface="Georgia"/>
                <a:cs typeface="Georgia"/>
              </a:defRPr>
            </a:pPr>
            <a:r>
              <a:rPr sz="1350" b="0">
                <a:solidFill>
                  <a:srgbClr val="2E3B35"/>
                </a:solidFill>
                <a:latin typeface="Georgia"/>
                <a:ea typeface="Georgia"/>
                <a:cs typeface="Georgia"/>
              </a:rPr>
              <a:t>Sự kiện sớm nhất được chọn. Nếu Default và ZBC 01 cùng tháng, Default được ưu tiên.</a:t>
            </a:r>
          </a:p>
        </p:txBody>
      </p:sp>
      <p:sp>
        <p:nvSpPr>
          <p:cNvPr id="21" name="">
            <a:extLst xmlns:a="http://schemas.openxmlformats.org/drawingml/2006/main">
              <a:ext uri="{FF2B5EF4-FFF2-40B4-BE49-F238E27FC236}">
                <a16:creationId xmlns:a16="http://schemas.microsoft.com/office/drawing/2014/main" id="{8F1DE3D3-26B3-47DE-BBEE-4EF59553E48B}"/>
              </a:ext>
            </a:extLst>
          </p:cNvPr>
          <p:cNvSpPr>
            <a:spLocks xmlns:a="http://schemas.openxmlformats.org/drawingml/2006/main" noGrp="1"/>
          </p:cNvSpPr>
          <p:nvPr/>
        </p:nvSpPr>
        <p:spPr>
          <a:xfrm xmlns:a="http://schemas.openxmlformats.org/drawingml/2006/main">
            <a:off x="8096250" y="3543300"/>
            <a:ext cx="3238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2E3B35"/>
                </a:solidFill>
                <a:latin typeface="Georgia"/>
                <a:ea typeface="Georgia"/>
                <a:cs typeface="Georgia"/>
              </a:defRPr>
            </a:pPr>
            <a:r>
              <a:rPr sz="1350" b="0">
                <a:solidFill>
                  <a:srgbClr val="2E3B35"/>
                </a:solidFill>
                <a:latin typeface="Georgia"/>
                <a:ea typeface="Georgia"/>
                <a:cs typeface="Georgia"/>
              </a:rPr>
              <a:t>ZBC 01 gộp tất toán trước hạn và đáo hạn. Không thể tách voluntary prepayment thuần túy bằng mã này.</a:t>
            </a:r>
          </a:p>
        </p:txBody>
      </p:sp>
      <p:sp>
        <p:nvSpPr>
          <p:cNvPr id="22" name="">
            <a:extLst xmlns:a="http://schemas.openxmlformats.org/drawingml/2006/main">
              <a:ext uri="{FF2B5EF4-FFF2-40B4-BE49-F238E27FC236}">
                <a16:creationId xmlns:a16="http://schemas.microsoft.com/office/drawing/2014/main" id="{7F41AD88-3890-4FD2-95E9-B2E2486EA715}"/>
              </a:ext>
            </a:extLst>
          </p:cNvPr>
          <p:cNvSpPr>
            <a:spLocks xmlns:a="http://schemas.openxmlformats.org/drawingml/2006/main" noGrp="1"/>
          </p:cNvSpPr>
          <p:nvPr/>
        </p:nvSpPr>
        <p:spPr>
          <a:xfrm xmlns:a="http://schemas.openxmlformats.org/drawingml/2006/main">
            <a:off x="8096250" y="5029200"/>
            <a:ext cx="323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2E3B35"/>
                </a:solidFill>
                <a:latin typeface="Georgia"/>
                <a:ea typeface="Georgia"/>
                <a:cs typeface="Georgia"/>
              </a:defRPr>
            </a:pPr>
            <a:r>
              <a:rPr sz="1350" b="0">
                <a:solidFill>
                  <a:srgbClr val="2E3B35"/>
                </a:solidFill>
                <a:latin typeface="Georgia"/>
                <a:ea typeface="Georgia"/>
                <a:cs typeface="Georgia"/>
              </a:rPr>
              <a:t>CIF được ước lượng bằng Aalen–Johansen.</a:t>
            </a:r>
          </a:p>
        </p:txBody>
      </p:sp>
    </p:spTree>
    <p:extLst>
      <p:ext uri="{BB962C8B-B14F-4D97-AF65-F5344CB8AC3E}">
        <p14:creationId xmlns:p14="http://schemas.microsoft.com/office/powerpoint/2010/main" val="1429412263"/>
      </p:ext>
    </p:extLst>
  </p:cSld>
</p:sld>
</file>

<file path=ppt/slides/slide6.xml><?xml version="1.0" encoding="utf-8"?>
<p:sld xmlns:p="http://schemas.openxmlformats.org/presentationml/2006/main">
  <p:cSld>
    <p:bg>
      <p:bgPr>
        <a:solidFill xmlns:a="http://schemas.openxmlformats.org/drawingml/2006/main">
          <a:srgbClr val="F1EFE6"/>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937E1147-3840-4275-933D-32ACDC10A369}"/>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2E3B3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B55DDF0-3E0B-497E-AE86-7D291DBDDCE5}"/>
              </a:ext>
            </a:extLst>
          </p:cNvPr>
          <p:cNvSpPr>
            <a:spLocks xmlns:a="http://schemas.openxmlformats.org/drawingml/2006/main" noGrp="1"/>
          </p:cNvSpPr>
          <p:nvPr/>
        </p:nvSpPr>
        <p:spPr>
          <a:xfrm xmlns:a="http://schemas.openxmlformats.org/drawingml/2006/main">
            <a:off x="609600" y="3238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defRPr sz="1050" b="1">
                <a:solidFill>
                  <a:srgbClr val="B5A15B"/>
                </a:solidFill>
                <a:latin typeface="Arial"/>
                <a:ea typeface="Arial"/>
                <a:cs typeface="Arial"/>
              </a:defRPr>
            </a:pPr>
            <a:r>
              <a:rPr sz="1050" b="1">
                <a:solidFill>
                  <a:srgbClr val="B5A15B"/>
                </a:solidFill>
                <a:latin typeface="Arial"/>
                <a:ea typeface="Arial"/>
                <a:cs typeface="Arial"/>
              </a:rPr>
              <a:t>05 · DỮ LIỆU &amp; THỜI GIAN</a:t>
            </a:r>
          </a:p>
        </p:txBody>
      </p:sp>
      <p:sp>
        <p:nvSpPr>
          <p:cNvPr id="3" name="">
            <a:extLst xmlns:a="http://schemas.openxmlformats.org/drawingml/2006/main">
              <a:ext uri="{FF2B5EF4-FFF2-40B4-BE49-F238E27FC236}">
                <a16:creationId xmlns:a16="http://schemas.microsoft.com/office/drawing/2014/main" id="{077663D2-B48E-41DF-B07C-2B841D196714}"/>
              </a:ext>
            </a:extLst>
          </p:cNvPr>
          <p:cNvSpPr>
            <a:spLocks xmlns:a="http://schemas.openxmlformats.org/drawingml/2006/main" noGrp="1"/>
          </p:cNvSpPr>
          <p:nvPr/>
        </p:nvSpPr>
        <p:spPr>
          <a:xfrm xmlns:a="http://schemas.openxmlformats.org/drawingml/2006/main">
            <a:off x="609600" y="6477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850" b="1">
                <a:solidFill>
                  <a:srgbClr val="2E3B35"/>
                </a:solidFill>
                <a:latin typeface="Georgia"/>
                <a:ea typeface="Georgia"/>
                <a:cs typeface="Georgia"/>
              </a:defRPr>
            </a:pPr>
            <a:r>
              <a:rPr sz="2850" b="1">
                <a:solidFill>
                  <a:srgbClr val="2E3B35"/>
                </a:solidFill>
                <a:latin typeface="Georgia"/>
                <a:ea typeface="Georgia"/>
                <a:cs typeface="Georgia"/>
              </a:rPr>
              <a:t>Mốc thời gian có giới hạn cần nói rõ</a:t>
            </a:r>
          </a:p>
        </p:txBody>
      </p:sp>
      <p:sp>
        <p:nvSpPr>
          <p:cNvPr id="4" name="">
            <a:extLst xmlns:a="http://schemas.openxmlformats.org/drawingml/2006/main">
              <a:ext uri="{FF2B5EF4-FFF2-40B4-BE49-F238E27FC236}">
                <a16:creationId xmlns:a16="http://schemas.microsoft.com/office/drawing/2014/main" id="{2DFF5256-8433-4B0B-88DE-C395763373C0}"/>
              </a:ext>
            </a:extLst>
          </p:cNvPr>
          <p:cNvSpPr>
            <a:spLocks xmlns:a="http://schemas.openxmlformats.org/drawingml/2006/main" noGrp="1"/>
          </p:cNvSpPr>
          <p:nvPr/>
        </p:nvSpPr>
        <p:spPr>
          <a:xfrm xmlns:a="http://schemas.openxmlformats.org/drawingml/2006/main">
            <a:off x="628650" y="13239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748078"/>
                </a:solidFill>
                <a:latin typeface="Georgia"/>
                <a:ea typeface="Georgia"/>
                <a:cs typeface="Georgia"/>
              </a:defRPr>
            </a:pPr>
            <a:r>
              <a:rPr sz="1425" b="0">
                <a:solidFill>
                  <a:srgbClr val="748078"/>
                </a:solidFill>
                <a:latin typeface="Georgia"/>
                <a:ea typeface="Georgia"/>
                <a:cs typeface="Georgia"/>
              </a:rPr>
              <a:t>Freddie Mac monthly performance không phải lịch sử đầy đủ kể từ ngày giải ngân.</a:t>
            </a:r>
          </a:p>
        </p:txBody>
      </p:sp>
      <p:sp>
        <p:nvSpPr>
          <p:cNvPr id="5" name="">
            <a:extLst xmlns:a="http://schemas.openxmlformats.org/drawingml/2006/main">
              <a:ext uri="{FF2B5EF4-FFF2-40B4-BE49-F238E27FC236}">
                <a16:creationId xmlns:a16="http://schemas.microsoft.com/office/drawing/2014/main" id="{2E5BEA02-9D18-45EA-8918-BF94D54A6AE6}"/>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8D4C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54AF2E3-7DF3-46B1-AAE5-7DA9C2E2BE39}"/>
              </a:ext>
            </a:extLst>
          </p:cNvPr>
          <p:cNvSpPr>
            <a:spLocks xmlns:a="http://schemas.openxmlformats.org/drawingml/2006/main" noGrp="1"/>
          </p:cNvSpPr>
          <p:nvPr/>
        </p:nvSpPr>
        <p:spPr>
          <a:xfrm xmlns:a="http://schemas.openxmlformats.org/drawingml/2006/main">
            <a:off x="628650" y="649605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0">
                <a:solidFill>
                  <a:srgbClr val="748078"/>
                </a:solidFill>
                <a:latin typeface="Arial"/>
                <a:ea typeface="Arial"/>
                <a:cs typeface="Arial"/>
              </a:defRPr>
            </a:pPr>
            <a:r>
              <a:rPr sz="750" b="0">
                <a:solidFill>
                  <a:srgbClr val="748078"/>
                </a:solidFill>
                <a:latin typeface="Arial"/>
                <a:ea typeface="Arial"/>
                <a:cs typeface="Arial"/>
              </a:rPr>
              <a:t>Mortgage Default &amp; Prepayment · Freddie Mac 2016–2026</a:t>
            </a:r>
          </a:p>
        </p:txBody>
      </p:sp>
      <p:sp>
        <p:nvSpPr>
          <p:cNvPr id="7" name="">
            <a:extLst xmlns:a="http://schemas.openxmlformats.org/drawingml/2006/main">
              <a:ext uri="{FF2B5EF4-FFF2-40B4-BE49-F238E27FC236}">
                <a16:creationId xmlns:a16="http://schemas.microsoft.com/office/drawing/2014/main" id="{AE2FFD2A-C348-42A2-B107-2536F7D2B427}"/>
              </a:ext>
            </a:extLst>
          </p:cNvPr>
          <p:cNvSpPr>
            <a:spLocks xmlns:a="http://schemas.openxmlformats.org/drawingml/2006/main" noGrp="1"/>
          </p:cNvSpPr>
          <p:nvPr/>
        </p:nvSpPr>
        <p:spPr>
          <a:xfrm xmlns:a="http://schemas.openxmlformats.org/drawingml/2006/main">
            <a:off x="11049000" y="647700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0">
                <a:solidFill>
                  <a:srgbClr val="748078"/>
                </a:solidFill>
                <a:latin typeface="Arial"/>
                <a:ea typeface="Arial"/>
                <a:cs typeface="Arial"/>
              </a:defRPr>
            </a:pPr>
            <a:r>
              <a:rPr sz="825" b="0">
                <a:solidFill>
                  <a:srgbClr val="748078"/>
                </a:solidFill>
                <a:latin typeface="Arial"/>
                <a:ea typeface="Arial"/>
                <a:cs typeface="Arial"/>
              </a:rPr>
              <a:t>06</a:t>
            </a:r>
          </a:p>
        </p:txBody>
      </p:sp>
      <p:sp>
        <p:nvSpPr>
          <p:cNvPr id="8" name="">
            <a:extLst xmlns:a="http://schemas.openxmlformats.org/drawingml/2006/main">
              <a:ext uri="{FF2B5EF4-FFF2-40B4-BE49-F238E27FC236}">
                <a16:creationId xmlns:a16="http://schemas.microsoft.com/office/drawing/2014/main" id="{D4593AA0-9452-4125-AA10-0FF4E233579F}"/>
              </a:ext>
            </a:extLst>
          </p:cNvPr>
          <p:cNvSpPr>
            <a:spLocks xmlns:a="http://schemas.openxmlformats.org/drawingml/2006/main" noGrp="1"/>
          </p:cNvSpPr>
          <p:nvPr/>
        </p:nvSpPr>
        <p:spPr>
          <a:xfrm xmlns:a="http://schemas.openxmlformats.org/drawingml/2006/main">
            <a:off x="857250" y="2286000"/>
            <a:ext cx="2238375" cy="1381125"/>
          </a:xfrm>
          <a:prstGeom xmlns:a="http://schemas.openxmlformats.org/drawingml/2006/main" prst="rect">
            <a:avLst/>
          </a:prstGeom>
          <a:solidFill xmlns:a="http://schemas.openxmlformats.org/drawingml/2006/main">
            <a:srgbClr val="FFFDF8"/>
          </a:solidFill>
          <a:ln xmlns:a="http://schemas.openxmlformats.org/drawingml/2006/main" w="12383">
            <a:solidFill>
              <a:srgbClr val="D8D4C6"/>
            </a:solidFill>
          </a:ln>
        </p:spPr>
      </p:sp>
      <p:sp>
        <p:nvSpPr>
          <p:cNvPr id="9" name="">
            <a:extLst xmlns:a="http://schemas.openxmlformats.org/drawingml/2006/main">
              <a:ext uri="{FF2B5EF4-FFF2-40B4-BE49-F238E27FC236}">
                <a16:creationId xmlns:a16="http://schemas.microsoft.com/office/drawing/2014/main" id="{06AF442E-5361-4D66-97DC-BFA32479ABD3}"/>
              </a:ext>
            </a:extLst>
          </p:cNvPr>
          <p:cNvSpPr>
            <a:spLocks xmlns:a="http://schemas.openxmlformats.org/drawingml/2006/main" noGrp="1"/>
          </p:cNvSpPr>
          <p:nvPr/>
        </p:nvSpPr>
        <p:spPr>
          <a:xfrm xmlns:a="http://schemas.openxmlformats.org/drawingml/2006/main">
            <a:off x="857250" y="2286000"/>
            <a:ext cx="57150" cy="1381125"/>
          </a:xfrm>
          <a:prstGeom xmlns:a="http://schemas.openxmlformats.org/drawingml/2006/main" prst="rect">
            <a:avLst/>
          </a:prstGeom>
          <a:solidFill xmlns:a="http://schemas.openxmlformats.org/drawingml/2006/main">
            <a:srgbClr val="B5A15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289C939-3534-4F53-A996-5BCF71BE85E9}"/>
              </a:ext>
            </a:extLst>
          </p:cNvPr>
          <p:cNvSpPr>
            <a:spLocks xmlns:a="http://schemas.openxmlformats.org/drawingml/2006/main" noGrp="1"/>
          </p:cNvSpPr>
          <p:nvPr/>
        </p:nvSpPr>
        <p:spPr>
          <a:xfrm xmlns:a="http://schemas.openxmlformats.org/drawingml/2006/main">
            <a:off x="1066800" y="2428875"/>
            <a:ext cx="18192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056"/>
          </a:bodyPr>
          <a:lstStyle xmlns:a="http://schemas.openxmlformats.org/drawingml/2006/main"/>
          <a:p xmlns:a="http://schemas.openxmlformats.org/drawingml/2006/main">
            <a:pPr>
              <a:defRPr sz="900" b="1">
                <a:solidFill>
                  <a:srgbClr val="B5A15B"/>
                </a:solidFill>
                <a:latin typeface="Arial"/>
                <a:ea typeface="Arial"/>
                <a:cs typeface="Arial"/>
              </a:defRPr>
            </a:pPr>
            <a:r>
              <a:rPr sz="900" b="1">
                <a:solidFill>
                  <a:srgbClr val="B5A15B"/>
                </a:solidFill>
                <a:latin typeface="Arial"/>
                <a:ea typeface="Arial"/>
                <a:cs typeface="Arial"/>
              </a:rPr>
              <a:t>VINTAGE</a:t>
            </a:r>
          </a:p>
        </p:txBody>
      </p:sp>
      <p:sp>
        <p:nvSpPr>
          <p:cNvPr id="11" name="">
            <a:extLst xmlns:a="http://schemas.openxmlformats.org/drawingml/2006/main">
              <a:ext uri="{FF2B5EF4-FFF2-40B4-BE49-F238E27FC236}">
                <a16:creationId xmlns:a16="http://schemas.microsoft.com/office/drawing/2014/main" id="{70BB11FB-2329-4ECF-B5FD-1EA107B476F0}"/>
              </a:ext>
            </a:extLst>
          </p:cNvPr>
          <p:cNvSpPr>
            <a:spLocks xmlns:a="http://schemas.openxmlformats.org/drawingml/2006/main" noGrp="1"/>
          </p:cNvSpPr>
          <p:nvPr/>
        </p:nvSpPr>
        <p:spPr>
          <a:xfrm xmlns:a="http://schemas.openxmlformats.org/drawingml/2006/main">
            <a:off x="1066800" y="2733675"/>
            <a:ext cx="18192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2E3B35"/>
                </a:solidFill>
                <a:latin typeface="Georgia"/>
                <a:ea typeface="Georgia"/>
                <a:cs typeface="Georgia"/>
              </a:defRPr>
            </a:pPr>
            <a:r>
              <a:rPr sz="1350" b="0">
                <a:solidFill>
                  <a:srgbClr val="2E3B35"/>
                </a:solidFill>
                <a:latin typeface="Georgia"/>
                <a:ea typeface="Georgia"/>
                <a:cs typeface="Georgia"/>
              </a:rPr>
              <a:t>2016–2026</a:t>
            </a:r>
          </a:p>
        </p:txBody>
      </p:sp>
      <p:sp>
        <p:nvSpPr>
          <p:cNvPr id="12" name="">
            <a:extLst xmlns:a="http://schemas.openxmlformats.org/drawingml/2006/main">
              <a:ext uri="{FF2B5EF4-FFF2-40B4-BE49-F238E27FC236}">
                <a16:creationId xmlns:a16="http://schemas.microsoft.com/office/drawing/2014/main" id="{F564603B-B378-45E8-B161-7F9056A60348}"/>
              </a:ext>
            </a:extLst>
          </p:cNvPr>
          <p:cNvSpPr>
            <a:spLocks xmlns:a="http://schemas.openxmlformats.org/drawingml/2006/main" noGrp="1"/>
          </p:cNvSpPr>
          <p:nvPr/>
        </p:nvSpPr>
        <p:spPr>
          <a:xfrm xmlns:a="http://schemas.openxmlformats.org/drawingml/2006/main">
            <a:off x="3476625" y="2286000"/>
            <a:ext cx="2238375" cy="1381125"/>
          </a:xfrm>
          <a:prstGeom xmlns:a="http://schemas.openxmlformats.org/drawingml/2006/main" prst="rect">
            <a:avLst/>
          </a:prstGeom>
          <a:solidFill xmlns:a="http://schemas.openxmlformats.org/drawingml/2006/main">
            <a:srgbClr val="FFFDF8"/>
          </a:solidFill>
          <a:ln xmlns:a="http://schemas.openxmlformats.org/drawingml/2006/main" w="12383">
            <a:solidFill>
              <a:srgbClr val="D8D4C6"/>
            </a:solidFill>
          </a:ln>
        </p:spPr>
      </p:sp>
      <p:sp>
        <p:nvSpPr>
          <p:cNvPr id="13" name="">
            <a:extLst xmlns:a="http://schemas.openxmlformats.org/drawingml/2006/main">
              <a:ext uri="{FF2B5EF4-FFF2-40B4-BE49-F238E27FC236}">
                <a16:creationId xmlns:a16="http://schemas.microsoft.com/office/drawing/2014/main" id="{314E8597-E187-465F-AF5A-7D07E46B56E2}"/>
              </a:ext>
            </a:extLst>
          </p:cNvPr>
          <p:cNvSpPr>
            <a:spLocks xmlns:a="http://schemas.openxmlformats.org/drawingml/2006/main" noGrp="1"/>
          </p:cNvSpPr>
          <p:nvPr/>
        </p:nvSpPr>
        <p:spPr>
          <a:xfrm xmlns:a="http://schemas.openxmlformats.org/drawingml/2006/main">
            <a:off x="3476625" y="2286000"/>
            <a:ext cx="57150" cy="1381125"/>
          </a:xfrm>
          <a:prstGeom xmlns:a="http://schemas.openxmlformats.org/drawingml/2006/main" prst="rect">
            <a:avLst/>
          </a:prstGeom>
          <a:solidFill xmlns:a="http://schemas.openxmlformats.org/drawingml/2006/main">
            <a:srgbClr val="B5A15B"/>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0554C07-BF0E-4A44-BD2A-23195B9603E4}"/>
              </a:ext>
            </a:extLst>
          </p:cNvPr>
          <p:cNvSpPr>
            <a:spLocks xmlns:a="http://schemas.openxmlformats.org/drawingml/2006/main" noGrp="1"/>
          </p:cNvSpPr>
          <p:nvPr/>
        </p:nvSpPr>
        <p:spPr>
          <a:xfrm xmlns:a="http://schemas.openxmlformats.org/drawingml/2006/main">
            <a:off x="3686175" y="2428875"/>
            <a:ext cx="18192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056"/>
          </a:bodyPr>
          <a:lstStyle xmlns:a="http://schemas.openxmlformats.org/drawingml/2006/main"/>
          <a:p xmlns:a="http://schemas.openxmlformats.org/drawingml/2006/main">
            <a:pPr>
              <a:defRPr sz="900" b="1">
                <a:solidFill>
                  <a:srgbClr val="B5A15B"/>
                </a:solidFill>
                <a:latin typeface="Arial"/>
                <a:ea typeface="Arial"/>
                <a:cs typeface="Arial"/>
              </a:defRPr>
            </a:pPr>
            <a:r>
              <a:rPr sz="900" b="1">
                <a:solidFill>
                  <a:srgbClr val="B5A15B"/>
                </a:solidFill>
                <a:latin typeface="Arial"/>
                <a:ea typeface="Arial"/>
                <a:cs typeface="Arial"/>
              </a:rPr>
              <a:t>ORIGIN PROXY</a:t>
            </a:r>
          </a:p>
        </p:txBody>
      </p:sp>
      <p:sp>
        <p:nvSpPr>
          <p:cNvPr id="15" name="">
            <a:extLst xmlns:a="http://schemas.openxmlformats.org/drawingml/2006/main">
              <a:ext uri="{FF2B5EF4-FFF2-40B4-BE49-F238E27FC236}">
                <a16:creationId xmlns:a16="http://schemas.microsoft.com/office/drawing/2014/main" id="{3419A14B-75BB-4FC1-9424-3DAA8CC6F868}"/>
              </a:ext>
            </a:extLst>
          </p:cNvPr>
          <p:cNvSpPr>
            <a:spLocks xmlns:a="http://schemas.openxmlformats.org/drawingml/2006/main" noGrp="1"/>
          </p:cNvSpPr>
          <p:nvPr/>
        </p:nvSpPr>
        <p:spPr>
          <a:xfrm xmlns:a="http://schemas.openxmlformats.org/drawingml/2006/main">
            <a:off x="3686175" y="2733675"/>
            <a:ext cx="18192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2E3B35"/>
                </a:solidFill>
                <a:latin typeface="Georgia"/>
                <a:ea typeface="Georgia"/>
                <a:cs typeface="Georgia"/>
              </a:defRPr>
            </a:pPr>
            <a:r>
              <a:rPr sz="1350" b="0">
                <a:solidFill>
                  <a:srgbClr val="2E3B35"/>
                </a:solidFill>
                <a:latin typeface="Georgia"/>
                <a:ea typeface="Georgia"/>
                <a:cs typeface="Georgia"/>
              </a:rPr>
              <a:t>First Payment Date − 1 tháng</a:t>
            </a:r>
          </a:p>
        </p:txBody>
      </p:sp>
      <p:sp>
        <p:nvSpPr>
          <p:cNvPr id="16" name="">
            <a:extLst xmlns:a="http://schemas.openxmlformats.org/drawingml/2006/main">
              <a:ext uri="{FF2B5EF4-FFF2-40B4-BE49-F238E27FC236}">
                <a16:creationId xmlns:a16="http://schemas.microsoft.com/office/drawing/2014/main" id="{658E3A61-7097-4422-BE5B-44B70A91F6D0}"/>
              </a:ext>
            </a:extLst>
          </p:cNvPr>
          <p:cNvSpPr>
            <a:spLocks xmlns:a="http://schemas.openxmlformats.org/drawingml/2006/main" noGrp="1"/>
          </p:cNvSpPr>
          <p:nvPr/>
        </p:nvSpPr>
        <p:spPr>
          <a:xfrm xmlns:a="http://schemas.openxmlformats.org/drawingml/2006/main">
            <a:off x="6286500" y="2286000"/>
            <a:ext cx="2238375" cy="1381125"/>
          </a:xfrm>
          <a:prstGeom xmlns:a="http://schemas.openxmlformats.org/drawingml/2006/main" prst="rect">
            <a:avLst/>
          </a:prstGeom>
          <a:solidFill xmlns:a="http://schemas.openxmlformats.org/drawingml/2006/main">
            <a:srgbClr val="FFFDF8"/>
          </a:solidFill>
          <a:ln xmlns:a="http://schemas.openxmlformats.org/drawingml/2006/main" w="12383">
            <a:solidFill>
              <a:srgbClr val="D8D4C6"/>
            </a:solidFill>
          </a:ln>
        </p:spPr>
      </p:sp>
      <p:sp>
        <p:nvSpPr>
          <p:cNvPr id="17" name="">
            <a:extLst xmlns:a="http://schemas.openxmlformats.org/drawingml/2006/main">
              <a:ext uri="{FF2B5EF4-FFF2-40B4-BE49-F238E27FC236}">
                <a16:creationId xmlns:a16="http://schemas.microsoft.com/office/drawing/2014/main" id="{36FDA004-0F5B-4FEB-B43A-977593FECCE0}"/>
              </a:ext>
            </a:extLst>
          </p:cNvPr>
          <p:cNvSpPr>
            <a:spLocks xmlns:a="http://schemas.openxmlformats.org/drawingml/2006/main" noGrp="1"/>
          </p:cNvSpPr>
          <p:nvPr/>
        </p:nvSpPr>
        <p:spPr>
          <a:xfrm xmlns:a="http://schemas.openxmlformats.org/drawingml/2006/main">
            <a:off x="6286500" y="2286000"/>
            <a:ext cx="57150" cy="1381125"/>
          </a:xfrm>
          <a:prstGeom xmlns:a="http://schemas.openxmlformats.org/drawingml/2006/main" prst="rect">
            <a:avLst/>
          </a:prstGeom>
          <a:solidFill xmlns:a="http://schemas.openxmlformats.org/drawingml/2006/main">
            <a:srgbClr val="B8625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DCD94B5-B2C1-4438-A4F7-21BD90BFB1D3}"/>
              </a:ext>
            </a:extLst>
          </p:cNvPr>
          <p:cNvSpPr>
            <a:spLocks xmlns:a="http://schemas.openxmlformats.org/drawingml/2006/main" noGrp="1"/>
          </p:cNvSpPr>
          <p:nvPr/>
        </p:nvSpPr>
        <p:spPr>
          <a:xfrm xmlns:a="http://schemas.openxmlformats.org/drawingml/2006/main">
            <a:off x="6496050" y="2428875"/>
            <a:ext cx="18192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056"/>
          </a:bodyPr>
          <a:lstStyle xmlns:a="http://schemas.openxmlformats.org/drawingml/2006/main"/>
          <a:p xmlns:a="http://schemas.openxmlformats.org/drawingml/2006/main">
            <a:pPr>
              <a:defRPr sz="900" b="1">
                <a:solidFill>
                  <a:srgbClr val="B86252"/>
                </a:solidFill>
                <a:latin typeface="Arial"/>
                <a:ea typeface="Arial"/>
                <a:cs typeface="Arial"/>
              </a:defRPr>
            </a:pPr>
            <a:r>
              <a:rPr sz="900" b="1">
                <a:solidFill>
                  <a:srgbClr val="B86252"/>
                </a:solidFill>
                <a:latin typeface="Arial"/>
                <a:ea typeface="Arial"/>
                <a:cs typeface="Arial"/>
              </a:rPr>
              <a:t>CUTOFF</a:t>
            </a:r>
          </a:p>
        </p:txBody>
      </p:sp>
      <p:sp>
        <p:nvSpPr>
          <p:cNvPr id="19" name="">
            <a:extLst xmlns:a="http://schemas.openxmlformats.org/drawingml/2006/main">
              <a:ext uri="{FF2B5EF4-FFF2-40B4-BE49-F238E27FC236}">
                <a16:creationId xmlns:a16="http://schemas.microsoft.com/office/drawing/2014/main" id="{C804ADBA-E4F0-41B3-8246-6825F459DDE6}"/>
              </a:ext>
            </a:extLst>
          </p:cNvPr>
          <p:cNvSpPr>
            <a:spLocks xmlns:a="http://schemas.openxmlformats.org/drawingml/2006/main" noGrp="1"/>
          </p:cNvSpPr>
          <p:nvPr/>
        </p:nvSpPr>
        <p:spPr>
          <a:xfrm xmlns:a="http://schemas.openxmlformats.org/drawingml/2006/main">
            <a:off x="6496050" y="2733675"/>
            <a:ext cx="18192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2E3B35"/>
                </a:solidFill>
                <a:latin typeface="Georgia"/>
                <a:ea typeface="Georgia"/>
                <a:cs typeface="Georgia"/>
              </a:defRPr>
            </a:pPr>
            <a:r>
              <a:rPr sz="1350" b="0">
                <a:solidFill>
                  <a:srgbClr val="2E3B35"/>
                </a:solidFill>
                <a:latin typeface="Georgia"/>
                <a:ea typeface="Georgia"/>
                <a:cs typeface="Georgia"/>
              </a:rPr>
              <a:t>31/03/2026</a:t>
            </a:r>
          </a:p>
        </p:txBody>
      </p:sp>
      <p:sp>
        <p:nvSpPr>
          <p:cNvPr id="20" name="">
            <a:extLst xmlns:a="http://schemas.openxmlformats.org/drawingml/2006/main">
              <a:ext uri="{FF2B5EF4-FFF2-40B4-BE49-F238E27FC236}">
                <a16:creationId xmlns:a16="http://schemas.microsoft.com/office/drawing/2014/main" id="{7197BF96-42BF-4B67-A556-7B1025751F30}"/>
              </a:ext>
            </a:extLst>
          </p:cNvPr>
          <p:cNvSpPr>
            <a:spLocks xmlns:a="http://schemas.openxmlformats.org/drawingml/2006/main" noGrp="1"/>
          </p:cNvSpPr>
          <p:nvPr/>
        </p:nvSpPr>
        <p:spPr>
          <a:xfrm xmlns:a="http://schemas.openxmlformats.org/drawingml/2006/main">
            <a:off x="9096375" y="2286000"/>
            <a:ext cx="2238375" cy="1381125"/>
          </a:xfrm>
          <a:prstGeom xmlns:a="http://schemas.openxmlformats.org/drawingml/2006/main" prst="rect">
            <a:avLst/>
          </a:prstGeom>
          <a:solidFill xmlns:a="http://schemas.openxmlformats.org/drawingml/2006/main">
            <a:srgbClr val="FFFDF8"/>
          </a:solidFill>
          <a:ln xmlns:a="http://schemas.openxmlformats.org/drawingml/2006/main" w="12383">
            <a:solidFill>
              <a:srgbClr val="D8D4C6"/>
            </a:solidFill>
          </a:ln>
        </p:spPr>
      </p:sp>
      <p:sp>
        <p:nvSpPr>
          <p:cNvPr id="21" name="">
            <a:extLst xmlns:a="http://schemas.openxmlformats.org/drawingml/2006/main">
              <a:ext uri="{FF2B5EF4-FFF2-40B4-BE49-F238E27FC236}">
                <a16:creationId xmlns:a16="http://schemas.microsoft.com/office/drawing/2014/main" id="{C94EB9F6-8EC4-4B3A-A837-585B38450732}"/>
              </a:ext>
            </a:extLst>
          </p:cNvPr>
          <p:cNvSpPr>
            <a:spLocks xmlns:a="http://schemas.openxmlformats.org/drawingml/2006/main" noGrp="1"/>
          </p:cNvSpPr>
          <p:nvPr/>
        </p:nvSpPr>
        <p:spPr>
          <a:xfrm xmlns:a="http://schemas.openxmlformats.org/drawingml/2006/main">
            <a:off x="9096375" y="2286000"/>
            <a:ext cx="57150" cy="1381125"/>
          </a:xfrm>
          <a:prstGeom xmlns:a="http://schemas.openxmlformats.org/drawingml/2006/main" prst="rect">
            <a:avLst/>
          </a:prstGeom>
          <a:solidFill xmlns:a="http://schemas.openxmlformats.org/drawingml/2006/main">
            <a:srgbClr val="B5A15B"/>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F2373686-63EC-4581-BF91-4D3305C2818A}"/>
              </a:ext>
            </a:extLst>
          </p:cNvPr>
          <p:cNvSpPr>
            <a:spLocks xmlns:a="http://schemas.openxmlformats.org/drawingml/2006/main" noGrp="1"/>
          </p:cNvSpPr>
          <p:nvPr/>
        </p:nvSpPr>
        <p:spPr>
          <a:xfrm xmlns:a="http://schemas.openxmlformats.org/drawingml/2006/main">
            <a:off x="9305925" y="2428875"/>
            <a:ext cx="18192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056"/>
          </a:bodyPr>
          <a:lstStyle xmlns:a="http://schemas.openxmlformats.org/drawingml/2006/main"/>
          <a:p xmlns:a="http://schemas.openxmlformats.org/drawingml/2006/main">
            <a:pPr>
              <a:defRPr sz="900" b="1">
                <a:solidFill>
                  <a:srgbClr val="B5A15B"/>
                </a:solidFill>
                <a:latin typeface="Arial"/>
                <a:ea typeface="Arial"/>
                <a:cs typeface="Arial"/>
              </a:defRPr>
            </a:pPr>
            <a:r>
              <a:rPr sz="900" b="1">
                <a:solidFill>
                  <a:srgbClr val="B5A15B"/>
                </a:solidFill>
                <a:latin typeface="Arial"/>
                <a:ea typeface="Arial"/>
                <a:cs typeface="Arial"/>
              </a:rPr>
              <a:t>MẪU</a:t>
            </a:r>
          </a:p>
        </p:txBody>
      </p:sp>
      <p:sp>
        <p:nvSpPr>
          <p:cNvPr id="23" name="">
            <a:extLst xmlns:a="http://schemas.openxmlformats.org/drawingml/2006/main">
              <a:ext uri="{FF2B5EF4-FFF2-40B4-BE49-F238E27FC236}">
                <a16:creationId xmlns:a16="http://schemas.microsoft.com/office/drawing/2014/main" id="{72B2B478-7FF3-44E1-8E21-69E191033F66}"/>
              </a:ext>
            </a:extLst>
          </p:cNvPr>
          <p:cNvSpPr>
            <a:spLocks xmlns:a="http://schemas.openxmlformats.org/drawingml/2006/main" noGrp="1"/>
          </p:cNvSpPr>
          <p:nvPr/>
        </p:nvSpPr>
        <p:spPr>
          <a:xfrm xmlns:a="http://schemas.openxmlformats.org/drawingml/2006/main">
            <a:off x="9305925" y="2733675"/>
            <a:ext cx="18192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2E3B35"/>
                </a:solidFill>
                <a:latin typeface="Georgia"/>
                <a:ea typeface="Georgia"/>
                <a:cs typeface="Georgia"/>
              </a:defRPr>
            </a:pPr>
            <a:r>
              <a:rPr sz="1350" b="0">
                <a:solidFill>
                  <a:srgbClr val="2E3B35"/>
                </a:solidFill>
                <a:latin typeface="Georgia"/>
                <a:ea typeface="Georgia"/>
                <a:cs typeface="Georgia"/>
              </a:rPr>
              <a:t>504.405 khoản vay</a:t>
            </a:r>
          </a:p>
        </p:txBody>
      </p:sp>
      <p:sp>
        <p:nvSpPr>
          <p:cNvPr id="24" name="">
            <a:extLst xmlns:a="http://schemas.openxmlformats.org/drawingml/2006/main">
              <a:ext uri="{FF2B5EF4-FFF2-40B4-BE49-F238E27FC236}">
                <a16:creationId xmlns:a16="http://schemas.microsoft.com/office/drawing/2014/main" id="{9173629C-8441-4980-A798-E102B5A7EE39}"/>
              </a:ext>
            </a:extLst>
          </p:cNvPr>
          <p:cNvSpPr>
            <a:spLocks xmlns:a="http://schemas.openxmlformats.org/drawingml/2006/main" noGrp="1"/>
          </p:cNvSpPr>
          <p:nvPr/>
        </p:nvSpPr>
        <p:spPr>
          <a:xfrm xmlns:a="http://schemas.openxmlformats.org/drawingml/2006/main">
            <a:off x="857250" y="4333875"/>
            <a:ext cx="10477500" cy="1162050"/>
          </a:xfrm>
          <a:prstGeom xmlns:a="http://schemas.openxmlformats.org/drawingml/2006/main" prst="rect">
            <a:avLst/>
          </a:prstGeom>
          <a:solidFill xmlns:a="http://schemas.openxmlformats.org/drawingml/2006/main">
            <a:srgbClr val="F7F4EA"/>
          </a:solidFill>
          <a:ln xmlns:a="http://schemas.openxmlformats.org/drawingml/2006/main" w="9525">
            <a:solidFill>
              <a:srgbClr val="D8D4C6"/>
            </a:solidFill>
          </a:ln>
        </p:spPr>
      </p:sp>
      <p:sp>
        <p:nvSpPr>
          <p:cNvPr id="25" name="">
            <a:extLst xmlns:a="http://schemas.openxmlformats.org/drawingml/2006/main">
              <a:ext uri="{FF2B5EF4-FFF2-40B4-BE49-F238E27FC236}">
                <a16:creationId xmlns:a16="http://schemas.microsoft.com/office/drawing/2014/main" id="{8F0570FD-26F0-4A79-82B1-C9AC58DC89CD}"/>
              </a:ext>
            </a:extLst>
          </p:cNvPr>
          <p:cNvSpPr>
            <a:spLocks xmlns:a="http://schemas.openxmlformats.org/drawingml/2006/main" noGrp="1"/>
          </p:cNvSpPr>
          <p:nvPr/>
        </p:nvSpPr>
        <p:spPr>
          <a:xfrm xmlns:a="http://schemas.openxmlformats.org/drawingml/2006/main">
            <a:off x="1095375" y="4495800"/>
            <a:ext cx="9953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2E3B35"/>
                </a:solidFill>
                <a:latin typeface="Georgia"/>
                <a:ea typeface="Georgia"/>
                <a:cs typeface="Georgia"/>
              </a:defRPr>
            </a:pPr>
            <a:r>
              <a:rPr sz="1350" b="0">
                <a:solidFill>
                  <a:srgbClr val="2E3B35"/>
                </a:solidFill>
                <a:latin typeface="Georgia"/>
                <a:ea typeface="Georgia"/>
                <a:cs typeface="Georgia"/>
              </a:rPr>
              <a:t>Vintage 2026 có follow-up ngắn. So sánh phải dùng cùng tuổi khoản vay và chỉ hiện mốc đủ điều kiện. Mốc First Payment Date − 1 tháng là proxy vận hành, không phải origination date quan sát trực tiếp.</a:t>
            </a:r>
          </a:p>
        </p:txBody>
      </p:sp>
    </p:spTree>
    <p:extLst>
      <p:ext uri="{BB962C8B-B14F-4D97-AF65-F5344CB8AC3E}">
        <p14:creationId xmlns:p14="http://schemas.microsoft.com/office/powerpoint/2010/main" val="1040063355"/>
      </p:ext>
    </p:extLst>
  </p:cSld>
</p:sld>
</file>

<file path=ppt/slides/slide7.xml><?xml version="1.0" encoding="utf-8"?>
<p:sld xmlns:p="http://schemas.openxmlformats.org/presentationml/2006/main">
  <p:cSld>
    <p:bg>
      <p:bgPr>
        <a:solidFill xmlns:a="http://schemas.openxmlformats.org/drawingml/2006/main">
          <a:srgbClr val="F1EF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4050A14-487A-4C09-8D4C-A3C7165D113B}"/>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2E3B3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E6040CF-509B-4EC5-B2D7-5604C668FD32}"/>
              </a:ext>
            </a:extLst>
          </p:cNvPr>
          <p:cNvSpPr>
            <a:spLocks xmlns:a="http://schemas.openxmlformats.org/drawingml/2006/main" noGrp="1"/>
          </p:cNvSpPr>
          <p:nvPr/>
        </p:nvSpPr>
        <p:spPr>
          <a:xfrm xmlns:a="http://schemas.openxmlformats.org/drawingml/2006/main">
            <a:off x="609600" y="3238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defRPr sz="1050" b="1">
                <a:solidFill>
                  <a:srgbClr val="B5A15B"/>
                </a:solidFill>
                <a:latin typeface="Arial"/>
                <a:ea typeface="Arial"/>
                <a:cs typeface="Arial"/>
              </a:defRPr>
            </a:pPr>
            <a:r>
              <a:rPr sz="1050" b="1">
                <a:solidFill>
                  <a:srgbClr val="B5A15B"/>
                </a:solidFill>
                <a:latin typeface="Arial"/>
                <a:ea typeface="Arial"/>
                <a:cs typeface="Arial"/>
              </a:rPr>
              <a:t>06 · PHƯƠNG PHÁP</a:t>
            </a:r>
          </a:p>
        </p:txBody>
      </p:sp>
      <p:sp>
        <p:nvSpPr>
          <p:cNvPr id="3" name="">
            <a:extLst xmlns:a="http://schemas.openxmlformats.org/drawingml/2006/main">
              <a:ext uri="{FF2B5EF4-FFF2-40B4-BE49-F238E27FC236}">
                <a16:creationId xmlns:a16="http://schemas.microsoft.com/office/drawing/2014/main" id="{94FE8C9B-E978-4D37-85EA-63D247779898}"/>
              </a:ext>
            </a:extLst>
          </p:cNvPr>
          <p:cNvSpPr>
            <a:spLocks xmlns:a="http://schemas.openxmlformats.org/drawingml/2006/main" noGrp="1"/>
          </p:cNvSpPr>
          <p:nvPr/>
        </p:nvSpPr>
        <p:spPr>
          <a:xfrm xmlns:a="http://schemas.openxmlformats.org/drawingml/2006/main">
            <a:off x="609600" y="6477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850" b="1">
                <a:solidFill>
                  <a:srgbClr val="2E3B35"/>
                </a:solidFill>
                <a:latin typeface="Georgia"/>
                <a:ea typeface="Georgia"/>
                <a:cs typeface="Georgia"/>
              </a:defRPr>
            </a:pPr>
            <a:r>
              <a:rPr sz="2850" b="1">
                <a:solidFill>
                  <a:srgbClr val="2E3B35"/>
                </a:solidFill>
                <a:latin typeface="Georgia"/>
                <a:ea typeface="Georgia"/>
                <a:cs typeface="Georgia"/>
              </a:rPr>
              <a:t>Mỗi phương pháp trả lời một câu hỏi khác nhau</a:t>
            </a:r>
          </a:p>
        </p:txBody>
      </p:sp>
      <p:sp>
        <p:nvSpPr>
          <p:cNvPr id="4" name="">
            <a:extLst xmlns:a="http://schemas.openxmlformats.org/drawingml/2006/main">
              <a:ext uri="{FF2B5EF4-FFF2-40B4-BE49-F238E27FC236}">
                <a16:creationId xmlns:a16="http://schemas.microsoft.com/office/drawing/2014/main" id="{E3090F5D-17A0-488B-917F-2AB330C6E582}"/>
              </a:ext>
            </a:extLst>
          </p:cNvPr>
          <p:cNvSpPr>
            <a:spLocks xmlns:a="http://schemas.openxmlformats.org/drawingml/2006/main" noGrp="1"/>
          </p:cNvSpPr>
          <p:nvPr/>
        </p:nvSpPr>
        <p:spPr>
          <a:xfrm xmlns:a="http://schemas.openxmlformats.org/drawingml/2006/main">
            <a:off x="628650" y="13239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748078"/>
                </a:solidFill>
                <a:latin typeface="Georgia"/>
                <a:ea typeface="Georgia"/>
                <a:cs typeface="Georgia"/>
              </a:defRPr>
            </a:pPr>
            <a:r>
              <a:rPr sz="1425" b="0">
                <a:solidFill>
                  <a:srgbClr val="748078"/>
                </a:solidFill>
                <a:latin typeface="Georgia"/>
                <a:ea typeface="Georgia"/>
                <a:cs typeface="Georgia"/>
              </a:rPr>
              <a:t>Không hoán đổi các đại lượng chỉ vì cùng nằm trên thang 0–100%.</a:t>
            </a:r>
          </a:p>
        </p:txBody>
      </p:sp>
      <p:sp>
        <p:nvSpPr>
          <p:cNvPr id="5" name="">
            <a:extLst xmlns:a="http://schemas.openxmlformats.org/drawingml/2006/main">
              <a:ext uri="{FF2B5EF4-FFF2-40B4-BE49-F238E27FC236}">
                <a16:creationId xmlns:a16="http://schemas.microsoft.com/office/drawing/2014/main" id="{6124DE33-8B56-477D-A048-523E129E505D}"/>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8D4C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3CAA760-D0D4-4486-A543-46AE41F2A271}"/>
              </a:ext>
            </a:extLst>
          </p:cNvPr>
          <p:cNvSpPr>
            <a:spLocks xmlns:a="http://schemas.openxmlformats.org/drawingml/2006/main" noGrp="1"/>
          </p:cNvSpPr>
          <p:nvPr/>
        </p:nvSpPr>
        <p:spPr>
          <a:xfrm xmlns:a="http://schemas.openxmlformats.org/drawingml/2006/main">
            <a:off x="628650" y="649605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0">
                <a:solidFill>
                  <a:srgbClr val="748078"/>
                </a:solidFill>
                <a:latin typeface="Arial"/>
                <a:ea typeface="Arial"/>
                <a:cs typeface="Arial"/>
              </a:defRPr>
            </a:pPr>
            <a:r>
              <a:rPr sz="750" b="0">
                <a:solidFill>
                  <a:srgbClr val="748078"/>
                </a:solidFill>
                <a:latin typeface="Arial"/>
                <a:ea typeface="Arial"/>
                <a:cs typeface="Arial"/>
              </a:rPr>
              <a:t>Mortgage Default &amp; Prepayment · Freddie Mac 2016–2026</a:t>
            </a:r>
          </a:p>
        </p:txBody>
      </p:sp>
      <p:sp>
        <p:nvSpPr>
          <p:cNvPr id="7" name="">
            <a:extLst xmlns:a="http://schemas.openxmlformats.org/drawingml/2006/main">
              <a:ext uri="{FF2B5EF4-FFF2-40B4-BE49-F238E27FC236}">
                <a16:creationId xmlns:a16="http://schemas.microsoft.com/office/drawing/2014/main" id="{AC96F3A0-B779-44DB-9947-FF18A6DC8DA9}"/>
              </a:ext>
            </a:extLst>
          </p:cNvPr>
          <p:cNvSpPr>
            <a:spLocks xmlns:a="http://schemas.openxmlformats.org/drawingml/2006/main" noGrp="1"/>
          </p:cNvSpPr>
          <p:nvPr/>
        </p:nvSpPr>
        <p:spPr>
          <a:xfrm xmlns:a="http://schemas.openxmlformats.org/drawingml/2006/main">
            <a:off x="11049000" y="647700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0">
                <a:solidFill>
                  <a:srgbClr val="748078"/>
                </a:solidFill>
                <a:latin typeface="Arial"/>
                <a:ea typeface="Arial"/>
                <a:cs typeface="Arial"/>
              </a:defRPr>
            </a:pPr>
            <a:r>
              <a:rPr sz="825" b="0">
                <a:solidFill>
                  <a:srgbClr val="748078"/>
                </a:solidFill>
                <a:latin typeface="Arial"/>
                <a:ea typeface="Arial"/>
                <a:cs typeface="Arial"/>
              </a:rPr>
              <a:t>07</a:t>
            </a:r>
          </a:p>
        </p:txBody>
      </p:sp>
      <p:sp>
        <p:nvSpPr>
          <p:cNvPr id="8" name="">
            <a:extLst xmlns:a="http://schemas.openxmlformats.org/drawingml/2006/main">
              <a:ext uri="{FF2B5EF4-FFF2-40B4-BE49-F238E27FC236}">
                <a16:creationId xmlns:a16="http://schemas.microsoft.com/office/drawing/2014/main" id="{3E50FD0F-8BA2-4B16-8983-1E139C8C23C3}"/>
              </a:ext>
            </a:extLst>
          </p:cNvPr>
          <p:cNvSpPr>
            <a:spLocks xmlns:a="http://schemas.openxmlformats.org/drawingml/2006/main" noGrp="1"/>
          </p:cNvSpPr>
          <p:nvPr/>
        </p:nvSpPr>
        <p:spPr>
          <a:xfrm xmlns:a="http://schemas.openxmlformats.org/drawingml/2006/main">
            <a:off x="628650" y="2047875"/>
            <a:ext cx="3381375" cy="1428750"/>
          </a:xfrm>
          <a:prstGeom xmlns:a="http://schemas.openxmlformats.org/drawingml/2006/main" prst="rect">
            <a:avLst/>
          </a:prstGeom>
          <a:solidFill xmlns:a="http://schemas.openxmlformats.org/drawingml/2006/main">
            <a:srgbClr val="FFFDF8"/>
          </a:solidFill>
          <a:ln xmlns:a="http://schemas.openxmlformats.org/drawingml/2006/main" w="12383">
            <a:solidFill>
              <a:srgbClr val="D8D4C6"/>
            </a:solidFill>
          </a:ln>
        </p:spPr>
      </p:sp>
      <p:sp>
        <p:nvSpPr>
          <p:cNvPr id="9" name="">
            <a:extLst xmlns:a="http://schemas.openxmlformats.org/drawingml/2006/main">
              <a:ext uri="{FF2B5EF4-FFF2-40B4-BE49-F238E27FC236}">
                <a16:creationId xmlns:a16="http://schemas.microsoft.com/office/drawing/2014/main" id="{FDECB6D8-97B7-42AE-B006-599929FA0D93}"/>
              </a:ext>
            </a:extLst>
          </p:cNvPr>
          <p:cNvSpPr>
            <a:spLocks xmlns:a="http://schemas.openxmlformats.org/drawingml/2006/main" noGrp="1"/>
          </p:cNvSpPr>
          <p:nvPr/>
        </p:nvSpPr>
        <p:spPr>
          <a:xfrm xmlns:a="http://schemas.openxmlformats.org/drawingml/2006/main">
            <a:off x="628650" y="2047875"/>
            <a:ext cx="57150" cy="1428750"/>
          </a:xfrm>
          <a:prstGeom xmlns:a="http://schemas.openxmlformats.org/drawingml/2006/main" prst="rect">
            <a:avLst/>
          </a:prstGeom>
          <a:solidFill xmlns:a="http://schemas.openxmlformats.org/drawingml/2006/main">
            <a:srgbClr val="344F7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1F02202-93E1-48E0-BE49-950F95860AE5}"/>
              </a:ext>
            </a:extLst>
          </p:cNvPr>
          <p:cNvSpPr>
            <a:spLocks xmlns:a="http://schemas.openxmlformats.org/drawingml/2006/main" noGrp="1"/>
          </p:cNvSpPr>
          <p:nvPr/>
        </p:nvSpPr>
        <p:spPr>
          <a:xfrm xmlns:a="http://schemas.openxmlformats.org/drawingml/2006/main">
            <a:off x="838200" y="2190750"/>
            <a:ext cx="29622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056"/>
          </a:bodyPr>
          <a:lstStyle xmlns:a="http://schemas.openxmlformats.org/drawingml/2006/main"/>
          <a:p xmlns:a="http://schemas.openxmlformats.org/drawingml/2006/main">
            <a:pPr>
              <a:defRPr sz="900" b="1">
                <a:solidFill>
                  <a:srgbClr val="344F78"/>
                </a:solidFill>
                <a:latin typeface="Arial"/>
                <a:ea typeface="Arial"/>
                <a:cs typeface="Arial"/>
              </a:defRPr>
            </a:pPr>
            <a:r>
              <a:rPr sz="900" b="1">
                <a:solidFill>
                  <a:srgbClr val="344F78"/>
                </a:solidFill>
                <a:latin typeface="Arial"/>
                <a:ea typeface="Arial"/>
                <a:cs typeface="Arial"/>
              </a:rPr>
              <a:t>KAPLAN–MEIER</a:t>
            </a:r>
          </a:p>
        </p:txBody>
      </p:sp>
      <p:sp>
        <p:nvSpPr>
          <p:cNvPr id="11" name="">
            <a:extLst xmlns:a="http://schemas.openxmlformats.org/drawingml/2006/main">
              <a:ext uri="{FF2B5EF4-FFF2-40B4-BE49-F238E27FC236}">
                <a16:creationId xmlns:a16="http://schemas.microsoft.com/office/drawing/2014/main" id="{74010447-75C1-4BD0-B7C3-3E784261DEE7}"/>
              </a:ext>
            </a:extLst>
          </p:cNvPr>
          <p:cNvSpPr>
            <a:spLocks xmlns:a="http://schemas.openxmlformats.org/drawingml/2006/main" noGrp="1"/>
          </p:cNvSpPr>
          <p:nvPr/>
        </p:nvSpPr>
        <p:spPr>
          <a:xfrm xmlns:a="http://schemas.openxmlformats.org/drawingml/2006/main">
            <a:off x="838200" y="2495550"/>
            <a:ext cx="29622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2E3B35"/>
                </a:solidFill>
                <a:latin typeface="Georgia"/>
                <a:ea typeface="Georgia"/>
                <a:cs typeface="Georgia"/>
              </a:defRPr>
            </a:pPr>
            <a:r>
              <a:rPr sz="1350" b="0">
                <a:solidFill>
                  <a:srgbClr val="2E3B35"/>
                </a:solidFill>
                <a:latin typeface="Georgia"/>
                <a:ea typeface="Georgia"/>
                <a:cs typeface="Georgia"/>
              </a:rPr>
              <a:t>Sống sót khỏi default khi ZBC 01 bị kiểm duyệt. 1 − KM không phải Default CIF.</a:t>
            </a:r>
          </a:p>
        </p:txBody>
      </p:sp>
      <p:sp>
        <p:nvSpPr>
          <p:cNvPr id="12" name="">
            <a:extLst xmlns:a="http://schemas.openxmlformats.org/drawingml/2006/main">
              <a:ext uri="{FF2B5EF4-FFF2-40B4-BE49-F238E27FC236}">
                <a16:creationId xmlns:a16="http://schemas.microsoft.com/office/drawing/2014/main" id="{1F3AA3D3-E8A5-4608-89D7-CDECED2146BD}"/>
              </a:ext>
            </a:extLst>
          </p:cNvPr>
          <p:cNvSpPr>
            <a:spLocks xmlns:a="http://schemas.openxmlformats.org/drawingml/2006/main" noGrp="1"/>
          </p:cNvSpPr>
          <p:nvPr/>
        </p:nvSpPr>
        <p:spPr>
          <a:xfrm xmlns:a="http://schemas.openxmlformats.org/drawingml/2006/main">
            <a:off x="4400550" y="2047875"/>
            <a:ext cx="3381375" cy="1428750"/>
          </a:xfrm>
          <a:prstGeom xmlns:a="http://schemas.openxmlformats.org/drawingml/2006/main" prst="rect">
            <a:avLst/>
          </a:prstGeom>
          <a:solidFill xmlns:a="http://schemas.openxmlformats.org/drawingml/2006/main">
            <a:srgbClr val="FFFDF8"/>
          </a:solidFill>
          <a:ln xmlns:a="http://schemas.openxmlformats.org/drawingml/2006/main" w="12383">
            <a:solidFill>
              <a:srgbClr val="D8D4C6"/>
            </a:solidFill>
          </a:ln>
        </p:spPr>
      </p:sp>
      <p:sp>
        <p:nvSpPr>
          <p:cNvPr id="13" name="">
            <a:extLst xmlns:a="http://schemas.openxmlformats.org/drawingml/2006/main">
              <a:ext uri="{FF2B5EF4-FFF2-40B4-BE49-F238E27FC236}">
                <a16:creationId xmlns:a16="http://schemas.microsoft.com/office/drawing/2014/main" id="{9927AD67-9673-493C-A2FE-BE27060635D4}"/>
              </a:ext>
            </a:extLst>
          </p:cNvPr>
          <p:cNvSpPr>
            <a:spLocks xmlns:a="http://schemas.openxmlformats.org/drawingml/2006/main" noGrp="1"/>
          </p:cNvSpPr>
          <p:nvPr/>
        </p:nvSpPr>
        <p:spPr>
          <a:xfrm xmlns:a="http://schemas.openxmlformats.org/drawingml/2006/main">
            <a:off x="4400550" y="2047875"/>
            <a:ext cx="57150" cy="1428750"/>
          </a:xfrm>
          <a:prstGeom xmlns:a="http://schemas.openxmlformats.org/drawingml/2006/main" prst="rect">
            <a:avLst/>
          </a:prstGeom>
          <a:solidFill xmlns:a="http://schemas.openxmlformats.org/drawingml/2006/main">
            <a:srgbClr val="B8625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8BA4D72-AA72-45FE-BC81-89D69BB4852E}"/>
              </a:ext>
            </a:extLst>
          </p:cNvPr>
          <p:cNvSpPr>
            <a:spLocks xmlns:a="http://schemas.openxmlformats.org/drawingml/2006/main" noGrp="1"/>
          </p:cNvSpPr>
          <p:nvPr/>
        </p:nvSpPr>
        <p:spPr>
          <a:xfrm xmlns:a="http://schemas.openxmlformats.org/drawingml/2006/main">
            <a:off x="4610100" y="2190750"/>
            <a:ext cx="29622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056"/>
          </a:bodyPr>
          <a:lstStyle xmlns:a="http://schemas.openxmlformats.org/drawingml/2006/main"/>
          <a:p xmlns:a="http://schemas.openxmlformats.org/drawingml/2006/main">
            <a:pPr>
              <a:defRPr sz="900" b="1">
                <a:solidFill>
                  <a:srgbClr val="B86252"/>
                </a:solidFill>
                <a:latin typeface="Arial"/>
                <a:ea typeface="Arial"/>
                <a:cs typeface="Arial"/>
              </a:defRPr>
            </a:pPr>
            <a:r>
              <a:rPr sz="900" b="1">
                <a:solidFill>
                  <a:srgbClr val="B86252"/>
                </a:solidFill>
                <a:latin typeface="Arial"/>
                <a:ea typeface="Arial"/>
                <a:cs typeface="Arial"/>
              </a:rPr>
              <a:t>AALEN–JOHANSEN</a:t>
            </a:r>
          </a:p>
        </p:txBody>
      </p:sp>
      <p:sp>
        <p:nvSpPr>
          <p:cNvPr id="15" name="">
            <a:extLst xmlns:a="http://schemas.openxmlformats.org/drawingml/2006/main">
              <a:ext uri="{FF2B5EF4-FFF2-40B4-BE49-F238E27FC236}">
                <a16:creationId xmlns:a16="http://schemas.microsoft.com/office/drawing/2014/main" id="{DE08DFEC-F777-41BF-A6C2-79786401AB7B}"/>
              </a:ext>
            </a:extLst>
          </p:cNvPr>
          <p:cNvSpPr>
            <a:spLocks xmlns:a="http://schemas.openxmlformats.org/drawingml/2006/main" noGrp="1"/>
          </p:cNvSpPr>
          <p:nvPr/>
        </p:nvSpPr>
        <p:spPr>
          <a:xfrm xmlns:a="http://schemas.openxmlformats.org/drawingml/2006/main">
            <a:off x="4610100" y="2495550"/>
            <a:ext cx="29622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2E3B35"/>
                </a:solidFill>
                <a:latin typeface="Georgia"/>
                <a:ea typeface="Georgia"/>
                <a:cs typeface="Georgia"/>
              </a:defRPr>
            </a:pPr>
            <a:r>
              <a:rPr sz="1350" b="0">
                <a:solidFill>
                  <a:srgbClr val="2E3B35"/>
                </a:solidFill>
                <a:latin typeface="Georgia"/>
                <a:ea typeface="Georgia"/>
                <a:cs typeface="Georgia"/>
              </a:rPr>
              <a:t>CIF: xác suất tích lũy của từng kết cục khi có competing risk.</a:t>
            </a:r>
          </a:p>
        </p:txBody>
      </p:sp>
      <p:sp>
        <p:nvSpPr>
          <p:cNvPr id="16" name="">
            <a:extLst xmlns:a="http://schemas.openxmlformats.org/drawingml/2006/main">
              <a:ext uri="{FF2B5EF4-FFF2-40B4-BE49-F238E27FC236}">
                <a16:creationId xmlns:a16="http://schemas.microsoft.com/office/drawing/2014/main" id="{68D3D683-1E8A-4A4B-93ED-B4DC63CAF08E}"/>
              </a:ext>
            </a:extLst>
          </p:cNvPr>
          <p:cNvSpPr>
            <a:spLocks xmlns:a="http://schemas.openxmlformats.org/drawingml/2006/main" noGrp="1"/>
          </p:cNvSpPr>
          <p:nvPr/>
        </p:nvSpPr>
        <p:spPr>
          <a:xfrm xmlns:a="http://schemas.openxmlformats.org/drawingml/2006/main">
            <a:off x="8172450" y="2047875"/>
            <a:ext cx="3381375" cy="1428750"/>
          </a:xfrm>
          <a:prstGeom xmlns:a="http://schemas.openxmlformats.org/drawingml/2006/main" prst="rect">
            <a:avLst/>
          </a:prstGeom>
          <a:solidFill xmlns:a="http://schemas.openxmlformats.org/drawingml/2006/main">
            <a:srgbClr val="FFFDF8"/>
          </a:solidFill>
          <a:ln xmlns:a="http://schemas.openxmlformats.org/drawingml/2006/main" w="12383">
            <a:solidFill>
              <a:srgbClr val="D8D4C6"/>
            </a:solidFill>
          </a:ln>
        </p:spPr>
      </p:sp>
      <p:sp>
        <p:nvSpPr>
          <p:cNvPr id="17" name="">
            <a:extLst xmlns:a="http://schemas.openxmlformats.org/drawingml/2006/main">
              <a:ext uri="{FF2B5EF4-FFF2-40B4-BE49-F238E27FC236}">
                <a16:creationId xmlns:a16="http://schemas.microsoft.com/office/drawing/2014/main" id="{93E4F70F-A460-4BD5-9B0B-7E6FA434026B}"/>
              </a:ext>
            </a:extLst>
          </p:cNvPr>
          <p:cNvSpPr>
            <a:spLocks xmlns:a="http://schemas.openxmlformats.org/drawingml/2006/main" noGrp="1"/>
          </p:cNvSpPr>
          <p:nvPr/>
        </p:nvSpPr>
        <p:spPr>
          <a:xfrm xmlns:a="http://schemas.openxmlformats.org/drawingml/2006/main">
            <a:off x="8172450" y="2047875"/>
            <a:ext cx="57150" cy="1428750"/>
          </a:xfrm>
          <a:prstGeom xmlns:a="http://schemas.openxmlformats.org/drawingml/2006/main" prst="rect">
            <a:avLst/>
          </a:prstGeom>
          <a:solidFill xmlns:a="http://schemas.openxmlformats.org/drawingml/2006/main">
            <a:srgbClr val="64816D"/>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05A2788-97B4-4791-9881-4E3AA2976588}"/>
              </a:ext>
            </a:extLst>
          </p:cNvPr>
          <p:cNvSpPr>
            <a:spLocks xmlns:a="http://schemas.openxmlformats.org/drawingml/2006/main" noGrp="1"/>
          </p:cNvSpPr>
          <p:nvPr/>
        </p:nvSpPr>
        <p:spPr>
          <a:xfrm xmlns:a="http://schemas.openxmlformats.org/drawingml/2006/main">
            <a:off x="8382000" y="2190750"/>
            <a:ext cx="29622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056"/>
          </a:bodyPr>
          <a:lstStyle xmlns:a="http://schemas.openxmlformats.org/drawingml/2006/main"/>
          <a:p xmlns:a="http://schemas.openxmlformats.org/drawingml/2006/main">
            <a:pPr>
              <a:defRPr sz="900" b="1">
                <a:solidFill>
                  <a:srgbClr val="64816D"/>
                </a:solidFill>
                <a:latin typeface="Arial"/>
                <a:ea typeface="Arial"/>
                <a:cs typeface="Arial"/>
              </a:defRPr>
            </a:pPr>
            <a:r>
              <a:rPr sz="900" b="1">
                <a:solidFill>
                  <a:srgbClr val="64816D"/>
                </a:solidFill>
                <a:latin typeface="Arial"/>
                <a:ea typeface="Arial"/>
                <a:cs typeface="Arial"/>
              </a:rPr>
              <a:t>COX / FINE–GRAY</a:t>
            </a:r>
          </a:p>
        </p:txBody>
      </p:sp>
      <p:sp>
        <p:nvSpPr>
          <p:cNvPr id="19" name="">
            <a:extLst xmlns:a="http://schemas.openxmlformats.org/drawingml/2006/main">
              <a:ext uri="{FF2B5EF4-FFF2-40B4-BE49-F238E27FC236}">
                <a16:creationId xmlns:a16="http://schemas.microsoft.com/office/drawing/2014/main" id="{05F1D72D-D2A9-458B-891F-2470EE6527AC}"/>
              </a:ext>
            </a:extLst>
          </p:cNvPr>
          <p:cNvSpPr>
            <a:spLocks xmlns:a="http://schemas.openxmlformats.org/drawingml/2006/main" noGrp="1"/>
          </p:cNvSpPr>
          <p:nvPr/>
        </p:nvSpPr>
        <p:spPr>
          <a:xfrm xmlns:a="http://schemas.openxmlformats.org/drawingml/2006/main">
            <a:off x="8382000" y="2495550"/>
            <a:ext cx="29622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2E3B35"/>
                </a:solidFill>
                <a:latin typeface="Georgia"/>
                <a:ea typeface="Georgia"/>
                <a:cs typeface="Georgia"/>
              </a:defRPr>
            </a:pPr>
            <a:r>
              <a:rPr sz="1350" b="0">
                <a:solidFill>
                  <a:srgbClr val="2E3B35"/>
                </a:solidFill>
                <a:latin typeface="Georgia"/>
                <a:ea typeface="Georgia"/>
                <a:cs typeface="Georgia"/>
              </a:rPr>
              <a:t>HR hoặc SHR mô tả liên hệ theo giả định mô hình; không phải xác suất cá nhân.</a:t>
            </a:r>
          </a:p>
        </p:txBody>
      </p:sp>
      <p:sp>
        <p:nvSpPr>
          <p:cNvPr id="20" name="">
            <a:extLst xmlns:a="http://schemas.openxmlformats.org/drawingml/2006/main">
              <a:ext uri="{FF2B5EF4-FFF2-40B4-BE49-F238E27FC236}">
                <a16:creationId xmlns:a16="http://schemas.microsoft.com/office/drawing/2014/main" id="{1387647B-1D7A-462C-B4C1-44D78FF479B7}"/>
              </a:ext>
            </a:extLst>
          </p:cNvPr>
          <p:cNvSpPr>
            <a:spLocks xmlns:a="http://schemas.openxmlformats.org/drawingml/2006/main" noGrp="1"/>
          </p:cNvSpPr>
          <p:nvPr/>
        </p:nvSpPr>
        <p:spPr>
          <a:xfrm xmlns:a="http://schemas.openxmlformats.org/drawingml/2006/main">
            <a:off x="857250" y="4162425"/>
            <a:ext cx="104298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2E3B35"/>
                </a:solidFill>
                <a:latin typeface="Georgia"/>
                <a:ea typeface="Georgia"/>
                <a:cs typeface="Georgia"/>
              </a:defRPr>
            </a:pPr>
            <a:r>
              <a:rPr sz="1575" b="0">
                <a:solidFill>
                  <a:srgbClr val="2E3B35"/>
                </a:solidFill>
                <a:latin typeface="Georgia"/>
                <a:ea typeface="Georgia"/>
                <a:cs typeface="Georgia"/>
              </a:rPr>
              <a:t>Kiểm tra proportional hazards và báo cáo CI. Khi giả định PH không đạt, phải nêu cảnh báo và thận trọng với diễn giải hệ số bất biến theo thời gian.</a:t>
            </a:r>
          </a:p>
        </p:txBody>
      </p:sp>
    </p:spTree>
    <p:extLst>
      <p:ext uri="{BB962C8B-B14F-4D97-AF65-F5344CB8AC3E}">
        <p14:creationId xmlns:p14="http://schemas.microsoft.com/office/powerpoint/2010/main" val="826286770"/>
      </p:ext>
    </p:extLst>
  </p:cSld>
</p:sld>
</file>

<file path=ppt/slides/slide8.xml><?xml version="1.0" encoding="utf-8"?>
<p:sld xmlns:p="http://schemas.openxmlformats.org/presentationml/2006/main">
  <p:cSld>
    <p:bg>
      <p:bgPr>
        <a:solidFill xmlns:a="http://schemas.openxmlformats.org/drawingml/2006/main">
          <a:srgbClr val="F1EFE6"/>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52540EF8-8B4C-4BB9-9CBB-B18620BCF726}"/>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2E3B3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25A9E7E-039F-4D75-A743-4CE9D9F66609}"/>
              </a:ext>
            </a:extLst>
          </p:cNvPr>
          <p:cNvSpPr>
            <a:spLocks xmlns:a="http://schemas.openxmlformats.org/drawingml/2006/main" noGrp="1"/>
          </p:cNvSpPr>
          <p:nvPr/>
        </p:nvSpPr>
        <p:spPr>
          <a:xfrm xmlns:a="http://schemas.openxmlformats.org/drawingml/2006/main">
            <a:off x="609600" y="3238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defRPr sz="1050" b="1">
                <a:solidFill>
                  <a:srgbClr val="B5A15B"/>
                </a:solidFill>
                <a:latin typeface="Arial"/>
                <a:ea typeface="Arial"/>
                <a:cs typeface="Arial"/>
              </a:defRPr>
            </a:pPr>
            <a:r>
              <a:rPr sz="1050" b="1">
                <a:solidFill>
                  <a:srgbClr val="B5A15B"/>
                </a:solidFill>
                <a:latin typeface="Arial"/>
                <a:ea typeface="Arial"/>
                <a:cs typeface="Arial"/>
              </a:rPr>
              <a:t>07 · KẾT QUẢ DANH MỤC</a:t>
            </a:r>
          </a:p>
        </p:txBody>
      </p:sp>
      <p:sp>
        <p:nvSpPr>
          <p:cNvPr id="3" name="">
            <a:extLst xmlns:a="http://schemas.openxmlformats.org/drawingml/2006/main">
              <a:ext uri="{FF2B5EF4-FFF2-40B4-BE49-F238E27FC236}">
                <a16:creationId xmlns:a16="http://schemas.microsoft.com/office/drawing/2014/main" id="{7D729417-DF3D-459A-BA89-EC920D0200BC}"/>
              </a:ext>
            </a:extLst>
          </p:cNvPr>
          <p:cNvSpPr>
            <a:spLocks xmlns:a="http://schemas.openxmlformats.org/drawingml/2006/main" noGrp="1"/>
          </p:cNvSpPr>
          <p:nvPr/>
        </p:nvSpPr>
        <p:spPr>
          <a:xfrm xmlns:a="http://schemas.openxmlformats.org/drawingml/2006/main">
            <a:off x="609600" y="6477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850" b="1">
                <a:solidFill>
                  <a:srgbClr val="2E3B35"/>
                </a:solidFill>
                <a:latin typeface="Georgia"/>
                <a:ea typeface="Georgia"/>
                <a:cs typeface="Georgia"/>
              </a:defRPr>
            </a:pPr>
            <a:r>
              <a:rPr sz="2850" b="1">
                <a:solidFill>
                  <a:srgbClr val="2E3B35"/>
                </a:solidFill>
                <a:latin typeface="Georgia"/>
                <a:ea typeface="Georgia"/>
                <a:cs typeface="Georgia"/>
              </a:rPr>
              <a:t>Default CIF và CIF của ZBC 01</a:t>
            </a:r>
          </a:p>
        </p:txBody>
      </p:sp>
      <p:sp>
        <p:nvSpPr>
          <p:cNvPr id="4" name="">
            <a:extLst xmlns:a="http://schemas.openxmlformats.org/drawingml/2006/main">
              <a:ext uri="{FF2B5EF4-FFF2-40B4-BE49-F238E27FC236}">
                <a16:creationId xmlns:a16="http://schemas.microsoft.com/office/drawing/2014/main" id="{E9E2F30E-0764-407C-B79E-C982F186D3EC}"/>
              </a:ext>
            </a:extLst>
          </p:cNvPr>
          <p:cNvSpPr>
            <a:spLocks xmlns:a="http://schemas.openxmlformats.org/drawingml/2006/main" noGrp="1"/>
          </p:cNvSpPr>
          <p:nvPr/>
        </p:nvSpPr>
        <p:spPr>
          <a:xfrm xmlns:a="http://schemas.openxmlformats.org/drawingml/2006/main">
            <a:off x="628650" y="13239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748078"/>
                </a:solidFill>
                <a:latin typeface="Georgia"/>
                <a:ea typeface="Georgia"/>
                <a:cs typeface="Georgia"/>
              </a:defRPr>
            </a:pPr>
            <a:r>
              <a:rPr sz="1425" b="0">
                <a:solidFill>
                  <a:srgbClr val="748078"/>
                </a:solidFill>
                <a:latin typeface="Georgia"/>
                <a:ea typeface="Georgia"/>
                <a:cs typeface="Georgia"/>
              </a:rPr>
              <a:t>Điểm ước lượng tại các mốc horizon được công bố trong release.</a:t>
            </a:r>
          </a:p>
        </p:txBody>
      </p:sp>
      <p:sp>
        <p:nvSpPr>
          <p:cNvPr id="5" name="">
            <a:extLst xmlns:a="http://schemas.openxmlformats.org/drawingml/2006/main">
              <a:ext uri="{FF2B5EF4-FFF2-40B4-BE49-F238E27FC236}">
                <a16:creationId xmlns:a16="http://schemas.microsoft.com/office/drawing/2014/main" id="{70DE55BD-A801-47F3-92A1-270A4309FB38}"/>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8D4C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9029E47-48AD-459C-BFA2-24E1433D27EE}"/>
              </a:ext>
            </a:extLst>
          </p:cNvPr>
          <p:cNvSpPr>
            <a:spLocks xmlns:a="http://schemas.openxmlformats.org/drawingml/2006/main" noGrp="1"/>
          </p:cNvSpPr>
          <p:nvPr/>
        </p:nvSpPr>
        <p:spPr>
          <a:xfrm xmlns:a="http://schemas.openxmlformats.org/drawingml/2006/main">
            <a:off x="628650" y="649605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0">
                <a:solidFill>
                  <a:srgbClr val="748078"/>
                </a:solidFill>
                <a:latin typeface="Arial"/>
                <a:ea typeface="Arial"/>
                <a:cs typeface="Arial"/>
              </a:defRPr>
            </a:pPr>
            <a:r>
              <a:rPr sz="750" b="0">
                <a:solidFill>
                  <a:srgbClr val="748078"/>
                </a:solidFill>
                <a:latin typeface="Arial"/>
                <a:ea typeface="Arial"/>
                <a:cs typeface="Arial"/>
              </a:rPr>
              <a:t>Mortgage Default &amp; Prepayment · Freddie Mac 2016–2026</a:t>
            </a:r>
          </a:p>
        </p:txBody>
      </p:sp>
      <p:sp>
        <p:nvSpPr>
          <p:cNvPr id="7" name="">
            <a:extLst xmlns:a="http://schemas.openxmlformats.org/drawingml/2006/main">
              <a:ext uri="{FF2B5EF4-FFF2-40B4-BE49-F238E27FC236}">
                <a16:creationId xmlns:a16="http://schemas.microsoft.com/office/drawing/2014/main" id="{871866DE-C056-4EAF-ABD0-3A2E94B14ABB}"/>
              </a:ext>
            </a:extLst>
          </p:cNvPr>
          <p:cNvSpPr>
            <a:spLocks xmlns:a="http://schemas.openxmlformats.org/drawingml/2006/main" noGrp="1"/>
          </p:cNvSpPr>
          <p:nvPr/>
        </p:nvSpPr>
        <p:spPr>
          <a:xfrm xmlns:a="http://schemas.openxmlformats.org/drawingml/2006/main">
            <a:off x="11049000" y="647700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0">
                <a:solidFill>
                  <a:srgbClr val="748078"/>
                </a:solidFill>
                <a:latin typeface="Arial"/>
                <a:ea typeface="Arial"/>
                <a:cs typeface="Arial"/>
              </a:defRPr>
            </a:pPr>
            <a:r>
              <a:rPr sz="825" b="0">
                <a:solidFill>
                  <a:srgbClr val="748078"/>
                </a:solidFill>
                <a:latin typeface="Arial"/>
                <a:ea typeface="Arial"/>
                <a:cs typeface="Arial"/>
              </a:rPr>
              <a:t>08</a:t>
            </a:r>
          </a:p>
        </p:txBody>
      </p:sp>
      <p:sp>
        <p:nvSpPr>
          <p:cNvPr id="8" name="">
            <a:extLst xmlns:a="http://schemas.openxmlformats.org/drawingml/2006/main">
              <a:ext uri="{FF2B5EF4-FFF2-40B4-BE49-F238E27FC236}">
                <a16:creationId xmlns:a16="http://schemas.microsoft.com/office/drawing/2014/main" id="{2F71687D-6D6D-4600-9E34-4D92102DB12B}"/>
              </a:ext>
            </a:extLst>
          </p:cNvPr>
          <p:cNvSpPr>
            <a:spLocks xmlns:a="http://schemas.openxmlformats.org/drawingml/2006/main" noGrp="1"/>
          </p:cNvSpPr>
          <p:nvPr/>
        </p:nvSpPr>
        <p:spPr>
          <a:xfrm xmlns:a="http://schemas.openxmlformats.org/drawingml/2006/main">
            <a:off x="876300" y="2524125"/>
            <a:ext cx="233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748078"/>
                </a:solidFill>
                <a:latin typeface="Arial"/>
                <a:ea typeface="Arial"/>
                <a:cs typeface="Arial"/>
              </a:defRPr>
            </a:pPr>
            <a:r>
              <a:rPr sz="1050" b="1">
                <a:solidFill>
                  <a:srgbClr val="748078"/>
                </a:solidFill>
                <a:latin typeface="Arial"/>
                <a:ea typeface="Arial"/>
                <a:cs typeface="Arial"/>
              </a:rPr>
              <a:t>KẾT CỤC</a:t>
            </a:r>
          </a:p>
        </p:txBody>
      </p:sp>
      <p:sp>
        <p:nvSpPr>
          <p:cNvPr id="9" name="">
            <a:extLst xmlns:a="http://schemas.openxmlformats.org/drawingml/2006/main">
              <a:ext uri="{FF2B5EF4-FFF2-40B4-BE49-F238E27FC236}">
                <a16:creationId xmlns:a16="http://schemas.microsoft.com/office/drawing/2014/main" id="{CED2EF1B-B1C5-4FF1-BD9B-29A5ED34B19A}"/>
              </a:ext>
            </a:extLst>
          </p:cNvPr>
          <p:cNvSpPr>
            <a:spLocks xmlns:a="http://schemas.openxmlformats.org/drawingml/2006/main" noGrp="1"/>
          </p:cNvSpPr>
          <p:nvPr/>
        </p:nvSpPr>
        <p:spPr>
          <a:xfrm xmlns:a="http://schemas.openxmlformats.org/drawingml/2006/main">
            <a:off x="2619375" y="2447925"/>
            <a:ext cx="2000250" cy="476250"/>
          </a:xfrm>
          <a:prstGeom xmlns:a="http://schemas.openxmlformats.org/drawingml/2006/main" prst="rect">
            <a:avLst/>
          </a:prstGeom>
          <a:solidFill xmlns:a="http://schemas.openxmlformats.org/drawingml/2006/main">
            <a:srgbClr val="2E3B3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66E73CB-8080-4AE6-86AE-30D0C23CFF20}"/>
              </a:ext>
            </a:extLst>
          </p:cNvPr>
          <p:cNvSpPr>
            <a:spLocks xmlns:a="http://schemas.openxmlformats.org/drawingml/2006/main" noGrp="1"/>
          </p:cNvSpPr>
          <p:nvPr/>
        </p:nvSpPr>
        <p:spPr>
          <a:xfrm xmlns:a="http://schemas.openxmlformats.org/drawingml/2006/main">
            <a:off x="2619375" y="249555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FFFDF8"/>
                </a:solidFill>
                <a:latin typeface="Arial"/>
                <a:ea typeface="Arial"/>
                <a:cs typeface="Arial"/>
              </a:defRPr>
            </a:pPr>
            <a:r>
              <a:rPr sz="1200" b="1">
                <a:solidFill>
                  <a:srgbClr val="FFFDF8"/>
                </a:solidFill>
                <a:latin typeface="Arial"/>
                <a:ea typeface="Arial"/>
                <a:cs typeface="Arial"/>
              </a:rPr>
              <a:t>12 tháng</a:t>
            </a:r>
          </a:p>
        </p:txBody>
      </p:sp>
      <p:sp>
        <p:nvSpPr>
          <p:cNvPr id="11" name="">
            <a:extLst xmlns:a="http://schemas.openxmlformats.org/drawingml/2006/main">
              <a:ext uri="{FF2B5EF4-FFF2-40B4-BE49-F238E27FC236}">
                <a16:creationId xmlns:a16="http://schemas.microsoft.com/office/drawing/2014/main" id="{0030928C-1E6E-4B6F-8458-73F90907443C}"/>
              </a:ext>
            </a:extLst>
          </p:cNvPr>
          <p:cNvSpPr>
            <a:spLocks xmlns:a="http://schemas.openxmlformats.org/drawingml/2006/main" noGrp="1"/>
          </p:cNvSpPr>
          <p:nvPr/>
        </p:nvSpPr>
        <p:spPr>
          <a:xfrm xmlns:a="http://schemas.openxmlformats.org/drawingml/2006/main">
            <a:off x="4714875" y="2447925"/>
            <a:ext cx="2000250" cy="476250"/>
          </a:xfrm>
          <a:prstGeom xmlns:a="http://schemas.openxmlformats.org/drawingml/2006/main" prst="rect">
            <a:avLst/>
          </a:prstGeom>
          <a:solidFill xmlns:a="http://schemas.openxmlformats.org/drawingml/2006/main">
            <a:srgbClr val="2E3B3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F823365-F0D6-49F3-B31F-9108D1DFAE21}"/>
              </a:ext>
            </a:extLst>
          </p:cNvPr>
          <p:cNvSpPr>
            <a:spLocks xmlns:a="http://schemas.openxmlformats.org/drawingml/2006/main" noGrp="1"/>
          </p:cNvSpPr>
          <p:nvPr/>
        </p:nvSpPr>
        <p:spPr>
          <a:xfrm xmlns:a="http://schemas.openxmlformats.org/drawingml/2006/main">
            <a:off x="4714875" y="249555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FFFDF8"/>
                </a:solidFill>
                <a:latin typeface="Arial"/>
                <a:ea typeface="Arial"/>
                <a:cs typeface="Arial"/>
              </a:defRPr>
            </a:pPr>
            <a:r>
              <a:rPr sz="1200" b="1">
                <a:solidFill>
                  <a:srgbClr val="FFFDF8"/>
                </a:solidFill>
                <a:latin typeface="Arial"/>
                <a:ea typeface="Arial"/>
                <a:cs typeface="Arial"/>
              </a:rPr>
              <a:t>24 tháng</a:t>
            </a:r>
          </a:p>
        </p:txBody>
      </p:sp>
      <p:sp>
        <p:nvSpPr>
          <p:cNvPr id="13" name="">
            <a:extLst xmlns:a="http://schemas.openxmlformats.org/drawingml/2006/main">
              <a:ext uri="{FF2B5EF4-FFF2-40B4-BE49-F238E27FC236}">
                <a16:creationId xmlns:a16="http://schemas.microsoft.com/office/drawing/2014/main" id="{E01B8F37-5B20-4AC1-B6CE-C9C5B0FB0F50}"/>
              </a:ext>
            </a:extLst>
          </p:cNvPr>
          <p:cNvSpPr>
            <a:spLocks xmlns:a="http://schemas.openxmlformats.org/drawingml/2006/main" noGrp="1"/>
          </p:cNvSpPr>
          <p:nvPr/>
        </p:nvSpPr>
        <p:spPr>
          <a:xfrm xmlns:a="http://schemas.openxmlformats.org/drawingml/2006/main">
            <a:off x="6810375" y="2447925"/>
            <a:ext cx="2000250" cy="476250"/>
          </a:xfrm>
          <a:prstGeom xmlns:a="http://schemas.openxmlformats.org/drawingml/2006/main" prst="rect">
            <a:avLst/>
          </a:prstGeom>
          <a:solidFill xmlns:a="http://schemas.openxmlformats.org/drawingml/2006/main">
            <a:srgbClr val="2E3B3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BD7B7C4-4FB2-486E-8C58-8FA19E7BC79F}"/>
              </a:ext>
            </a:extLst>
          </p:cNvPr>
          <p:cNvSpPr>
            <a:spLocks xmlns:a="http://schemas.openxmlformats.org/drawingml/2006/main" noGrp="1"/>
          </p:cNvSpPr>
          <p:nvPr/>
        </p:nvSpPr>
        <p:spPr>
          <a:xfrm xmlns:a="http://schemas.openxmlformats.org/drawingml/2006/main">
            <a:off x="6810375" y="249555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FFFDF8"/>
                </a:solidFill>
                <a:latin typeface="Arial"/>
                <a:ea typeface="Arial"/>
                <a:cs typeface="Arial"/>
              </a:defRPr>
            </a:pPr>
            <a:r>
              <a:rPr sz="1200" b="1">
                <a:solidFill>
                  <a:srgbClr val="FFFDF8"/>
                </a:solidFill>
                <a:latin typeface="Arial"/>
                <a:ea typeface="Arial"/>
                <a:cs typeface="Arial"/>
              </a:rPr>
              <a:t>36 tháng</a:t>
            </a:r>
          </a:p>
        </p:txBody>
      </p:sp>
      <p:sp>
        <p:nvSpPr>
          <p:cNvPr id="15" name="">
            <a:extLst xmlns:a="http://schemas.openxmlformats.org/drawingml/2006/main">
              <a:ext uri="{FF2B5EF4-FFF2-40B4-BE49-F238E27FC236}">
                <a16:creationId xmlns:a16="http://schemas.microsoft.com/office/drawing/2014/main" id="{5D3453EF-80B9-4A4E-BA3D-A3FB9134EC2F}"/>
              </a:ext>
            </a:extLst>
          </p:cNvPr>
          <p:cNvSpPr>
            <a:spLocks xmlns:a="http://schemas.openxmlformats.org/drawingml/2006/main" noGrp="1"/>
          </p:cNvSpPr>
          <p:nvPr/>
        </p:nvSpPr>
        <p:spPr>
          <a:xfrm xmlns:a="http://schemas.openxmlformats.org/drawingml/2006/main">
            <a:off x="8905875" y="2447925"/>
            <a:ext cx="2000250" cy="476250"/>
          </a:xfrm>
          <a:prstGeom xmlns:a="http://schemas.openxmlformats.org/drawingml/2006/main" prst="rect">
            <a:avLst/>
          </a:prstGeom>
          <a:solidFill xmlns:a="http://schemas.openxmlformats.org/drawingml/2006/main">
            <a:srgbClr val="2E3B3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A5ECE66-D241-46C0-AB3B-5F92B1754FA5}"/>
              </a:ext>
            </a:extLst>
          </p:cNvPr>
          <p:cNvSpPr>
            <a:spLocks xmlns:a="http://schemas.openxmlformats.org/drawingml/2006/main" noGrp="1"/>
          </p:cNvSpPr>
          <p:nvPr/>
        </p:nvSpPr>
        <p:spPr>
          <a:xfrm xmlns:a="http://schemas.openxmlformats.org/drawingml/2006/main">
            <a:off x="8905875" y="249555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FFFDF8"/>
                </a:solidFill>
                <a:latin typeface="Arial"/>
                <a:ea typeface="Arial"/>
                <a:cs typeface="Arial"/>
              </a:defRPr>
            </a:pPr>
            <a:r>
              <a:rPr sz="1200" b="1">
                <a:solidFill>
                  <a:srgbClr val="FFFDF8"/>
                </a:solidFill>
                <a:latin typeface="Arial"/>
                <a:ea typeface="Arial"/>
                <a:cs typeface="Arial"/>
              </a:rPr>
              <a:t>60 tháng</a:t>
            </a:r>
          </a:p>
        </p:txBody>
      </p:sp>
      <p:sp>
        <p:nvSpPr>
          <p:cNvPr id="17" name="">
            <a:extLst xmlns:a="http://schemas.openxmlformats.org/drawingml/2006/main">
              <a:ext uri="{FF2B5EF4-FFF2-40B4-BE49-F238E27FC236}">
                <a16:creationId xmlns:a16="http://schemas.microsoft.com/office/drawing/2014/main" id="{68CC88DB-5809-44A7-A71D-B1D635B6E057}"/>
              </a:ext>
            </a:extLst>
          </p:cNvPr>
          <p:cNvSpPr>
            <a:spLocks xmlns:a="http://schemas.openxmlformats.org/drawingml/2006/main" noGrp="1"/>
          </p:cNvSpPr>
          <p:nvPr/>
        </p:nvSpPr>
        <p:spPr>
          <a:xfrm xmlns:a="http://schemas.openxmlformats.org/drawingml/2006/main">
            <a:off x="857250" y="3038475"/>
            <a:ext cx="10572750" cy="1066800"/>
          </a:xfrm>
          <a:prstGeom xmlns:a="http://schemas.openxmlformats.org/drawingml/2006/main" prst="rect">
            <a:avLst/>
          </a:prstGeom>
          <a:solidFill xmlns:a="http://schemas.openxmlformats.org/drawingml/2006/main">
            <a:srgbClr val="FFFDF8"/>
          </a:solidFill>
          <a:ln xmlns:a="http://schemas.openxmlformats.org/drawingml/2006/main" w="9525">
            <a:solidFill>
              <a:srgbClr val="D8D4C6"/>
            </a:solidFill>
          </a:ln>
        </p:spPr>
      </p:sp>
      <p:sp>
        <p:nvSpPr>
          <p:cNvPr id="18" name="">
            <a:extLst xmlns:a="http://schemas.openxmlformats.org/drawingml/2006/main">
              <a:ext uri="{FF2B5EF4-FFF2-40B4-BE49-F238E27FC236}">
                <a16:creationId xmlns:a16="http://schemas.microsoft.com/office/drawing/2014/main" id="{E15535E1-FE74-4D81-8B1A-A48A5AA96B7D}"/>
              </a:ext>
            </a:extLst>
          </p:cNvPr>
          <p:cNvSpPr>
            <a:spLocks xmlns:a="http://schemas.openxmlformats.org/drawingml/2006/main" noGrp="1"/>
          </p:cNvSpPr>
          <p:nvPr/>
        </p:nvSpPr>
        <p:spPr>
          <a:xfrm xmlns:a="http://schemas.openxmlformats.org/drawingml/2006/main">
            <a:off x="857250" y="3038475"/>
            <a:ext cx="66675" cy="1066800"/>
          </a:xfrm>
          <a:prstGeom xmlns:a="http://schemas.openxmlformats.org/drawingml/2006/main" prst="rect">
            <a:avLst/>
          </a:prstGeom>
          <a:solidFill xmlns:a="http://schemas.openxmlformats.org/drawingml/2006/main">
            <a:srgbClr val="B8625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A30CD5B-2BE6-4F7B-99FD-8CCD96403D89}"/>
              </a:ext>
            </a:extLst>
          </p:cNvPr>
          <p:cNvSpPr>
            <a:spLocks xmlns:a="http://schemas.openxmlformats.org/drawingml/2006/main" noGrp="1"/>
          </p:cNvSpPr>
          <p:nvPr/>
        </p:nvSpPr>
        <p:spPr>
          <a:xfrm xmlns:a="http://schemas.openxmlformats.org/drawingml/2006/main">
            <a:off x="1104900" y="3152775"/>
            <a:ext cx="13811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2E3B35"/>
                </a:solidFill>
                <a:latin typeface="Georgia"/>
                <a:ea typeface="Georgia"/>
                <a:cs typeface="Georgia"/>
              </a:defRPr>
            </a:pPr>
            <a:r>
              <a:rPr sz="1350" b="1">
                <a:solidFill>
                  <a:srgbClr val="2E3B35"/>
                </a:solidFill>
                <a:latin typeface="Georgia"/>
                <a:ea typeface="Georgia"/>
                <a:cs typeface="Georgia"/>
              </a:rPr>
              <a:t>Default CIF</a:t>
            </a:r>
          </a:p>
        </p:txBody>
      </p:sp>
      <p:sp>
        <p:nvSpPr>
          <p:cNvPr id="20" name="">
            <a:extLst xmlns:a="http://schemas.openxmlformats.org/drawingml/2006/main">
              <a:ext uri="{FF2B5EF4-FFF2-40B4-BE49-F238E27FC236}">
                <a16:creationId xmlns:a16="http://schemas.microsoft.com/office/drawing/2014/main" id="{3CD9756E-E5D4-4C6A-AA09-9CBD395C2F5D}"/>
              </a:ext>
            </a:extLst>
          </p:cNvPr>
          <p:cNvSpPr>
            <a:spLocks xmlns:a="http://schemas.openxmlformats.org/drawingml/2006/main" noGrp="1"/>
          </p:cNvSpPr>
          <p:nvPr/>
        </p:nvSpPr>
        <p:spPr>
          <a:xfrm xmlns:a="http://schemas.openxmlformats.org/drawingml/2006/main">
            <a:off x="2619375" y="3152775"/>
            <a:ext cx="2000250" cy="838200"/>
          </a:xfrm>
          <a:prstGeom xmlns:a="http://schemas.openxmlformats.org/drawingml/2006/main" prst="rect">
            <a:avLst/>
          </a:prstGeom>
          <a:solidFill xmlns:a="http://schemas.openxmlformats.org/drawingml/2006/main">
            <a:srgbClr val="F8ECE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BF2473F-5B03-4299-A943-ED32A78AC005}"/>
              </a:ext>
            </a:extLst>
          </p:cNvPr>
          <p:cNvSpPr>
            <a:spLocks xmlns:a="http://schemas.openxmlformats.org/drawingml/2006/main" noGrp="1"/>
          </p:cNvSpPr>
          <p:nvPr/>
        </p:nvSpPr>
        <p:spPr>
          <a:xfrm xmlns:a="http://schemas.openxmlformats.org/drawingml/2006/main">
            <a:off x="2619375" y="3267075"/>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B86252"/>
                </a:solidFill>
                <a:latin typeface="Arial"/>
                <a:ea typeface="Arial"/>
                <a:cs typeface="Arial"/>
              </a:defRPr>
            </a:pPr>
            <a:r>
              <a:rPr sz="1875" b="1">
                <a:solidFill>
                  <a:srgbClr val="B86252"/>
                </a:solidFill>
                <a:latin typeface="Arial"/>
                <a:ea typeface="Arial"/>
                <a:cs typeface="Arial"/>
              </a:rPr>
              <a:t>0.71%</a:t>
            </a:r>
          </a:p>
        </p:txBody>
      </p:sp>
      <p:sp>
        <p:nvSpPr>
          <p:cNvPr id="22" name="">
            <a:extLst xmlns:a="http://schemas.openxmlformats.org/drawingml/2006/main">
              <a:ext uri="{FF2B5EF4-FFF2-40B4-BE49-F238E27FC236}">
                <a16:creationId xmlns:a16="http://schemas.microsoft.com/office/drawing/2014/main" id="{E4F6CD8C-7D31-4B5F-818F-E99471C508A6}"/>
              </a:ext>
            </a:extLst>
          </p:cNvPr>
          <p:cNvSpPr>
            <a:spLocks xmlns:a="http://schemas.openxmlformats.org/drawingml/2006/main" noGrp="1"/>
          </p:cNvSpPr>
          <p:nvPr/>
        </p:nvSpPr>
        <p:spPr>
          <a:xfrm xmlns:a="http://schemas.openxmlformats.org/drawingml/2006/main">
            <a:off x="4714875" y="3152775"/>
            <a:ext cx="2000250" cy="838200"/>
          </a:xfrm>
          <a:prstGeom xmlns:a="http://schemas.openxmlformats.org/drawingml/2006/main" prst="rect">
            <a:avLst/>
          </a:prstGeom>
          <a:solidFill xmlns:a="http://schemas.openxmlformats.org/drawingml/2006/main">
            <a:srgbClr val="F8ECE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7B6968A7-AD4B-4C47-B263-5612EDBC0631}"/>
              </a:ext>
            </a:extLst>
          </p:cNvPr>
          <p:cNvSpPr>
            <a:spLocks xmlns:a="http://schemas.openxmlformats.org/drawingml/2006/main" noGrp="1"/>
          </p:cNvSpPr>
          <p:nvPr/>
        </p:nvSpPr>
        <p:spPr>
          <a:xfrm xmlns:a="http://schemas.openxmlformats.org/drawingml/2006/main">
            <a:off x="4714875" y="3267075"/>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B86252"/>
                </a:solidFill>
                <a:latin typeface="Arial"/>
                <a:ea typeface="Arial"/>
                <a:cs typeface="Arial"/>
              </a:defRPr>
            </a:pPr>
            <a:r>
              <a:rPr sz="1875" b="1">
                <a:solidFill>
                  <a:srgbClr val="B86252"/>
                </a:solidFill>
                <a:latin typeface="Arial"/>
                <a:ea typeface="Arial"/>
                <a:cs typeface="Arial"/>
              </a:rPr>
              <a:t>1.80%</a:t>
            </a:r>
          </a:p>
        </p:txBody>
      </p:sp>
      <p:sp>
        <p:nvSpPr>
          <p:cNvPr id="24" name="">
            <a:extLst xmlns:a="http://schemas.openxmlformats.org/drawingml/2006/main">
              <a:ext uri="{FF2B5EF4-FFF2-40B4-BE49-F238E27FC236}">
                <a16:creationId xmlns:a16="http://schemas.microsoft.com/office/drawing/2014/main" id="{CF45594E-15F5-42D5-8DAE-42B8EDA16D0E}"/>
              </a:ext>
            </a:extLst>
          </p:cNvPr>
          <p:cNvSpPr>
            <a:spLocks xmlns:a="http://schemas.openxmlformats.org/drawingml/2006/main" noGrp="1"/>
          </p:cNvSpPr>
          <p:nvPr/>
        </p:nvSpPr>
        <p:spPr>
          <a:xfrm xmlns:a="http://schemas.openxmlformats.org/drawingml/2006/main">
            <a:off x="6810375" y="3152775"/>
            <a:ext cx="2000250" cy="838200"/>
          </a:xfrm>
          <a:prstGeom xmlns:a="http://schemas.openxmlformats.org/drawingml/2006/main" prst="rect">
            <a:avLst/>
          </a:prstGeom>
          <a:solidFill xmlns:a="http://schemas.openxmlformats.org/drawingml/2006/main">
            <a:srgbClr val="F8ECE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1A4EE838-D3BD-47EA-948B-28B25FA47850}"/>
              </a:ext>
            </a:extLst>
          </p:cNvPr>
          <p:cNvSpPr>
            <a:spLocks xmlns:a="http://schemas.openxmlformats.org/drawingml/2006/main" noGrp="1"/>
          </p:cNvSpPr>
          <p:nvPr/>
        </p:nvSpPr>
        <p:spPr>
          <a:xfrm xmlns:a="http://schemas.openxmlformats.org/drawingml/2006/main">
            <a:off x="6810375" y="3267075"/>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B86252"/>
                </a:solidFill>
                <a:latin typeface="Arial"/>
                <a:ea typeface="Arial"/>
                <a:cs typeface="Arial"/>
              </a:defRPr>
            </a:pPr>
            <a:r>
              <a:rPr sz="1875" b="1">
                <a:solidFill>
                  <a:srgbClr val="B86252"/>
                </a:solidFill>
                <a:latin typeface="Arial"/>
                <a:ea typeface="Arial"/>
                <a:cs typeface="Arial"/>
              </a:rPr>
              <a:t>2.81%</a:t>
            </a:r>
          </a:p>
        </p:txBody>
      </p:sp>
      <p:sp>
        <p:nvSpPr>
          <p:cNvPr id="26" name="">
            <a:extLst xmlns:a="http://schemas.openxmlformats.org/drawingml/2006/main">
              <a:ext uri="{FF2B5EF4-FFF2-40B4-BE49-F238E27FC236}">
                <a16:creationId xmlns:a16="http://schemas.microsoft.com/office/drawing/2014/main" id="{37DBC686-568C-4A7A-AF63-7A17E6B394C7}"/>
              </a:ext>
            </a:extLst>
          </p:cNvPr>
          <p:cNvSpPr>
            <a:spLocks xmlns:a="http://schemas.openxmlformats.org/drawingml/2006/main" noGrp="1"/>
          </p:cNvSpPr>
          <p:nvPr/>
        </p:nvSpPr>
        <p:spPr>
          <a:xfrm xmlns:a="http://schemas.openxmlformats.org/drawingml/2006/main">
            <a:off x="8905875" y="3152775"/>
            <a:ext cx="2000250" cy="838200"/>
          </a:xfrm>
          <a:prstGeom xmlns:a="http://schemas.openxmlformats.org/drawingml/2006/main" prst="rect">
            <a:avLst/>
          </a:prstGeom>
          <a:solidFill xmlns:a="http://schemas.openxmlformats.org/drawingml/2006/main">
            <a:srgbClr val="F8ECE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50044064-8C60-4901-A17F-38243E96D479}"/>
              </a:ext>
            </a:extLst>
          </p:cNvPr>
          <p:cNvSpPr>
            <a:spLocks xmlns:a="http://schemas.openxmlformats.org/drawingml/2006/main" noGrp="1"/>
          </p:cNvSpPr>
          <p:nvPr/>
        </p:nvSpPr>
        <p:spPr>
          <a:xfrm xmlns:a="http://schemas.openxmlformats.org/drawingml/2006/main">
            <a:off x="8905875" y="3267075"/>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B86252"/>
                </a:solidFill>
                <a:latin typeface="Arial"/>
                <a:ea typeface="Arial"/>
                <a:cs typeface="Arial"/>
              </a:defRPr>
            </a:pPr>
            <a:r>
              <a:rPr sz="1875" b="1">
                <a:solidFill>
                  <a:srgbClr val="B86252"/>
                </a:solidFill>
                <a:latin typeface="Arial"/>
                <a:ea typeface="Arial"/>
                <a:cs typeface="Arial"/>
              </a:rPr>
              <a:t>4.07%</a:t>
            </a:r>
          </a:p>
        </p:txBody>
      </p:sp>
      <p:sp>
        <p:nvSpPr>
          <p:cNvPr id="28" name="">
            <a:extLst xmlns:a="http://schemas.openxmlformats.org/drawingml/2006/main">
              <a:ext uri="{FF2B5EF4-FFF2-40B4-BE49-F238E27FC236}">
                <a16:creationId xmlns:a16="http://schemas.microsoft.com/office/drawing/2014/main" id="{EDF55827-7B3E-4C9C-8835-5BAE2C679597}"/>
              </a:ext>
            </a:extLst>
          </p:cNvPr>
          <p:cNvSpPr>
            <a:spLocks xmlns:a="http://schemas.openxmlformats.org/drawingml/2006/main" noGrp="1"/>
          </p:cNvSpPr>
          <p:nvPr/>
        </p:nvSpPr>
        <p:spPr>
          <a:xfrm xmlns:a="http://schemas.openxmlformats.org/drawingml/2006/main">
            <a:off x="857250" y="4257675"/>
            <a:ext cx="10572750" cy="1066800"/>
          </a:xfrm>
          <a:prstGeom xmlns:a="http://schemas.openxmlformats.org/drawingml/2006/main" prst="rect">
            <a:avLst/>
          </a:prstGeom>
          <a:solidFill xmlns:a="http://schemas.openxmlformats.org/drawingml/2006/main">
            <a:srgbClr val="FFFDF8"/>
          </a:solidFill>
          <a:ln xmlns:a="http://schemas.openxmlformats.org/drawingml/2006/main" w="9525">
            <a:solidFill>
              <a:srgbClr val="D8D4C6"/>
            </a:solidFill>
          </a:ln>
        </p:spPr>
      </p:sp>
      <p:sp>
        <p:nvSpPr>
          <p:cNvPr id="29" name="">
            <a:extLst xmlns:a="http://schemas.openxmlformats.org/drawingml/2006/main">
              <a:ext uri="{FF2B5EF4-FFF2-40B4-BE49-F238E27FC236}">
                <a16:creationId xmlns:a16="http://schemas.microsoft.com/office/drawing/2014/main" id="{9C5E6169-549D-41B1-A398-93C4950DE62E}"/>
              </a:ext>
            </a:extLst>
          </p:cNvPr>
          <p:cNvSpPr>
            <a:spLocks xmlns:a="http://schemas.openxmlformats.org/drawingml/2006/main" noGrp="1"/>
          </p:cNvSpPr>
          <p:nvPr/>
        </p:nvSpPr>
        <p:spPr>
          <a:xfrm xmlns:a="http://schemas.openxmlformats.org/drawingml/2006/main">
            <a:off x="857250" y="4257675"/>
            <a:ext cx="66675" cy="1066800"/>
          </a:xfrm>
          <a:prstGeom xmlns:a="http://schemas.openxmlformats.org/drawingml/2006/main" prst="rect">
            <a:avLst/>
          </a:prstGeom>
          <a:solidFill xmlns:a="http://schemas.openxmlformats.org/drawingml/2006/main">
            <a:srgbClr val="64816D"/>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0E01443A-A2D8-4BCC-84AD-1A30E85683C0}"/>
              </a:ext>
            </a:extLst>
          </p:cNvPr>
          <p:cNvSpPr>
            <a:spLocks xmlns:a="http://schemas.openxmlformats.org/drawingml/2006/main" noGrp="1"/>
          </p:cNvSpPr>
          <p:nvPr/>
        </p:nvSpPr>
        <p:spPr>
          <a:xfrm xmlns:a="http://schemas.openxmlformats.org/drawingml/2006/main">
            <a:off x="1104900" y="4371975"/>
            <a:ext cx="13811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64"/>
          </a:bodyPr>
          <a:lstStyle xmlns:a="http://schemas.openxmlformats.org/drawingml/2006/main"/>
          <a:p xmlns:a="http://schemas.openxmlformats.org/drawingml/2006/main">
            <a:pPr>
              <a:defRPr sz="1350" b="1">
                <a:solidFill>
                  <a:srgbClr val="2E3B35"/>
                </a:solidFill>
                <a:latin typeface="Georgia"/>
                <a:ea typeface="Georgia"/>
                <a:cs typeface="Georgia"/>
              </a:defRPr>
            </a:pPr>
            <a:r>
              <a:rPr sz="1350" b="1">
                <a:solidFill>
                  <a:srgbClr val="2E3B35"/>
                </a:solidFill>
                <a:latin typeface="Georgia"/>
                <a:ea typeface="Georgia"/>
                <a:cs typeface="Georgia"/>
              </a:rPr>
              <a:t>ZBC 01 CIF</a:t>
            </a:r>
          </a:p>
          <a:p xmlns:a="http://schemas.openxmlformats.org/drawingml/2006/main">
            <a:pPr>
              <a:defRPr sz="1350" b="1">
                <a:solidFill>
                  <a:srgbClr val="2E3B35"/>
                </a:solidFill>
                <a:latin typeface="Georgia"/>
                <a:ea typeface="Georgia"/>
                <a:cs typeface="Georgia"/>
              </a:defRPr>
            </a:pPr>
            <a:r>
              <a:rPr sz="1350" b="1">
                <a:solidFill>
                  <a:srgbClr val="2E3B35"/>
                </a:solidFill>
                <a:latin typeface="Georgia"/>
                <a:ea typeface="Georgia"/>
                <a:cs typeface="Georgia"/>
              </a:rPr>
              <a:t>(trả trước/đáo hạn, gộp)</a:t>
            </a:r>
          </a:p>
        </p:txBody>
      </p:sp>
      <p:sp>
        <p:nvSpPr>
          <p:cNvPr id="31" name="">
            <a:extLst xmlns:a="http://schemas.openxmlformats.org/drawingml/2006/main">
              <a:ext uri="{FF2B5EF4-FFF2-40B4-BE49-F238E27FC236}">
                <a16:creationId xmlns:a16="http://schemas.microsoft.com/office/drawing/2014/main" id="{F786769A-F4BA-49BD-BEC9-A73CD2AA75D1}"/>
              </a:ext>
            </a:extLst>
          </p:cNvPr>
          <p:cNvSpPr>
            <a:spLocks xmlns:a="http://schemas.openxmlformats.org/drawingml/2006/main" noGrp="1"/>
          </p:cNvSpPr>
          <p:nvPr/>
        </p:nvSpPr>
        <p:spPr>
          <a:xfrm xmlns:a="http://schemas.openxmlformats.org/drawingml/2006/main">
            <a:off x="2619375" y="4371975"/>
            <a:ext cx="2000250" cy="838200"/>
          </a:xfrm>
          <a:prstGeom xmlns:a="http://schemas.openxmlformats.org/drawingml/2006/main" prst="rect">
            <a:avLst/>
          </a:prstGeom>
          <a:solidFill xmlns:a="http://schemas.openxmlformats.org/drawingml/2006/main">
            <a:srgbClr val="EEF3ED"/>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7816F969-5893-4567-8F6D-D8440B50B89E}"/>
              </a:ext>
            </a:extLst>
          </p:cNvPr>
          <p:cNvSpPr>
            <a:spLocks xmlns:a="http://schemas.openxmlformats.org/drawingml/2006/main" noGrp="1"/>
          </p:cNvSpPr>
          <p:nvPr/>
        </p:nvSpPr>
        <p:spPr>
          <a:xfrm xmlns:a="http://schemas.openxmlformats.org/drawingml/2006/main">
            <a:off x="2619375" y="4486275"/>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64816D"/>
                </a:solidFill>
                <a:latin typeface="Arial"/>
                <a:ea typeface="Arial"/>
                <a:cs typeface="Arial"/>
              </a:defRPr>
            </a:pPr>
            <a:r>
              <a:rPr sz="1875" b="1">
                <a:solidFill>
                  <a:srgbClr val="64816D"/>
                </a:solidFill>
                <a:latin typeface="Arial"/>
                <a:ea typeface="Arial"/>
                <a:cs typeface="Arial"/>
              </a:rPr>
              <a:t>9.20%</a:t>
            </a:r>
          </a:p>
        </p:txBody>
      </p:sp>
      <p:sp>
        <p:nvSpPr>
          <p:cNvPr id="33" name="">
            <a:extLst xmlns:a="http://schemas.openxmlformats.org/drawingml/2006/main">
              <a:ext uri="{FF2B5EF4-FFF2-40B4-BE49-F238E27FC236}">
                <a16:creationId xmlns:a16="http://schemas.microsoft.com/office/drawing/2014/main" id="{4BCFBF61-0B51-497B-B73C-E7228E2D1639}"/>
              </a:ext>
            </a:extLst>
          </p:cNvPr>
          <p:cNvSpPr>
            <a:spLocks xmlns:a="http://schemas.openxmlformats.org/drawingml/2006/main" noGrp="1"/>
          </p:cNvSpPr>
          <p:nvPr/>
        </p:nvSpPr>
        <p:spPr>
          <a:xfrm xmlns:a="http://schemas.openxmlformats.org/drawingml/2006/main">
            <a:off x="4714875" y="4371975"/>
            <a:ext cx="2000250" cy="838200"/>
          </a:xfrm>
          <a:prstGeom xmlns:a="http://schemas.openxmlformats.org/drawingml/2006/main" prst="rect">
            <a:avLst/>
          </a:prstGeom>
          <a:solidFill xmlns:a="http://schemas.openxmlformats.org/drawingml/2006/main">
            <a:srgbClr val="EEF3ED"/>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30D4DCBF-6E77-45FC-AA65-8A0DC7022E8A}"/>
              </a:ext>
            </a:extLst>
          </p:cNvPr>
          <p:cNvSpPr>
            <a:spLocks xmlns:a="http://schemas.openxmlformats.org/drawingml/2006/main" noGrp="1"/>
          </p:cNvSpPr>
          <p:nvPr/>
        </p:nvSpPr>
        <p:spPr>
          <a:xfrm xmlns:a="http://schemas.openxmlformats.org/drawingml/2006/main">
            <a:off x="4714875" y="4486275"/>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64816D"/>
                </a:solidFill>
                <a:latin typeface="Arial"/>
                <a:ea typeface="Arial"/>
                <a:cs typeface="Arial"/>
              </a:defRPr>
            </a:pPr>
            <a:r>
              <a:rPr sz="1875" b="1">
                <a:solidFill>
                  <a:srgbClr val="64816D"/>
                </a:solidFill>
                <a:latin typeface="Arial"/>
                <a:ea typeface="Arial"/>
                <a:cs typeface="Arial"/>
              </a:rPr>
              <a:t>22.60%</a:t>
            </a:r>
          </a:p>
        </p:txBody>
      </p:sp>
      <p:sp>
        <p:nvSpPr>
          <p:cNvPr id="35" name="">
            <a:extLst xmlns:a="http://schemas.openxmlformats.org/drawingml/2006/main">
              <a:ext uri="{FF2B5EF4-FFF2-40B4-BE49-F238E27FC236}">
                <a16:creationId xmlns:a16="http://schemas.microsoft.com/office/drawing/2014/main" id="{65D0D0B8-1FDA-47FA-A0B8-141980B293AE}"/>
              </a:ext>
            </a:extLst>
          </p:cNvPr>
          <p:cNvSpPr>
            <a:spLocks xmlns:a="http://schemas.openxmlformats.org/drawingml/2006/main" noGrp="1"/>
          </p:cNvSpPr>
          <p:nvPr/>
        </p:nvSpPr>
        <p:spPr>
          <a:xfrm xmlns:a="http://schemas.openxmlformats.org/drawingml/2006/main">
            <a:off x="6810375" y="4371975"/>
            <a:ext cx="2000250" cy="838200"/>
          </a:xfrm>
          <a:prstGeom xmlns:a="http://schemas.openxmlformats.org/drawingml/2006/main" prst="rect">
            <a:avLst/>
          </a:prstGeom>
          <a:solidFill xmlns:a="http://schemas.openxmlformats.org/drawingml/2006/main">
            <a:srgbClr val="EEF3ED"/>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D2EFE2D2-C5FB-4A1B-9597-9F23797C42A1}"/>
              </a:ext>
            </a:extLst>
          </p:cNvPr>
          <p:cNvSpPr>
            <a:spLocks xmlns:a="http://schemas.openxmlformats.org/drawingml/2006/main" noGrp="1"/>
          </p:cNvSpPr>
          <p:nvPr/>
        </p:nvSpPr>
        <p:spPr>
          <a:xfrm xmlns:a="http://schemas.openxmlformats.org/drawingml/2006/main">
            <a:off x="6810375" y="4486275"/>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64816D"/>
                </a:solidFill>
                <a:latin typeface="Arial"/>
                <a:ea typeface="Arial"/>
                <a:cs typeface="Arial"/>
              </a:defRPr>
            </a:pPr>
            <a:r>
              <a:rPr sz="1875" b="1">
                <a:solidFill>
                  <a:srgbClr val="64816D"/>
                </a:solidFill>
                <a:latin typeface="Arial"/>
                <a:ea typeface="Arial"/>
                <a:cs typeface="Arial"/>
              </a:rPr>
              <a:t>33.50%</a:t>
            </a:r>
          </a:p>
        </p:txBody>
      </p:sp>
      <p:sp>
        <p:nvSpPr>
          <p:cNvPr id="37" name="">
            <a:extLst xmlns:a="http://schemas.openxmlformats.org/drawingml/2006/main">
              <a:ext uri="{FF2B5EF4-FFF2-40B4-BE49-F238E27FC236}">
                <a16:creationId xmlns:a16="http://schemas.microsoft.com/office/drawing/2014/main" id="{1E27F30B-8A36-41B9-94B7-CE18D509C006}"/>
              </a:ext>
            </a:extLst>
          </p:cNvPr>
          <p:cNvSpPr>
            <a:spLocks xmlns:a="http://schemas.openxmlformats.org/drawingml/2006/main" noGrp="1"/>
          </p:cNvSpPr>
          <p:nvPr/>
        </p:nvSpPr>
        <p:spPr>
          <a:xfrm xmlns:a="http://schemas.openxmlformats.org/drawingml/2006/main">
            <a:off x="8905875" y="4371975"/>
            <a:ext cx="2000250" cy="838200"/>
          </a:xfrm>
          <a:prstGeom xmlns:a="http://schemas.openxmlformats.org/drawingml/2006/main" prst="rect">
            <a:avLst/>
          </a:prstGeom>
          <a:solidFill xmlns:a="http://schemas.openxmlformats.org/drawingml/2006/main">
            <a:srgbClr val="EEF3ED"/>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90BE7380-B4FF-48E5-8929-0C7CB32FD583}"/>
              </a:ext>
            </a:extLst>
          </p:cNvPr>
          <p:cNvSpPr>
            <a:spLocks xmlns:a="http://schemas.openxmlformats.org/drawingml/2006/main" noGrp="1"/>
          </p:cNvSpPr>
          <p:nvPr/>
        </p:nvSpPr>
        <p:spPr>
          <a:xfrm xmlns:a="http://schemas.openxmlformats.org/drawingml/2006/main">
            <a:off x="8905875" y="4486275"/>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64816D"/>
                </a:solidFill>
                <a:latin typeface="Arial"/>
                <a:ea typeface="Arial"/>
                <a:cs typeface="Arial"/>
              </a:defRPr>
            </a:pPr>
            <a:r>
              <a:rPr sz="1875" b="1">
                <a:solidFill>
                  <a:srgbClr val="64816D"/>
                </a:solidFill>
                <a:latin typeface="Arial"/>
                <a:ea typeface="Arial"/>
                <a:cs typeface="Arial"/>
              </a:rPr>
              <a:t>49.80%</a:t>
            </a:r>
          </a:p>
        </p:txBody>
      </p:sp>
      <p:sp>
        <p:nvSpPr>
          <p:cNvPr id="39" name="">
            <a:extLst xmlns:a="http://schemas.openxmlformats.org/drawingml/2006/main">
              <a:ext uri="{FF2B5EF4-FFF2-40B4-BE49-F238E27FC236}">
                <a16:creationId xmlns:a16="http://schemas.microsoft.com/office/drawing/2014/main" id="{547B1D0D-B7BB-4B0C-9468-ED79F884A303}"/>
              </a:ext>
            </a:extLst>
          </p:cNvPr>
          <p:cNvSpPr>
            <a:spLocks xmlns:a="http://schemas.openxmlformats.org/drawingml/2006/main" noGrp="1"/>
          </p:cNvSpPr>
          <p:nvPr/>
        </p:nvSpPr>
        <p:spPr>
          <a:xfrm xmlns:a="http://schemas.openxmlformats.org/drawingml/2006/main">
            <a:off x="895350" y="5429250"/>
            <a:ext cx="10429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748078"/>
                </a:solidFill>
                <a:latin typeface="Georgia"/>
                <a:ea typeface="Georgia"/>
                <a:cs typeface="Georgia"/>
              </a:defRPr>
            </a:pPr>
            <a:r>
              <a:rPr sz="1200" b="0">
                <a:solidFill>
                  <a:srgbClr val="748078"/>
                </a:solidFill>
                <a:latin typeface="Georgia"/>
                <a:ea typeface="Georgia"/>
                <a:cs typeface="Georgia"/>
              </a:rPr>
              <a:t>Các mốc mới chỉ so sánh được khi đủ follow-up. ZBC 01 gộp trả trước và đáo hạn, không phải voluntary prepayment thuần túy.</a:t>
            </a:r>
          </a:p>
        </p:txBody>
      </p:sp>
    </p:spTree>
    <p:extLst>
      <p:ext uri="{BB962C8B-B14F-4D97-AF65-F5344CB8AC3E}">
        <p14:creationId xmlns:p14="http://schemas.microsoft.com/office/powerpoint/2010/main" val="812027513"/>
      </p:ext>
    </p:extLst>
  </p:cSld>
</p:sld>
</file>

<file path=ppt/slides/slide9.xml><?xml version="1.0" encoding="utf-8"?>
<p:sld xmlns:p="http://schemas.openxmlformats.org/presentationml/2006/main">
  <p:cSld>
    <p:bg>
      <p:bgPr>
        <a:solidFill xmlns:a="http://schemas.openxmlformats.org/drawingml/2006/main">
          <a:srgbClr val="F1EF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012B3DE-669E-4A8A-9A61-07643BDFE36B}"/>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2E3B3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4BE806D-A3AC-48E1-9D0A-9C3C3453AE2B}"/>
              </a:ext>
            </a:extLst>
          </p:cNvPr>
          <p:cNvSpPr>
            <a:spLocks xmlns:a="http://schemas.openxmlformats.org/drawingml/2006/main" noGrp="1"/>
          </p:cNvSpPr>
          <p:nvPr/>
        </p:nvSpPr>
        <p:spPr>
          <a:xfrm xmlns:a="http://schemas.openxmlformats.org/drawingml/2006/main">
            <a:off x="609600" y="3238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defRPr sz="1050" b="1">
                <a:solidFill>
                  <a:srgbClr val="B5A15B"/>
                </a:solidFill>
                <a:latin typeface="Arial"/>
                <a:ea typeface="Arial"/>
                <a:cs typeface="Arial"/>
              </a:defRPr>
            </a:pPr>
            <a:r>
              <a:rPr sz="1050" b="1">
                <a:solidFill>
                  <a:srgbClr val="B5A15B"/>
                </a:solidFill>
                <a:latin typeface="Arial"/>
                <a:ea typeface="Arial"/>
                <a:cs typeface="Arial"/>
              </a:rPr>
              <a:t>08 · CẢI TIẾN DASHBOARD</a:t>
            </a:r>
          </a:p>
        </p:txBody>
      </p:sp>
      <p:sp>
        <p:nvSpPr>
          <p:cNvPr id="3" name="">
            <a:extLst xmlns:a="http://schemas.openxmlformats.org/drawingml/2006/main">
              <a:ext uri="{FF2B5EF4-FFF2-40B4-BE49-F238E27FC236}">
                <a16:creationId xmlns:a16="http://schemas.microsoft.com/office/drawing/2014/main" id="{2AAF7FEC-4D60-47B9-A4E2-8BDED3617E5E}"/>
              </a:ext>
            </a:extLst>
          </p:cNvPr>
          <p:cNvSpPr>
            <a:spLocks xmlns:a="http://schemas.openxmlformats.org/drawingml/2006/main" noGrp="1"/>
          </p:cNvSpPr>
          <p:nvPr/>
        </p:nvSpPr>
        <p:spPr>
          <a:xfrm xmlns:a="http://schemas.openxmlformats.org/drawingml/2006/main">
            <a:off x="609600" y="6477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850" b="1">
                <a:solidFill>
                  <a:srgbClr val="2E3B35"/>
                </a:solidFill>
                <a:latin typeface="Georgia"/>
                <a:ea typeface="Georgia"/>
                <a:cs typeface="Georgia"/>
              </a:defRPr>
            </a:pPr>
            <a:r>
              <a:rPr sz="2850" b="1">
                <a:solidFill>
                  <a:srgbClr val="2E3B35"/>
                </a:solidFill>
                <a:latin typeface="Georgia"/>
                <a:ea typeface="Georgia"/>
                <a:cs typeface="Georgia"/>
              </a:rPr>
              <a:t>Bản sửa tập trung vào tính trung thực khi đọc chart</a:t>
            </a:r>
          </a:p>
        </p:txBody>
      </p:sp>
      <p:sp>
        <p:nvSpPr>
          <p:cNvPr id="4" name="">
            <a:extLst xmlns:a="http://schemas.openxmlformats.org/drawingml/2006/main">
              <a:ext uri="{FF2B5EF4-FFF2-40B4-BE49-F238E27FC236}">
                <a16:creationId xmlns:a16="http://schemas.microsoft.com/office/drawing/2014/main" id="{DB55EA4A-476E-4232-B162-64EDC99FF78E}"/>
              </a:ext>
            </a:extLst>
          </p:cNvPr>
          <p:cNvSpPr>
            <a:spLocks xmlns:a="http://schemas.openxmlformats.org/drawingml/2006/main" noGrp="1"/>
          </p:cNvSpPr>
          <p:nvPr/>
        </p:nvSpPr>
        <p:spPr>
          <a:xfrm xmlns:a="http://schemas.openxmlformats.org/drawingml/2006/main">
            <a:off x="628650" y="13239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748078"/>
                </a:solidFill>
                <a:latin typeface="Georgia"/>
                <a:ea typeface="Georgia"/>
                <a:cs typeface="Georgia"/>
              </a:defRPr>
            </a:pPr>
            <a:r>
              <a:rPr sz="1425" b="0">
                <a:solidFill>
                  <a:srgbClr val="748078"/>
                </a:solidFill>
                <a:latin typeface="Georgia"/>
                <a:ea typeface="Georgia"/>
                <a:cs typeface="Georgia"/>
              </a:rPr>
              <a:t>Thay cách trình bày khi nó có thể tạo ra kết luận sai.</a:t>
            </a:r>
          </a:p>
        </p:txBody>
      </p:sp>
      <p:sp>
        <p:nvSpPr>
          <p:cNvPr id="5" name="">
            <a:extLst xmlns:a="http://schemas.openxmlformats.org/drawingml/2006/main">
              <a:ext uri="{FF2B5EF4-FFF2-40B4-BE49-F238E27FC236}">
                <a16:creationId xmlns:a16="http://schemas.microsoft.com/office/drawing/2014/main" id="{65878653-0D9A-4631-BF51-302E8B8DCEE7}"/>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8D4C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29CC710-9316-47FD-A10B-3967348B919E}"/>
              </a:ext>
            </a:extLst>
          </p:cNvPr>
          <p:cNvSpPr>
            <a:spLocks xmlns:a="http://schemas.openxmlformats.org/drawingml/2006/main" noGrp="1"/>
          </p:cNvSpPr>
          <p:nvPr/>
        </p:nvSpPr>
        <p:spPr>
          <a:xfrm xmlns:a="http://schemas.openxmlformats.org/drawingml/2006/main">
            <a:off x="628650" y="649605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0">
                <a:solidFill>
                  <a:srgbClr val="748078"/>
                </a:solidFill>
                <a:latin typeface="Arial"/>
                <a:ea typeface="Arial"/>
                <a:cs typeface="Arial"/>
              </a:defRPr>
            </a:pPr>
            <a:r>
              <a:rPr sz="750" b="0">
                <a:solidFill>
                  <a:srgbClr val="748078"/>
                </a:solidFill>
                <a:latin typeface="Arial"/>
                <a:ea typeface="Arial"/>
                <a:cs typeface="Arial"/>
              </a:rPr>
              <a:t>Mortgage Default &amp; Prepayment · Freddie Mac 2016–2026</a:t>
            </a:r>
          </a:p>
        </p:txBody>
      </p:sp>
      <p:sp>
        <p:nvSpPr>
          <p:cNvPr id="7" name="">
            <a:extLst xmlns:a="http://schemas.openxmlformats.org/drawingml/2006/main">
              <a:ext uri="{FF2B5EF4-FFF2-40B4-BE49-F238E27FC236}">
                <a16:creationId xmlns:a16="http://schemas.microsoft.com/office/drawing/2014/main" id="{83ACB030-6956-4E9E-874B-49D769742BF7}"/>
              </a:ext>
            </a:extLst>
          </p:cNvPr>
          <p:cNvSpPr>
            <a:spLocks xmlns:a="http://schemas.openxmlformats.org/drawingml/2006/main" noGrp="1"/>
          </p:cNvSpPr>
          <p:nvPr/>
        </p:nvSpPr>
        <p:spPr>
          <a:xfrm xmlns:a="http://schemas.openxmlformats.org/drawingml/2006/main">
            <a:off x="11049000" y="647700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0">
                <a:solidFill>
                  <a:srgbClr val="748078"/>
                </a:solidFill>
                <a:latin typeface="Arial"/>
                <a:ea typeface="Arial"/>
                <a:cs typeface="Arial"/>
              </a:defRPr>
            </a:pPr>
            <a:r>
              <a:rPr sz="825" b="0">
                <a:solidFill>
                  <a:srgbClr val="748078"/>
                </a:solidFill>
                <a:latin typeface="Arial"/>
                <a:ea typeface="Arial"/>
                <a:cs typeface="Arial"/>
              </a:rPr>
              <a:t>09</a:t>
            </a:r>
          </a:p>
        </p:txBody>
      </p:sp>
      <p:sp>
        <p:nvSpPr>
          <p:cNvPr id="8" name="">
            <a:extLst xmlns:a="http://schemas.openxmlformats.org/drawingml/2006/main">
              <a:ext uri="{FF2B5EF4-FFF2-40B4-BE49-F238E27FC236}">
                <a16:creationId xmlns:a16="http://schemas.microsoft.com/office/drawing/2014/main" id="{7496AEA3-B5EA-4390-B6F4-8D71E76D1F8E}"/>
              </a:ext>
            </a:extLst>
          </p:cNvPr>
          <p:cNvSpPr>
            <a:spLocks xmlns:a="http://schemas.openxmlformats.org/drawingml/2006/main" noGrp="1"/>
          </p:cNvSpPr>
          <p:nvPr/>
        </p:nvSpPr>
        <p:spPr>
          <a:xfrm xmlns:a="http://schemas.openxmlformats.org/drawingml/2006/main">
            <a:off x="628650" y="2095500"/>
            <a:ext cx="3381375" cy="1809750"/>
          </a:xfrm>
          <a:prstGeom xmlns:a="http://schemas.openxmlformats.org/drawingml/2006/main" prst="rect">
            <a:avLst/>
          </a:prstGeom>
          <a:solidFill xmlns:a="http://schemas.openxmlformats.org/drawingml/2006/main">
            <a:srgbClr val="FFFDF8"/>
          </a:solidFill>
          <a:ln xmlns:a="http://schemas.openxmlformats.org/drawingml/2006/main" w="12383">
            <a:solidFill>
              <a:srgbClr val="D8D4C6"/>
            </a:solidFill>
          </a:ln>
        </p:spPr>
      </p:sp>
      <p:sp>
        <p:nvSpPr>
          <p:cNvPr id="9" name="">
            <a:extLst xmlns:a="http://schemas.openxmlformats.org/drawingml/2006/main">
              <a:ext uri="{FF2B5EF4-FFF2-40B4-BE49-F238E27FC236}">
                <a16:creationId xmlns:a16="http://schemas.microsoft.com/office/drawing/2014/main" id="{A317D014-896A-46F3-944D-01E47AC10468}"/>
              </a:ext>
            </a:extLst>
          </p:cNvPr>
          <p:cNvSpPr>
            <a:spLocks xmlns:a="http://schemas.openxmlformats.org/drawingml/2006/main" noGrp="1"/>
          </p:cNvSpPr>
          <p:nvPr/>
        </p:nvSpPr>
        <p:spPr>
          <a:xfrm xmlns:a="http://schemas.openxmlformats.org/drawingml/2006/main">
            <a:off x="628650" y="2095500"/>
            <a:ext cx="57150" cy="1809750"/>
          </a:xfrm>
          <a:prstGeom xmlns:a="http://schemas.openxmlformats.org/drawingml/2006/main" prst="rect">
            <a:avLst/>
          </a:prstGeom>
          <a:solidFill xmlns:a="http://schemas.openxmlformats.org/drawingml/2006/main">
            <a:srgbClr val="B8625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3919B63-9679-45EE-9001-F55F8F404046}"/>
              </a:ext>
            </a:extLst>
          </p:cNvPr>
          <p:cNvSpPr>
            <a:spLocks xmlns:a="http://schemas.openxmlformats.org/drawingml/2006/main" noGrp="1"/>
          </p:cNvSpPr>
          <p:nvPr/>
        </p:nvSpPr>
        <p:spPr>
          <a:xfrm xmlns:a="http://schemas.openxmlformats.org/drawingml/2006/main">
            <a:off x="838200" y="2238375"/>
            <a:ext cx="29622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056"/>
          </a:bodyPr>
          <a:lstStyle xmlns:a="http://schemas.openxmlformats.org/drawingml/2006/main"/>
          <a:p xmlns:a="http://schemas.openxmlformats.org/drawingml/2006/main">
            <a:pPr>
              <a:defRPr sz="900" b="1">
                <a:solidFill>
                  <a:srgbClr val="B86252"/>
                </a:solidFill>
                <a:latin typeface="Arial"/>
                <a:ea typeface="Arial"/>
                <a:cs typeface="Arial"/>
              </a:defRPr>
            </a:pPr>
            <a:r>
              <a:rPr sz="900" b="1">
                <a:solidFill>
                  <a:srgbClr val="B86252"/>
                </a:solidFill>
                <a:latin typeface="Arial"/>
                <a:ea typeface="Arial"/>
                <a:cs typeface="Arial"/>
              </a:rPr>
              <a:t>ĐỘ BẤT ĐỊNH</a:t>
            </a:r>
          </a:p>
        </p:txBody>
      </p:sp>
      <p:sp>
        <p:nvSpPr>
          <p:cNvPr id="11" name="">
            <a:extLst xmlns:a="http://schemas.openxmlformats.org/drawingml/2006/main">
              <a:ext uri="{FF2B5EF4-FFF2-40B4-BE49-F238E27FC236}">
                <a16:creationId xmlns:a16="http://schemas.microsoft.com/office/drawing/2014/main" id="{0CE30814-C6F6-45CB-9F09-5787ED89EBCF}"/>
              </a:ext>
            </a:extLst>
          </p:cNvPr>
          <p:cNvSpPr>
            <a:spLocks xmlns:a="http://schemas.openxmlformats.org/drawingml/2006/main" noGrp="1"/>
          </p:cNvSpPr>
          <p:nvPr/>
        </p:nvSpPr>
        <p:spPr>
          <a:xfrm xmlns:a="http://schemas.openxmlformats.org/drawingml/2006/main">
            <a:off x="838200" y="2543175"/>
            <a:ext cx="29622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2E3B35"/>
                </a:solidFill>
                <a:latin typeface="Georgia"/>
                <a:ea typeface="Georgia"/>
                <a:cs typeface="Georgia"/>
              </a:defRPr>
            </a:pPr>
            <a:r>
              <a:rPr sz="1350" b="0">
                <a:solidFill>
                  <a:srgbClr val="2E3B35"/>
                </a:solidFill>
                <a:latin typeface="Georgia"/>
                <a:ea typeface="Georgia"/>
                <a:cs typeface="Georgia"/>
              </a:rPr>
              <a:t>Thêm CI 95% và số còn trong risk set vào tooltip/nhãn tại các chart có artifact hỗ trợ.</a:t>
            </a:r>
          </a:p>
        </p:txBody>
      </p:sp>
      <p:sp>
        <p:nvSpPr>
          <p:cNvPr id="12" name="">
            <a:extLst xmlns:a="http://schemas.openxmlformats.org/drawingml/2006/main">
              <a:ext uri="{FF2B5EF4-FFF2-40B4-BE49-F238E27FC236}">
                <a16:creationId xmlns:a16="http://schemas.microsoft.com/office/drawing/2014/main" id="{0EE8E2BD-FA43-4467-A323-5696E97AC135}"/>
              </a:ext>
            </a:extLst>
          </p:cNvPr>
          <p:cNvSpPr>
            <a:spLocks xmlns:a="http://schemas.openxmlformats.org/drawingml/2006/main" noGrp="1"/>
          </p:cNvSpPr>
          <p:nvPr/>
        </p:nvSpPr>
        <p:spPr>
          <a:xfrm xmlns:a="http://schemas.openxmlformats.org/drawingml/2006/main">
            <a:off x="4400550" y="2095500"/>
            <a:ext cx="3381375" cy="1809750"/>
          </a:xfrm>
          <a:prstGeom xmlns:a="http://schemas.openxmlformats.org/drawingml/2006/main" prst="rect">
            <a:avLst/>
          </a:prstGeom>
          <a:solidFill xmlns:a="http://schemas.openxmlformats.org/drawingml/2006/main">
            <a:srgbClr val="FFFDF8"/>
          </a:solidFill>
          <a:ln xmlns:a="http://schemas.openxmlformats.org/drawingml/2006/main" w="12383">
            <a:solidFill>
              <a:srgbClr val="D8D4C6"/>
            </a:solidFill>
          </a:ln>
        </p:spPr>
      </p:sp>
      <p:sp>
        <p:nvSpPr>
          <p:cNvPr id="13" name="">
            <a:extLst xmlns:a="http://schemas.openxmlformats.org/drawingml/2006/main">
              <a:ext uri="{FF2B5EF4-FFF2-40B4-BE49-F238E27FC236}">
                <a16:creationId xmlns:a16="http://schemas.microsoft.com/office/drawing/2014/main" id="{534DBAA5-EB7D-4A5C-8DA4-E6B4E2308D97}"/>
              </a:ext>
            </a:extLst>
          </p:cNvPr>
          <p:cNvSpPr>
            <a:spLocks xmlns:a="http://schemas.openxmlformats.org/drawingml/2006/main" noGrp="1"/>
          </p:cNvSpPr>
          <p:nvPr/>
        </p:nvSpPr>
        <p:spPr>
          <a:xfrm xmlns:a="http://schemas.openxmlformats.org/drawingml/2006/main">
            <a:off x="4400550" y="2095500"/>
            <a:ext cx="57150" cy="1809750"/>
          </a:xfrm>
          <a:prstGeom xmlns:a="http://schemas.openxmlformats.org/drawingml/2006/main" prst="rect">
            <a:avLst/>
          </a:prstGeom>
          <a:solidFill xmlns:a="http://schemas.openxmlformats.org/drawingml/2006/main">
            <a:srgbClr val="B5A15B"/>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83C9070-2D5A-4D49-90E6-689E893782E0}"/>
              </a:ext>
            </a:extLst>
          </p:cNvPr>
          <p:cNvSpPr>
            <a:spLocks xmlns:a="http://schemas.openxmlformats.org/drawingml/2006/main" noGrp="1"/>
          </p:cNvSpPr>
          <p:nvPr/>
        </p:nvSpPr>
        <p:spPr>
          <a:xfrm xmlns:a="http://schemas.openxmlformats.org/drawingml/2006/main">
            <a:off x="4610100" y="2238375"/>
            <a:ext cx="29622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056"/>
          </a:bodyPr>
          <a:lstStyle xmlns:a="http://schemas.openxmlformats.org/drawingml/2006/main"/>
          <a:p xmlns:a="http://schemas.openxmlformats.org/drawingml/2006/main">
            <a:pPr>
              <a:defRPr sz="900" b="1">
                <a:solidFill>
                  <a:srgbClr val="B5A15B"/>
                </a:solidFill>
                <a:latin typeface="Arial"/>
                <a:ea typeface="Arial"/>
                <a:cs typeface="Arial"/>
              </a:defRPr>
            </a:pPr>
            <a:r>
              <a:rPr sz="900" b="1">
                <a:solidFill>
                  <a:srgbClr val="B5A15B"/>
                </a:solidFill>
                <a:latin typeface="Arial"/>
                <a:ea typeface="Arial"/>
                <a:cs typeface="Arial"/>
              </a:rPr>
              <a:t>NHÃN KẾT CỤC</a:t>
            </a:r>
          </a:p>
        </p:txBody>
      </p:sp>
      <p:sp>
        <p:nvSpPr>
          <p:cNvPr id="15" name="">
            <a:extLst xmlns:a="http://schemas.openxmlformats.org/drawingml/2006/main">
              <a:ext uri="{FF2B5EF4-FFF2-40B4-BE49-F238E27FC236}">
                <a16:creationId xmlns:a16="http://schemas.microsoft.com/office/drawing/2014/main" id="{9CD9C41E-C1DF-444E-A5FE-7E23980E6713}"/>
              </a:ext>
            </a:extLst>
          </p:cNvPr>
          <p:cNvSpPr>
            <a:spLocks xmlns:a="http://schemas.openxmlformats.org/drawingml/2006/main" noGrp="1"/>
          </p:cNvSpPr>
          <p:nvPr/>
        </p:nvSpPr>
        <p:spPr>
          <a:xfrm xmlns:a="http://schemas.openxmlformats.org/drawingml/2006/main">
            <a:off x="4610100" y="2543175"/>
            <a:ext cx="29622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2E3B35"/>
                </a:solidFill>
                <a:latin typeface="Georgia"/>
                <a:ea typeface="Georgia"/>
                <a:cs typeface="Georgia"/>
              </a:defRPr>
            </a:pPr>
            <a:r>
              <a:rPr sz="1350" b="0">
                <a:solidFill>
                  <a:srgbClr val="2E3B35"/>
                </a:solidFill>
                <a:latin typeface="Georgia"/>
                <a:ea typeface="Georgia"/>
                <a:cs typeface="Georgia"/>
              </a:rPr>
              <a:t>Gọi ZBC 01 là “trả trước/đáo hạn, gộp”, không trình bày như voluntary prepayment thuần túy.</a:t>
            </a:r>
          </a:p>
        </p:txBody>
      </p:sp>
      <p:sp>
        <p:nvSpPr>
          <p:cNvPr id="16" name="">
            <a:extLst xmlns:a="http://schemas.openxmlformats.org/drawingml/2006/main">
              <a:ext uri="{FF2B5EF4-FFF2-40B4-BE49-F238E27FC236}">
                <a16:creationId xmlns:a16="http://schemas.microsoft.com/office/drawing/2014/main" id="{CEEC8D4D-238E-4916-AA95-37305D536D70}"/>
              </a:ext>
            </a:extLst>
          </p:cNvPr>
          <p:cNvSpPr>
            <a:spLocks xmlns:a="http://schemas.openxmlformats.org/drawingml/2006/main" noGrp="1"/>
          </p:cNvSpPr>
          <p:nvPr/>
        </p:nvSpPr>
        <p:spPr>
          <a:xfrm xmlns:a="http://schemas.openxmlformats.org/drawingml/2006/main">
            <a:off x="8172450" y="2095500"/>
            <a:ext cx="3381375" cy="1809750"/>
          </a:xfrm>
          <a:prstGeom xmlns:a="http://schemas.openxmlformats.org/drawingml/2006/main" prst="rect">
            <a:avLst/>
          </a:prstGeom>
          <a:solidFill xmlns:a="http://schemas.openxmlformats.org/drawingml/2006/main">
            <a:srgbClr val="FFFDF8"/>
          </a:solidFill>
          <a:ln xmlns:a="http://schemas.openxmlformats.org/drawingml/2006/main" w="12383">
            <a:solidFill>
              <a:srgbClr val="D8D4C6"/>
            </a:solidFill>
          </a:ln>
        </p:spPr>
      </p:sp>
      <p:sp>
        <p:nvSpPr>
          <p:cNvPr id="17" name="">
            <a:extLst xmlns:a="http://schemas.openxmlformats.org/drawingml/2006/main">
              <a:ext uri="{FF2B5EF4-FFF2-40B4-BE49-F238E27FC236}">
                <a16:creationId xmlns:a16="http://schemas.microsoft.com/office/drawing/2014/main" id="{6F5BA77E-4A8A-428D-B824-DB17C004D167}"/>
              </a:ext>
            </a:extLst>
          </p:cNvPr>
          <p:cNvSpPr>
            <a:spLocks xmlns:a="http://schemas.openxmlformats.org/drawingml/2006/main" noGrp="1"/>
          </p:cNvSpPr>
          <p:nvPr/>
        </p:nvSpPr>
        <p:spPr>
          <a:xfrm xmlns:a="http://schemas.openxmlformats.org/drawingml/2006/main">
            <a:off x="8172450" y="2095500"/>
            <a:ext cx="57150" cy="1809750"/>
          </a:xfrm>
          <a:prstGeom xmlns:a="http://schemas.openxmlformats.org/drawingml/2006/main" prst="rect">
            <a:avLst/>
          </a:prstGeom>
          <a:solidFill xmlns:a="http://schemas.openxmlformats.org/drawingml/2006/main">
            <a:srgbClr val="64816D"/>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9037129-D0EB-4872-8012-E6663249F7CE}"/>
              </a:ext>
            </a:extLst>
          </p:cNvPr>
          <p:cNvSpPr>
            <a:spLocks xmlns:a="http://schemas.openxmlformats.org/drawingml/2006/main" noGrp="1"/>
          </p:cNvSpPr>
          <p:nvPr/>
        </p:nvSpPr>
        <p:spPr>
          <a:xfrm xmlns:a="http://schemas.openxmlformats.org/drawingml/2006/main">
            <a:off x="8382000" y="2238375"/>
            <a:ext cx="29622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056"/>
          </a:bodyPr>
          <a:lstStyle xmlns:a="http://schemas.openxmlformats.org/drawingml/2006/main"/>
          <a:p xmlns:a="http://schemas.openxmlformats.org/drawingml/2006/main">
            <a:pPr>
              <a:defRPr sz="900" b="1">
                <a:solidFill>
                  <a:srgbClr val="64816D"/>
                </a:solidFill>
                <a:latin typeface="Arial"/>
                <a:ea typeface="Arial"/>
                <a:cs typeface="Arial"/>
              </a:defRPr>
            </a:pPr>
            <a:r>
              <a:rPr sz="900" b="1">
                <a:solidFill>
                  <a:srgbClr val="64816D"/>
                </a:solidFill>
                <a:latin typeface="Arial"/>
                <a:ea typeface="Arial"/>
                <a:cs typeface="Arial"/>
              </a:rPr>
              <a:t>VINTAGE THỰC</a:t>
            </a:r>
          </a:p>
        </p:txBody>
      </p:sp>
      <p:sp>
        <p:nvSpPr>
          <p:cNvPr id="19" name="">
            <a:extLst xmlns:a="http://schemas.openxmlformats.org/drawingml/2006/main">
              <a:ext uri="{FF2B5EF4-FFF2-40B4-BE49-F238E27FC236}">
                <a16:creationId xmlns:a16="http://schemas.microsoft.com/office/drawing/2014/main" id="{35E58DCD-A4B2-45B8-A99A-435EA13BDE82}"/>
              </a:ext>
            </a:extLst>
          </p:cNvPr>
          <p:cNvSpPr>
            <a:spLocks xmlns:a="http://schemas.openxmlformats.org/drawingml/2006/main" noGrp="1"/>
          </p:cNvSpPr>
          <p:nvPr/>
        </p:nvSpPr>
        <p:spPr>
          <a:xfrm xmlns:a="http://schemas.openxmlformats.org/drawingml/2006/main">
            <a:off x="8382000" y="2543175"/>
            <a:ext cx="29622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2E3B35"/>
                </a:solidFill>
                <a:latin typeface="Georgia"/>
                <a:ea typeface="Georgia"/>
                <a:cs typeface="Georgia"/>
              </a:defRPr>
            </a:pPr>
            <a:r>
              <a:rPr sz="1350" b="0">
                <a:solidFill>
                  <a:srgbClr val="2E3B35"/>
                </a:solidFill>
                <a:latin typeface="Georgia"/>
                <a:ea typeface="Georgia"/>
                <a:cs typeface="Georgia"/>
              </a:rPr>
              <a:t>So sánh vintage chỉ từ bảng vintage riêng; vintage thiếu follow-up không được gán CIF = 0.</a:t>
            </a:r>
          </a:p>
        </p:txBody>
      </p:sp>
      <p:sp>
        <p:nvSpPr>
          <p:cNvPr id="20" name="">
            <a:extLst xmlns:a="http://schemas.openxmlformats.org/drawingml/2006/main">
              <a:ext uri="{FF2B5EF4-FFF2-40B4-BE49-F238E27FC236}">
                <a16:creationId xmlns:a16="http://schemas.microsoft.com/office/drawing/2014/main" id="{97CF8152-6546-4846-B081-4ED6B6A96046}"/>
              </a:ext>
            </a:extLst>
          </p:cNvPr>
          <p:cNvSpPr>
            <a:spLocks xmlns:a="http://schemas.openxmlformats.org/drawingml/2006/main" noGrp="1"/>
          </p:cNvSpPr>
          <p:nvPr/>
        </p:nvSpPr>
        <p:spPr>
          <a:xfrm xmlns:a="http://schemas.openxmlformats.org/drawingml/2006/main">
            <a:off x="857250" y="4533900"/>
            <a:ext cx="1038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2E3B35"/>
                </a:solidFill>
                <a:latin typeface="Georgia"/>
                <a:ea typeface="Georgia"/>
                <a:cs typeface="Georgia"/>
              </a:defRPr>
            </a:pPr>
            <a:r>
              <a:rPr sz="1425" b="0">
                <a:solidFill>
                  <a:srgbClr val="2E3B35"/>
                </a:solidFill>
                <a:latin typeface="Georgia"/>
                <a:ea typeface="Georgia"/>
                <a:cs typeface="Georgia"/>
              </a:rPr>
              <a:t>Nếu CI hoặc at-risk không có trong artifact, giao diện báo thiếu. Không nội suy và không giả định rằng khác biệt nhỏ có ý nghĩa thống kê.</a:t>
            </a:r>
          </a:p>
        </p:txBody>
      </p:sp>
    </p:spTree>
    <p:extLst>
      <p:ext uri="{BB962C8B-B14F-4D97-AF65-F5344CB8AC3E}">
        <p14:creationId xmlns:p14="http://schemas.microsoft.com/office/powerpoint/2010/main" val="90475784"/>
      </p:ext>
    </p:extLst>
  </p:cSld>
</p:sld>
</file>

<file path=ppt/slides/slide10.xml><?xml version="1.0" encoding="utf-8"?>
<p:sld xmlns:p="http://schemas.openxmlformats.org/presentationml/2006/main">
  <p:cSld>
    <p:bg>
      <p:bgPr>
        <a:solidFill xmlns:a="http://schemas.openxmlformats.org/drawingml/2006/main">
          <a:srgbClr val="F1EFE6"/>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2B3796C-39D5-4F9E-999C-6A22DC6E9809}"/>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2E3B3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DAA7112-5E3D-4F55-BA4D-2FCF7DC84729}"/>
              </a:ext>
            </a:extLst>
          </p:cNvPr>
          <p:cNvSpPr>
            <a:spLocks xmlns:a="http://schemas.openxmlformats.org/drawingml/2006/main" noGrp="1"/>
          </p:cNvSpPr>
          <p:nvPr/>
        </p:nvSpPr>
        <p:spPr>
          <a:xfrm xmlns:a="http://schemas.openxmlformats.org/drawingml/2006/main">
            <a:off x="609600" y="3238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defRPr sz="1050" b="1">
                <a:solidFill>
                  <a:srgbClr val="B5A15B"/>
                </a:solidFill>
                <a:latin typeface="Arial"/>
                <a:ea typeface="Arial"/>
                <a:cs typeface="Arial"/>
              </a:defRPr>
            </a:pPr>
            <a:r>
              <a:rPr sz="1050" b="1">
                <a:solidFill>
                  <a:srgbClr val="B5A15B"/>
                </a:solidFill>
                <a:latin typeface="Arial"/>
                <a:ea typeface="Arial"/>
                <a:cs typeface="Arial"/>
              </a:rPr>
              <a:t>09 · BỐI CẢNH 2008</a:t>
            </a:r>
          </a:p>
        </p:txBody>
      </p:sp>
      <p:sp>
        <p:nvSpPr>
          <p:cNvPr id="3" name="">
            <a:extLst xmlns:a="http://schemas.openxmlformats.org/drawingml/2006/main">
              <a:ext uri="{FF2B5EF4-FFF2-40B4-BE49-F238E27FC236}">
                <a16:creationId xmlns:a16="http://schemas.microsoft.com/office/drawing/2014/main" id="{2074D3F3-153D-45EE-9F03-4448F7571A95}"/>
              </a:ext>
            </a:extLst>
          </p:cNvPr>
          <p:cNvSpPr>
            <a:spLocks xmlns:a="http://schemas.openxmlformats.org/drawingml/2006/main" noGrp="1"/>
          </p:cNvSpPr>
          <p:nvPr/>
        </p:nvSpPr>
        <p:spPr>
          <a:xfrm xmlns:a="http://schemas.openxmlformats.org/drawingml/2006/main">
            <a:off x="609600" y="6477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988"/>
          </a:bodyPr>
          <a:lstStyle xmlns:a="http://schemas.openxmlformats.org/drawingml/2006/main"/>
          <a:p xmlns:a="http://schemas.openxmlformats.org/drawingml/2006/main">
            <a:pPr>
              <a:defRPr sz="2850" b="1">
                <a:solidFill>
                  <a:srgbClr val="2E3B35"/>
                </a:solidFill>
                <a:latin typeface="Georgia"/>
                <a:ea typeface="Georgia"/>
                <a:cs typeface="Georgia"/>
              </a:defRPr>
            </a:pPr>
            <a:r>
              <a:rPr sz="2850" b="1">
                <a:solidFill>
                  <a:srgbClr val="2E3B35"/>
                </a:solidFill>
                <a:latin typeface="Georgia"/>
                <a:ea typeface="Georgia"/>
                <a:cs typeface="Georgia"/>
              </a:rPr>
              <a:t>Bài học quản trị có ích, nhưng mẫu này không kiểm định khủng hoảng</a:t>
            </a:r>
          </a:p>
        </p:txBody>
      </p:sp>
      <p:sp>
        <p:nvSpPr>
          <p:cNvPr id="4" name="">
            <a:extLst xmlns:a="http://schemas.openxmlformats.org/drawingml/2006/main">
              <a:ext uri="{FF2B5EF4-FFF2-40B4-BE49-F238E27FC236}">
                <a16:creationId xmlns:a16="http://schemas.microsoft.com/office/drawing/2014/main" id="{084F4718-49CA-4DE5-B8D0-A1C0578FB3AA}"/>
              </a:ext>
            </a:extLst>
          </p:cNvPr>
          <p:cNvSpPr>
            <a:spLocks xmlns:a="http://schemas.openxmlformats.org/drawingml/2006/main" noGrp="1"/>
          </p:cNvSpPr>
          <p:nvPr/>
        </p:nvSpPr>
        <p:spPr>
          <a:xfrm xmlns:a="http://schemas.openxmlformats.org/drawingml/2006/main">
            <a:off x="628650" y="13239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748078"/>
                </a:solidFill>
                <a:latin typeface="Georgia"/>
                <a:ea typeface="Georgia"/>
                <a:cs typeface="Georgia"/>
              </a:defRPr>
            </a:pPr>
            <a:r>
              <a:rPr sz="1425" b="0">
                <a:solidFill>
                  <a:srgbClr val="748078"/>
                </a:solidFill>
                <a:latin typeface="Georgia"/>
                <a:ea typeface="Georgia"/>
                <a:cs typeface="Georgia"/>
              </a:rPr>
              <a:t>Dữ liệu nghiên cứu bắt đầu từ vintage 2016.</a:t>
            </a:r>
          </a:p>
        </p:txBody>
      </p:sp>
      <p:sp>
        <p:nvSpPr>
          <p:cNvPr id="5" name="">
            <a:extLst xmlns:a="http://schemas.openxmlformats.org/drawingml/2006/main">
              <a:ext uri="{FF2B5EF4-FFF2-40B4-BE49-F238E27FC236}">
                <a16:creationId xmlns:a16="http://schemas.microsoft.com/office/drawing/2014/main" id="{33CF8089-60EF-4DD6-BDE2-6202ED259118}"/>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8D4C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002B444-3182-4A72-8845-919056C8C158}"/>
              </a:ext>
            </a:extLst>
          </p:cNvPr>
          <p:cNvSpPr>
            <a:spLocks xmlns:a="http://schemas.openxmlformats.org/drawingml/2006/main" noGrp="1"/>
          </p:cNvSpPr>
          <p:nvPr/>
        </p:nvSpPr>
        <p:spPr>
          <a:xfrm xmlns:a="http://schemas.openxmlformats.org/drawingml/2006/main">
            <a:off x="628650" y="649605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0">
                <a:solidFill>
                  <a:srgbClr val="748078"/>
                </a:solidFill>
                <a:latin typeface="Arial"/>
                <a:ea typeface="Arial"/>
                <a:cs typeface="Arial"/>
              </a:defRPr>
            </a:pPr>
            <a:r>
              <a:rPr sz="750" b="0">
                <a:solidFill>
                  <a:srgbClr val="748078"/>
                </a:solidFill>
                <a:latin typeface="Arial"/>
                <a:ea typeface="Arial"/>
                <a:cs typeface="Arial"/>
              </a:rPr>
              <a:t>Mortgage Default &amp; Prepayment · Freddie Mac 2016–2026</a:t>
            </a:r>
          </a:p>
        </p:txBody>
      </p:sp>
      <p:sp>
        <p:nvSpPr>
          <p:cNvPr id="7" name="">
            <a:extLst xmlns:a="http://schemas.openxmlformats.org/drawingml/2006/main">
              <a:ext uri="{FF2B5EF4-FFF2-40B4-BE49-F238E27FC236}">
                <a16:creationId xmlns:a16="http://schemas.microsoft.com/office/drawing/2014/main" id="{E02B2F96-3AEF-4DC9-897F-7CA3823A4CE6}"/>
              </a:ext>
            </a:extLst>
          </p:cNvPr>
          <p:cNvSpPr>
            <a:spLocks xmlns:a="http://schemas.openxmlformats.org/drawingml/2006/main" noGrp="1"/>
          </p:cNvSpPr>
          <p:nvPr/>
        </p:nvSpPr>
        <p:spPr>
          <a:xfrm xmlns:a="http://schemas.openxmlformats.org/drawingml/2006/main">
            <a:off x="11049000" y="647700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0">
                <a:solidFill>
                  <a:srgbClr val="748078"/>
                </a:solidFill>
                <a:latin typeface="Arial"/>
                <a:ea typeface="Arial"/>
                <a:cs typeface="Arial"/>
              </a:defRPr>
            </a:pPr>
            <a:r>
              <a:rPr sz="825" b="0">
                <a:solidFill>
                  <a:srgbClr val="748078"/>
                </a:solidFill>
                <a:latin typeface="Arial"/>
                <a:ea typeface="Arial"/>
                <a:cs typeface="Arial"/>
              </a:rPr>
              <a:t>10</a:t>
            </a:r>
          </a:p>
        </p:txBody>
      </p:sp>
      <p:sp>
        <p:nvSpPr>
          <p:cNvPr id="8" name="">
            <a:extLst xmlns:a="http://schemas.openxmlformats.org/drawingml/2006/main">
              <a:ext uri="{FF2B5EF4-FFF2-40B4-BE49-F238E27FC236}">
                <a16:creationId xmlns:a16="http://schemas.microsoft.com/office/drawing/2014/main" id="{7E233E59-A789-435A-84B0-CE29D60F0675}"/>
              </a:ext>
            </a:extLst>
          </p:cNvPr>
          <p:cNvSpPr>
            <a:spLocks xmlns:a="http://schemas.openxmlformats.org/drawingml/2006/main" noGrp="1"/>
          </p:cNvSpPr>
          <p:nvPr/>
        </p:nvSpPr>
        <p:spPr>
          <a:xfrm xmlns:a="http://schemas.openxmlformats.org/drawingml/2006/main">
            <a:off x="628650" y="2095500"/>
            <a:ext cx="5095875" cy="2381250"/>
          </a:xfrm>
          <a:prstGeom xmlns:a="http://schemas.openxmlformats.org/drawingml/2006/main" prst="rect">
            <a:avLst/>
          </a:prstGeom>
          <a:solidFill xmlns:a="http://schemas.openxmlformats.org/drawingml/2006/main">
            <a:srgbClr val="FFFDF8"/>
          </a:solidFill>
          <a:ln xmlns:a="http://schemas.openxmlformats.org/drawingml/2006/main" w="12383">
            <a:solidFill>
              <a:srgbClr val="D8D4C6"/>
            </a:solidFill>
          </a:ln>
        </p:spPr>
      </p:sp>
      <p:sp>
        <p:nvSpPr>
          <p:cNvPr id="9" name="">
            <a:extLst xmlns:a="http://schemas.openxmlformats.org/drawingml/2006/main">
              <a:ext uri="{FF2B5EF4-FFF2-40B4-BE49-F238E27FC236}">
                <a16:creationId xmlns:a16="http://schemas.microsoft.com/office/drawing/2014/main" id="{BFB094AB-0424-4D40-AD2A-274F455389BD}"/>
              </a:ext>
            </a:extLst>
          </p:cNvPr>
          <p:cNvSpPr>
            <a:spLocks xmlns:a="http://schemas.openxmlformats.org/drawingml/2006/main" noGrp="1"/>
          </p:cNvSpPr>
          <p:nvPr/>
        </p:nvSpPr>
        <p:spPr>
          <a:xfrm xmlns:a="http://schemas.openxmlformats.org/drawingml/2006/main">
            <a:off x="628650" y="2095500"/>
            <a:ext cx="57150" cy="2381250"/>
          </a:xfrm>
          <a:prstGeom xmlns:a="http://schemas.openxmlformats.org/drawingml/2006/main" prst="rect">
            <a:avLst/>
          </a:prstGeom>
          <a:solidFill xmlns:a="http://schemas.openxmlformats.org/drawingml/2006/main">
            <a:srgbClr val="B5A15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03450E0-8592-4FBB-90A9-DD5C61BD1EC4}"/>
              </a:ext>
            </a:extLst>
          </p:cNvPr>
          <p:cNvSpPr>
            <a:spLocks xmlns:a="http://schemas.openxmlformats.org/drawingml/2006/main" noGrp="1"/>
          </p:cNvSpPr>
          <p:nvPr/>
        </p:nvSpPr>
        <p:spPr>
          <a:xfrm xmlns:a="http://schemas.openxmlformats.org/drawingml/2006/main">
            <a:off x="838200" y="2238375"/>
            <a:ext cx="46767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056"/>
          </a:bodyPr>
          <a:lstStyle xmlns:a="http://schemas.openxmlformats.org/drawingml/2006/main"/>
          <a:p xmlns:a="http://schemas.openxmlformats.org/drawingml/2006/main">
            <a:pPr>
              <a:defRPr sz="900" b="1">
                <a:solidFill>
                  <a:srgbClr val="B5A15B"/>
                </a:solidFill>
                <a:latin typeface="Arial"/>
                <a:ea typeface="Arial"/>
                <a:cs typeface="Arial"/>
              </a:defRPr>
            </a:pPr>
            <a:r>
              <a:rPr sz="900" b="1">
                <a:solidFill>
                  <a:srgbClr val="B5A15B"/>
                </a:solidFill>
                <a:latin typeface="Arial"/>
                <a:ea typeface="Arial"/>
                <a:cs typeface="Arial"/>
              </a:rPr>
              <a:t>BÀI HỌC TỪ TÀI LIỆU LỊCH SỬ</a:t>
            </a:r>
          </a:p>
        </p:txBody>
      </p:sp>
      <p:sp>
        <p:nvSpPr>
          <p:cNvPr id="11" name="">
            <a:extLst xmlns:a="http://schemas.openxmlformats.org/drawingml/2006/main">
              <a:ext uri="{FF2B5EF4-FFF2-40B4-BE49-F238E27FC236}">
                <a16:creationId xmlns:a16="http://schemas.microsoft.com/office/drawing/2014/main" id="{66F20D08-27C3-4342-BCA7-7D8C0FEB90B8}"/>
              </a:ext>
            </a:extLst>
          </p:cNvPr>
          <p:cNvSpPr>
            <a:spLocks xmlns:a="http://schemas.openxmlformats.org/drawingml/2006/main" noGrp="1"/>
          </p:cNvSpPr>
          <p:nvPr/>
        </p:nvSpPr>
        <p:spPr>
          <a:xfrm xmlns:a="http://schemas.openxmlformats.org/drawingml/2006/main">
            <a:off x="838200" y="2543175"/>
            <a:ext cx="4676775" cy="1838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2E3B35"/>
                </a:solidFill>
                <a:latin typeface="Georgia"/>
                <a:ea typeface="Georgia"/>
                <a:cs typeface="Georgia"/>
              </a:defRPr>
            </a:pPr>
            <a:r>
              <a:rPr sz="1350" b="0">
                <a:solidFill>
                  <a:srgbClr val="2E3B35"/>
                </a:solidFill>
                <a:latin typeface="Georgia"/>
                <a:ea typeface="Georgia"/>
                <a:cs typeface="Georgia"/>
              </a:rPr>
              <a:t>Theo dõi underwriting và vintage. Kiểm tra giả định, dữ liệu và kịch bản bất lợi. Ratings không thay due diligence. Trách nhiệm cần rõ trong toàn chuỗi cấp và nắm giữ khoản vay.</a:t>
            </a:r>
          </a:p>
        </p:txBody>
      </p:sp>
      <p:sp>
        <p:nvSpPr>
          <p:cNvPr id="12" name="">
            <a:extLst xmlns:a="http://schemas.openxmlformats.org/drawingml/2006/main">
              <a:ext uri="{FF2B5EF4-FFF2-40B4-BE49-F238E27FC236}">
                <a16:creationId xmlns:a16="http://schemas.microsoft.com/office/drawing/2014/main" id="{0EB40D73-76F9-438E-81F8-F88EF83AE1A0}"/>
              </a:ext>
            </a:extLst>
          </p:cNvPr>
          <p:cNvSpPr>
            <a:spLocks xmlns:a="http://schemas.openxmlformats.org/drawingml/2006/main" noGrp="1"/>
          </p:cNvSpPr>
          <p:nvPr/>
        </p:nvSpPr>
        <p:spPr>
          <a:xfrm xmlns:a="http://schemas.openxmlformats.org/drawingml/2006/main">
            <a:off x="6238875" y="2095500"/>
            <a:ext cx="5314950" cy="2381250"/>
          </a:xfrm>
          <a:prstGeom xmlns:a="http://schemas.openxmlformats.org/drawingml/2006/main" prst="rect">
            <a:avLst/>
          </a:prstGeom>
          <a:solidFill xmlns:a="http://schemas.openxmlformats.org/drawingml/2006/main">
            <a:srgbClr val="FFFDF8"/>
          </a:solidFill>
          <a:ln xmlns:a="http://schemas.openxmlformats.org/drawingml/2006/main" w="12383">
            <a:solidFill>
              <a:srgbClr val="D8D4C6"/>
            </a:solidFill>
          </a:ln>
        </p:spPr>
      </p:sp>
      <p:sp>
        <p:nvSpPr>
          <p:cNvPr id="13" name="">
            <a:extLst xmlns:a="http://schemas.openxmlformats.org/drawingml/2006/main">
              <a:ext uri="{FF2B5EF4-FFF2-40B4-BE49-F238E27FC236}">
                <a16:creationId xmlns:a16="http://schemas.microsoft.com/office/drawing/2014/main" id="{CA3E8837-D58C-48A5-92C7-AB8054F034C6}"/>
              </a:ext>
            </a:extLst>
          </p:cNvPr>
          <p:cNvSpPr>
            <a:spLocks xmlns:a="http://schemas.openxmlformats.org/drawingml/2006/main" noGrp="1"/>
          </p:cNvSpPr>
          <p:nvPr/>
        </p:nvSpPr>
        <p:spPr>
          <a:xfrm xmlns:a="http://schemas.openxmlformats.org/drawingml/2006/main">
            <a:off x="6238875" y="2095500"/>
            <a:ext cx="57150" cy="2381250"/>
          </a:xfrm>
          <a:prstGeom xmlns:a="http://schemas.openxmlformats.org/drawingml/2006/main" prst="rect">
            <a:avLst/>
          </a:prstGeom>
          <a:solidFill xmlns:a="http://schemas.openxmlformats.org/drawingml/2006/main">
            <a:srgbClr val="B8625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121AF16-8CD7-4FE5-AC50-731EB6C9F076}"/>
              </a:ext>
            </a:extLst>
          </p:cNvPr>
          <p:cNvSpPr>
            <a:spLocks xmlns:a="http://schemas.openxmlformats.org/drawingml/2006/main" noGrp="1"/>
          </p:cNvSpPr>
          <p:nvPr/>
        </p:nvSpPr>
        <p:spPr>
          <a:xfrm xmlns:a="http://schemas.openxmlformats.org/drawingml/2006/main">
            <a:off x="6448425" y="2238375"/>
            <a:ext cx="48958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056"/>
          </a:bodyPr>
          <a:lstStyle xmlns:a="http://schemas.openxmlformats.org/drawingml/2006/main"/>
          <a:p xmlns:a="http://schemas.openxmlformats.org/drawingml/2006/main">
            <a:pPr>
              <a:defRPr sz="900" b="1">
                <a:solidFill>
                  <a:srgbClr val="B86252"/>
                </a:solidFill>
                <a:latin typeface="Arial"/>
                <a:ea typeface="Arial"/>
                <a:cs typeface="Arial"/>
              </a:defRPr>
            </a:pPr>
            <a:r>
              <a:rPr sz="900" b="1">
                <a:solidFill>
                  <a:srgbClr val="B86252"/>
                </a:solidFill>
                <a:latin typeface="Arial"/>
                <a:ea typeface="Arial"/>
                <a:cs typeface="Arial"/>
              </a:rPr>
              <a:t>GIỚI HẠN CỦA DỰ ÁN</a:t>
            </a:r>
          </a:p>
        </p:txBody>
      </p:sp>
      <p:sp>
        <p:nvSpPr>
          <p:cNvPr id="15" name="">
            <a:extLst xmlns:a="http://schemas.openxmlformats.org/drawingml/2006/main">
              <a:ext uri="{FF2B5EF4-FFF2-40B4-BE49-F238E27FC236}">
                <a16:creationId xmlns:a16="http://schemas.microsoft.com/office/drawing/2014/main" id="{AE2228CE-19FA-49F8-8470-EF08FB0BAA9B}"/>
              </a:ext>
            </a:extLst>
          </p:cNvPr>
          <p:cNvSpPr>
            <a:spLocks xmlns:a="http://schemas.openxmlformats.org/drawingml/2006/main" noGrp="1"/>
          </p:cNvSpPr>
          <p:nvPr/>
        </p:nvSpPr>
        <p:spPr>
          <a:xfrm xmlns:a="http://schemas.openxmlformats.org/drawingml/2006/main">
            <a:off x="6448425" y="2543175"/>
            <a:ext cx="4895850" cy="1838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2E3B35"/>
                </a:solidFill>
                <a:latin typeface="Georgia"/>
                <a:ea typeface="Georgia"/>
                <a:cs typeface="Georgia"/>
              </a:defRPr>
            </a:pPr>
            <a:r>
              <a:rPr sz="1350" b="0">
                <a:solidFill>
                  <a:srgbClr val="2E3B35"/>
                </a:solidFill>
                <a:latin typeface="Georgia"/>
                <a:ea typeface="Georgia"/>
                <a:cs typeface="Georgia"/>
              </a:rPr>
              <a:t>Không có vintage 2008. Không tái lập được kết quả của crisis-era subprime bằng mẫu Freddie Mac 2016–2026. Đây là bối cảnh để thảo luận, không phải phát hiện thực nghiệm của nhóm.</a:t>
            </a:r>
          </a:p>
        </p:txBody>
      </p:sp>
      <p:sp>
        <p:nvSpPr>
          <p:cNvPr id="16" name="">
            <a:extLst xmlns:a="http://schemas.openxmlformats.org/drawingml/2006/main">
              <a:ext uri="{FF2B5EF4-FFF2-40B4-BE49-F238E27FC236}">
                <a16:creationId xmlns:a16="http://schemas.microsoft.com/office/drawing/2014/main" id="{9FFCA40D-5CB5-46ED-9924-6E7770E0D039}"/>
              </a:ext>
            </a:extLst>
          </p:cNvPr>
          <p:cNvSpPr>
            <a:spLocks xmlns:a="http://schemas.openxmlformats.org/drawingml/2006/main" noGrp="1"/>
          </p:cNvSpPr>
          <p:nvPr/>
        </p:nvSpPr>
        <p:spPr>
          <a:xfrm xmlns:a="http://schemas.openxmlformats.org/drawingml/2006/main">
            <a:off x="876300" y="5048250"/>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2E3B35"/>
                </a:solidFill>
                <a:latin typeface="Georgia"/>
                <a:ea typeface="Georgia"/>
                <a:cs typeface="Georgia"/>
              </a:defRPr>
            </a:pPr>
            <a:r>
              <a:rPr sz="1425" b="1">
                <a:solidFill>
                  <a:srgbClr val="2E3B35"/>
                </a:solidFill>
                <a:latin typeface="Georgia"/>
                <a:ea typeface="Georgia"/>
                <a:cs typeface="Georgia"/>
              </a:rPr>
              <a:t>Không quy kết nguyên nhân vỡ nợ chỉ từ FICO, LTV, DTI hay vintage.</a:t>
            </a:r>
          </a:p>
        </p:txBody>
      </p:sp>
    </p:spTree>
    <p:extLst>
      <p:ext uri="{BB962C8B-B14F-4D97-AF65-F5344CB8AC3E}">
        <p14:creationId xmlns:p14="http://schemas.microsoft.com/office/powerpoint/2010/main" val="1854153910"/>
      </p:ext>
    </p:extLst>
  </p:cSld>
</p:sld>
</file>

<file path=ppt/slides/slide11.xml><?xml version="1.0" encoding="utf-8"?>
<p:sld xmlns:p="http://schemas.openxmlformats.org/presentationml/2006/main">
  <p:cSld>
    <p:bg>
      <p:bgPr>
        <a:solidFill xmlns:a="http://schemas.openxmlformats.org/drawingml/2006/main">
          <a:srgbClr val="F1EFE6"/>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13E0253-2FF4-4A38-AF63-FAF24D3D9CAD}"/>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2E3B3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A31CF67-9C9B-4C81-82BE-E342E2261F4A}"/>
              </a:ext>
            </a:extLst>
          </p:cNvPr>
          <p:cNvSpPr>
            <a:spLocks xmlns:a="http://schemas.openxmlformats.org/drawingml/2006/main" noGrp="1"/>
          </p:cNvSpPr>
          <p:nvPr/>
        </p:nvSpPr>
        <p:spPr>
          <a:xfrm xmlns:a="http://schemas.openxmlformats.org/drawingml/2006/main">
            <a:off x="609600" y="3238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defRPr sz="1050" b="1">
                <a:solidFill>
                  <a:srgbClr val="B5A15B"/>
                </a:solidFill>
                <a:latin typeface="Arial"/>
                <a:ea typeface="Arial"/>
                <a:cs typeface="Arial"/>
              </a:defRPr>
            </a:pPr>
            <a:r>
              <a:rPr sz="1050" b="1">
                <a:solidFill>
                  <a:srgbClr val="B5A15B"/>
                </a:solidFill>
                <a:latin typeface="Arial"/>
                <a:ea typeface="Arial"/>
                <a:cs typeface="Arial"/>
              </a:rPr>
              <a:t>10 · HÀM Ý</a:t>
            </a:r>
          </a:p>
        </p:txBody>
      </p:sp>
      <p:sp>
        <p:nvSpPr>
          <p:cNvPr id="3" name="">
            <a:extLst xmlns:a="http://schemas.openxmlformats.org/drawingml/2006/main">
              <a:ext uri="{FF2B5EF4-FFF2-40B4-BE49-F238E27FC236}">
                <a16:creationId xmlns:a16="http://schemas.microsoft.com/office/drawing/2014/main" id="{67B94D48-DFA1-48CE-BD9B-DD0B83317207}"/>
              </a:ext>
            </a:extLst>
          </p:cNvPr>
          <p:cNvSpPr>
            <a:spLocks xmlns:a="http://schemas.openxmlformats.org/drawingml/2006/main" noGrp="1"/>
          </p:cNvSpPr>
          <p:nvPr/>
        </p:nvSpPr>
        <p:spPr>
          <a:xfrm xmlns:a="http://schemas.openxmlformats.org/drawingml/2006/main">
            <a:off x="609600" y="6477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850" b="1">
                <a:solidFill>
                  <a:srgbClr val="2E3B35"/>
                </a:solidFill>
                <a:latin typeface="Georgia"/>
                <a:ea typeface="Georgia"/>
                <a:cs typeface="Georgia"/>
              </a:defRPr>
            </a:pPr>
            <a:r>
              <a:rPr sz="2850" b="1">
                <a:solidFill>
                  <a:srgbClr val="2E3B35"/>
                </a:solidFill>
                <a:latin typeface="Georgia"/>
                <a:ea typeface="Georgia"/>
                <a:cs typeface="Georgia"/>
              </a:rPr>
              <a:t>Ngân hàng và nhà đầu tư cần đọc CIF cùng bất định</a:t>
            </a:r>
          </a:p>
        </p:txBody>
      </p:sp>
      <p:sp>
        <p:nvSpPr>
          <p:cNvPr id="4" name="">
            <a:extLst xmlns:a="http://schemas.openxmlformats.org/drawingml/2006/main">
              <a:ext uri="{FF2B5EF4-FFF2-40B4-BE49-F238E27FC236}">
                <a16:creationId xmlns:a16="http://schemas.microsoft.com/office/drawing/2014/main" id="{A01E2B87-6BFC-45BD-A2CD-CD6411862CBA}"/>
              </a:ext>
            </a:extLst>
          </p:cNvPr>
          <p:cNvSpPr>
            <a:spLocks xmlns:a="http://schemas.openxmlformats.org/drawingml/2006/main" noGrp="1"/>
          </p:cNvSpPr>
          <p:nvPr/>
        </p:nvSpPr>
        <p:spPr>
          <a:xfrm xmlns:a="http://schemas.openxmlformats.org/drawingml/2006/main">
            <a:off x="628650" y="13239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748078"/>
                </a:solidFill>
                <a:latin typeface="Georgia"/>
                <a:ea typeface="Georgia"/>
                <a:cs typeface="Georgia"/>
              </a:defRPr>
            </a:pPr>
            <a:r>
              <a:rPr sz="1425" b="0">
                <a:solidFill>
                  <a:srgbClr val="748078"/>
                </a:solidFill>
                <a:latin typeface="Georgia"/>
                <a:ea typeface="Georgia"/>
                <a:cs typeface="Georgia"/>
              </a:rPr>
              <a:t>Các ứng dụng dưới đây là khuyến nghị quản trị, không phải kiểm định tác động trong mẫu.</a:t>
            </a:r>
          </a:p>
        </p:txBody>
      </p:sp>
      <p:sp>
        <p:nvSpPr>
          <p:cNvPr id="5" name="">
            <a:extLst xmlns:a="http://schemas.openxmlformats.org/drawingml/2006/main">
              <a:ext uri="{FF2B5EF4-FFF2-40B4-BE49-F238E27FC236}">
                <a16:creationId xmlns:a16="http://schemas.microsoft.com/office/drawing/2014/main" id="{1108255B-964C-4C7B-B6E4-6D1AFFE02410}"/>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8D4C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BC06273-B881-4660-9E1C-79A0991B871F}"/>
              </a:ext>
            </a:extLst>
          </p:cNvPr>
          <p:cNvSpPr>
            <a:spLocks xmlns:a="http://schemas.openxmlformats.org/drawingml/2006/main" noGrp="1"/>
          </p:cNvSpPr>
          <p:nvPr/>
        </p:nvSpPr>
        <p:spPr>
          <a:xfrm xmlns:a="http://schemas.openxmlformats.org/drawingml/2006/main">
            <a:off x="628650" y="649605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0">
                <a:solidFill>
                  <a:srgbClr val="748078"/>
                </a:solidFill>
                <a:latin typeface="Arial"/>
                <a:ea typeface="Arial"/>
                <a:cs typeface="Arial"/>
              </a:defRPr>
            </a:pPr>
            <a:r>
              <a:rPr sz="750" b="0">
                <a:solidFill>
                  <a:srgbClr val="748078"/>
                </a:solidFill>
                <a:latin typeface="Arial"/>
                <a:ea typeface="Arial"/>
                <a:cs typeface="Arial"/>
              </a:rPr>
              <a:t>Mortgage Default &amp; Prepayment · Freddie Mac 2016–2026</a:t>
            </a:r>
          </a:p>
        </p:txBody>
      </p:sp>
      <p:sp>
        <p:nvSpPr>
          <p:cNvPr id="7" name="">
            <a:extLst xmlns:a="http://schemas.openxmlformats.org/drawingml/2006/main">
              <a:ext uri="{FF2B5EF4-FFF2-40B4-BE49-F238E27FC236}">
                <a16:creationId xmlns:a16="http://schemas.microsoft.com/office/drawing/2014/main" id="{0BF0F153-C5BE-4EDD-B0E9-450C8F1A0D8C}"/>
              </a:ext>
            </a:extLst>
          </p:cNvPr>
          <p:cNvSpPr>
            <a:spLocks xmlns:a="http://schemas.openxmlformats.org/drawingml/2006/main" noGrp="1"/>
          </p:cNvSpPr>
          <p:nvPr/>
        </p:nvSpPr>
        <p:spPr>
          <a:xfrm xmlns:a="http://schemas.openxmlformats.org/drawingml/2006/main">
            <a:off x="11049000" y="647700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0">
                <a:solidFill>
                  <a:srgbClr val="748078"/>
                </a:solidFill>
                <a:latin typeface="Arial"/>
                <a:ea typeface="Arial"/>
                <a:cs typeface="Arial"/>
              </a:defRPr>
            </a:pPr>
            <a:r>
              <a:rPr sz="825" b="0">
                <a:solidFill>
                  <a:srgbClr val="748078"/>
                </a:solidFill>
                <a:latin typeface="Arial"/>
                <a:ea typeface="Arial"/>
                <a:cs typeface="Arial"/>
              </a:rPr>
              <a:t>11</a:t>
            </a:r>
          </a:p>
        </p:txBody>
      </p:sp>
      <p:sp>
        <p:nvSpPr>
          <p:cNvPr id="8" name="">
            <a:extLst xmlns:a="http://schemas.openxmlformats.org/drawingml/2006/main">
              <a:ext uri="{FF2B5EF4-FFF2-40B4-BE49-F238E27FC236}">
                <a16:creationId xmlns:a16="http://schemas.microsoft.com/office/drawing/2014/main" id="{79A57809-5D64-4BC6-82CE-6E95A8C6F4A7}"/>
              </a:ext>
            </a:extLst>
          </p:cNvPr>
          <p:cNvSpPr>
            <a:spLocks xmlns:a="http://schemas.openxmlformats.org/drawingml/2006/main" noGrp="1"/>
          </p:cNvSpPr>
          <p:nvPr/>
        </p:nvSpPr>
        <p:spPr>
          <a:xfrm xmlns:a="http://schemas.openxmlformats.org/drawingml/2006/main">
            <a:off x="628650" y="2095500"/>
            <a:ext cx="5095875" cy="2524125"/>
          </a:xfrm>
          <a:prstGeom xmlns:a="http://schemas.openxmlformats.org/drawingml/2006/main" prst="rect">
            <a:avLst/>
          </a:prstGeom>
          <a:solidFill xmlns:a="http://schemas.openxmlformats.org/drawingml/2006/main">
            <a:srgbClr val="FFFDF8"/>
          </a:solidFill>
          <a:ln xmlns:a="http://schemas.openxmlformats.org/drawingml/2006/main" w="12383">
            <a:solidFill>
              <a:srgbClr val="D8D4C6"/>
            </a:solidFill>
          </a:ln>
        </p:spPr>
      </p:sp>
      <p:sp>
        <p:nvSpPr>
          <p:cNvPr id="9" name="">
            <a:extLst xmlns:a="http://schemas.openxmlformats.org/drawingml/2006/main">
              <a:ext uri="{FF2B5EF4-FFF2-40B4-BE49-F238E27FC236}">
                <a16:creationId xmlns:a16="http://schemas.microsoft.com/office/drawing/2014/main" id="{18EAF722-6158-488E-9562-36443CACF915}"/>
              </a:ext>
            </a:extLst>
          </p:cNvPr>
          <p:cNvSpPr>
            <a:spLocks xmlns:a="http://schemas.openxmlformats.org/drawingml/2006/main" noGrp="1"/>
          </p:cNvSpPr>
          <p:nvPr/>
        </p:nvSpPr>
        <p:spPr>
          <a:xfrm xmlns:a="http://schemas.openxmlformats.org/drawingml/2006/main">
            <a:off x="628650" y="2095500"/>
            <a:ext cx="57150" cy="2524125"/>
          </a:xfrm>
          <a:prstGeom xmlns:a="http://schemas.openxmlformats.org/drawingml/2006/main" prst="rect">
            <a:avLst/>
          </a:prstGeom>
          <a:solidFill xmlns:a="http://schemas.openxmlformats.org/drawingml/2006/main">
            <a:srgbClr val="344F7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7EF564A-A1B2-4570-94FB-23975C5D17DF}"/>
              </a:ext>
            </a:extLst>
          </p:cNvPr>
          <p:cNvSpPr>
            <a:spLocks xmlns:a="http://schemas.openxmlformats.org/drawingml/2006/main" noGrp="1"/>
          </p:cNvSpPr>
          <p:nvPr/>
        </p:nvSpPr>
        <p:spPr>
          <a:xfrm xmlns:a="http://schemas.openxmlformats.org/drawingml/2006/main">
            <a:off x="838200" y="2238375"/>
            <a:ext cx="46767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056"/>
          </a:bodyPr>
          <a:lstStyle xmlns:a="http://schemas.openxmlformats.org/drawingml/2006/main"/>
          <a:p xmlns:a="http://schemas.openxmlformats.org/drawingml/2006/main">
            <a:pPr>
              <a:defRPr sz="900" b="1">
                <a:solidFill>
                  <a:srgbClr val="344F78"/>
                </a:solidFill>
                <a:latin typeface="Arial"/>
                <a:ea typeface="Arial"/>
                <a:cs typeface="Arial"/>
              </a:defRPr>
            </a:pPr>
            <a:r>
              <a:rPr sz="900" b="1">
                <a:solidFill>
                  <a:srgbClr val="344F78"/>
                </a:solidFill>
                <a:latin typeface="Arial"/>
                <a:ea typeface="Arial"/>
                <a:cs typeface="Arial"/>
              </a:rPr>
              <a:t>NGÂN HÀNG / SERVICER</a:t>
            </a:r>
          </a:p>
        </p:txBody>
      </p:sp>
      <p:sp>
        <p:nvSpPr>
          <p:cNvPr id="11" name="">
            <a:extLst xmlns:a="http://schemas.openxmlformats.org/drawingml/2006/main">
              <a:ext uri="{FF2B5EF4-FFF2-40B4-BE49-F238E27FC236}">
                <a16:creationId xmlns:a16="http://schemas.microsoft.com/office/drawing/2014/main" id="{F5326B6D-5C97-4F9C-95E4-27A60F342DDE}"/>
              </a:ext>
            </a:extLst>
          </p:cNvPr>
          <p:cNvSpPr>
            <a:spLocks xmlns:a="http://schemas.openxmlformats.org/drawingml/2006/main" noGrp="1"/>
          </p:cNvSpPr>
          <p:nvPr/>
        </p:nvSpPr>
        <p:spPr>
          <a:xfrm xmlns:a="http://schemas.openxmlformats.org/drawingml/2006/main">
            <a:off x="838200" y="2543175"/>
            <a:ext cx="4676775"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2E3B35"/>
                </a:solidFill>
                <a:latin typeface="Georgia"/>
                <a:ea typeface="Georgia"/>
                <a:cs typeface="Georgia"/>
              </a:defRPr>
            </a:pPr>
            <a:r>
              <a:rPr sz="1350" b="0">
                <a:solidFill>
                  <a:srgbClr val="2E3B35"/>
                </a:solidFill>
                <a:latin typeface="Georgia"/>
                <a:ea typeface="Georgia"/>
                <a:cs typeface="Georgia"/>
              </a:rPr>
              <a:t>Theo dõi cohort cùng tuổi khoản vay. Xem đồng thời CIF, CI, quy mô nhóm và số còn at-risk. Kết hợp FICO, LTV, DTI với review khoản vay. Trước triển khai cá nhân cần hiệu chuẩn, backtest theo thời gian và giám sát drift.</a:t>
            </a:r>
          </a:p>
        </p:txBody>
      </p:sp>
      <p:sp>
        <p:nvSpPr>
          <p:cNvPr id="12" name="">
            <a:extLst xmlns:a="http://schemas.openxmlformats.org/drawingml/2006/main">
              <a:ext uri="{FF2B5EF4-FFF2-40B4-BE49-F238E27FC236}">
                <a16:creationId xmlns:a16="http://schemas.microsoft.com/office/drawing/2014/main" id="{60FCA6E7-2675-4B6B-B8C7-3DA10A245595}"/>
              </a:ext>
            </a:extLst>
          </p:cNvPr>
          <p:cNvSpPr>
            <a:spLocks xmlns:a="http://schemas.openxmlformats.org/drawingml/2006/main" noGrp="1"/>
          </p:cNvSpPr>
          <p:nvPr/>
        </p:nvSpPr>
        <p:spPr>
          <a:xfrm xmlns:a="http://schemas.openxmlformats.org/drawingml/2006/main">
            <a:off x="6238875" y="2095500"/>
            <a:ext cx="5314950" cy="2524125"/>
          </a:xfrm>
          <a:prstGeom xmlns:a="http://schemas.openxmlformats.org/drawingml/2006/main" prst="rect">
            <a:avLst/>
          </a:prstGeom>
          <a:solidFill xmlns:a="http://schemas.openxmlformats.org/drawingml/2006/main">
            <a:srgbClr val="FFFDF8"/>
          </a:solidFill>
          <a:ln xmlns:a="http://schemas.openxmlformats.org/drawingml/2006/main" w="12383">
            <a:solidFill>
              <a:srgbClr val="D8D4C6"/>
            </a:solidFill>
          </a:ln>
        </p:spPr>
      </p:sp>
      <p:sp>
        <p:nvSpPr>
          <p:cNvPr id="13" name="">
            <a:extLst xmlns:a="http://schemas.openxmlformats.org/drawingml/2006/main">
              <a:ext uri="{FF2B5EF4-FFF2-40B4-BE49-F238E27FC236}">
                <a16:creationId xmlns:a16="http://schemas.microsoft.com/office/drawing/2014/main" id="{2C355CAC-AF29-43D3-8C8A-0EA77AC0DF14}"/>
              </a:ext>
            </a:extLst>
          </p:cNvPr>
          <p:cNvSpPr>
            <a:spLocks xmlns:a="http://schemas.openxmlformats.org/drawingml/2006/main" noGrp="1"/>
          </p:cNvSpPr>
          <p:nvPr/>
        </p:nvSpPr>
        <p:spPr>
          <a:xfrm xmlns:a="http://schemas.openxmlformats.org/drawingml/2006/main">
            <a:off x="6238875" y="2095500"/>
            <a:ext cx="57150" cy="2524125"/>
          </a:xfrm>
          <a:prstGeom xmlns:a="http://schemas.openxmlformats.org/drawingml/2006/main" prst="rect">
            <a:avLst/>
          </a:prstGeom>
          <a:solidFill xmlns:a="http://schemas.openxmlformats.org/drawingml/2006/main">
            <a:srgbClr val="64816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1553E5A-81D4-4ADD-987D-C4A3F862A1D7}"/>
              </a:ext>
            </a:extLst>
          </p:cNvPr>
          <p:cNvSpPr>
            <a:spLocks xmlns:a="http://schemas.openxmlformats.org/drawingml/2006/main" noGrp="1"/>
          </p:cNvSpPr>
          <p:nvPr/>
        </p:nvSpPr>
        <p:spPr>
          <a:xfrm xmlns:a="http://schemas.openxmlformats.org/drawingml/2006/main">
            <a:off x="6448425" y="2238375"/>
            <a:ext cx="48958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056"/>
          </a:bodyPr>
          <a:lstStyle xmlns:a="http://schemas.openxmlformats.org/drawingml/2006/main"/>
          <a:p xmlns:a="http://schemas.openxmlformats.org/drawingml/2006/main">
            <a:pPr>
              <a:defRPr sz="900" b="1">
                <a:solidFill>
                  <a:srgbClr val="64816D"/>
                </a:solidFill>
                <a:latin typeface="Arial"/>
                <a:ea typeface="Arial"/>
                <a:cs typeface="Arial"/>
              </a:defRPr>
            </a:pPr>
            <a:r>
              <a:rPr sz="900" b="1">
                <a:solidFill>
                  <a:srgbClr val="64816D"/>
                </a:solidFill>
                <a:latin typeface="Arial"/>
                <a:ea typeface="Arial"/>
                <a:cs typeface="Arial"/>
              </a:rPr>
              <a:t>NHÀ ĐẦU TƯ</a:t>
            </a:r>
          </a:p>
        </p:txBody>
      </p:sp>
      <p:sp>
        <p:nvSpPr>
          <p:cNvPr id="15" name="">
            <a:extLst xmlns:a="http://schemas.openxmlformats.org/drawingml/2006/main">
              <a:ext uri="{FF2B5EF4-FFF2-40B4-BE49-F238E27FC236}">
                <a16:creationId xmlns:a16="http://schemas.microsoft.com/office/drawing/2014/main" id="{1AD10F0F-3E84-4734-885F-F1E136505EBA}"/>
              </a:ext>
            </a:extLst>
          </p:cNvPr>
          <p:cNvSpPr>
            <a:spLocks xmlns:a="http://schemas.openxmlformats.org/drawingml/2006/main" noGrp="1"/>
          </p:cNvSpPr>
          <p:nvPr/>
        </p:nvSpPr>
        <p:spPr>
          <a:xfrm xmlns:a="http://schemas.openxmlformats.org/drawingml/2006/main">
            <a:off x="6448425" y="2543175"/>
            <a:ext cx="489585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2E3B35"/>
                </a:solidFill>
                <a:latin typeface="Georgia"/>
                <a:ea typeface="Georgia"/>
                <a:cs typeface="Georgia"/>
              </a:defRPr>
            </a:pPr>
            <a:r>
              <a:rPr sz="1350" b="0">
                <a:solidFill>
                  <a:srgbClr val="2E3B35"/>
                </a:solidFill>
                <a:latin typeface="Georgia"/>
                <a:ea typeface="Georgia"/>
                <a:cs typeface="Georgia"/>
              </a:rPr>
              <a:t>Đánh giá default và ZBC 01 như lối ra khác nhau. Ghép kết quả với dòng tiền, lãi suất, thanh khoản và đặc điểm cấu trúc MBS. CIF đơn lẻ không phải tổn thất kỳ vọng.</a:t>
            </a:r>
          </a:p>
        </p:txBody>
      </p:sp>
      <p:sp>
        <p:nvSpPr>
          <p:cNvPr id="16" name="">
            <a:extLst xmlns:a="http://schemas.openxmlformats.org/drawingml/2006/main">
              <a:ext uri="{FF2B5EF4-FFF2-40B4-BE49-F238E27FC236}">
                <a16:creationId xmlns:a16="http://schemas.microsoft.com/office/drawing/2014/main" id="{7C7E3758-4E2E-4E7E-9959-00F583B1A890}"/>
              </a:ext>
            </a:extLst>
          </p:cNvPr>
          <p:cNvSpPr>
            <a:spLocks xmlns:a="http://schemas.openxmlformats.org/drawingml/2006/main" noGrp="1"/>
          </p:cNvSpPr>
          <p:nvPr/>
        </p:nvSpPr>
        <p:spPr>
          <a:xfrm xmlns:a="http://schemas.openxmlformats.org/drawingml/2006/main">
            <a:off x="857250" y="5143500"/>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B86252"/>
                </a:solidFill>
                <a:latin typeface="Georgia"/>
                <a:ea typeface="Georgia"/>
                <a:cs typeface="Georgia"/>
              </a:defRPr>
            </a:pPr>
            <a:r>
              <a:rPr sz="1425" b="1">
                <a:solidFill>
                  <a:srgbClr val="B86252"/>
                </a:solidFill>
                <a:latin typeface="Georgia"/>
                <a:ea typeface="Georgia"/>
                <a:cs typeface="Georgia"/>
              </a:rPr>
              <a:t>Dự án không tạo PD cá nhân đã hiệu chuẩn và không phải mô hình ECL / IFRS 9.</a:t>
            </a:r>
          </a:p>
        </p:txBody>
      </p:sp>
    </p:spTree>
    <p:extLst>
      <p:ext uri="{BB962C8B-B14F-4D97-AF65-F5344CB8AC3E}">
        <p14:creationId xmlns:p14="http://schemas.microsoft.com/office/powerpoint/2010/main" val="197571008"/>
      </p:ext>
    </p:extLst>
  </p:cSld>
</p:sld>
</file>

<file path=ppt/slides/slide12.xml><?xml version="1.0" encoding="utf-8"?>
<p:sld xmlns:p="http://schemas.openxmlformats.org/presentationml/2006/main">
  <p:cSld>
    <p:bg>
      <p:bgPr>
        <a:solidFill xmlns:a="http://schemas.openxmlformats.org/drawingml/2006/main">
          <a:srgbClr val="F1EFE6"/>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2DA17EA-AB88-4DAD-AD0E-8BED61F4D44A}"/>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2E3B3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F851B08-63F2-41FC-9769-BEE18C15E0AD}"/>
              </a:ext>
            </a:extLst>
          </p:cNvPr>
          <p:cNvSpPr>
            <a:spLocks xmlns:a="http://schemas.openxmlformats.org/drawingml/2006/main" noGrp="1"/>
          </p:cNvSpPr>
          <p:nvPr/>
        </p:nvSpPr>
        <p:spPr>
          <a:xfrm xmlns:a="http://schemas.openxmlformats.org/drawingml/2006/main">
            <a:off x="609600" y="3238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defRPr sz="1050" b="1">
                <a:solidFill>
                  <a:srgbClr val="B5A15B"/>
                </a:solidFill>
                <a:latin typeface="Arial"/>
                <a:ea typeface="Arial"/>
                <a:cs typeface="Arial"/>
              </a:defRPr>
            </a:pPr>
            <a:r>
              <a:rPr sz="1050" b="1">
                <a:solidFill>
                  <a:srgbClr val="B5A15B"/>
                </a:solidFill>
                <a:latin typeface="Arial"/>
                <a:ea typeface="Arial"/>
                <a:cs typeface="Arial"/>
              </a:rPr>
              <a:t>11 · KẾT LUẬN</a:t>
            </a:r>
          </a:p>
        </p:txBody>
      </p:sp>
      <p:sp>
        <p:nvSpPr>
          <p:cNvPr id="3" name="">
            <a:extLst xmlns:a="http://schemas.openxmlformats.org/drawingml/2006/main">
              <a:ext uri="{FF2B5EF4-FFF2-40B4-BE49-F238E27FC236}">
                <a16:creationId xmlns:a16="http://schemas.microsoft.com/office/drawing/2014/main" id="{7E40B652-5E20-4016-92FE-CF91537B3B92}"/>
              </a:ext>
            </a:extLst>
          </p:cNvPr>
          <p:cNvSpPr>
            <a:spLocks xmlns:a="http://schemas.openxmlformats.org/drawingml/2006/main" noGrp="1"/>
          </p:cNvSpPr>
          <p:nvPr/>
        </p:nvSpPr>
        <p:spPr>
          <a:xfrm xmlns:a="http://schemas.openxmlformats.org/drawingml/2006/main">
            <a:off x="609600" y="6477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850" b="1">
                <a:solidFill>
                  <a:srgbClr val="2E3B35"/>
                </a:solidFill>
                <a:latin typeface="Georgia"/>
                <a:ea typeface="Georgia"/>
                <a:cs typeface="Georgia"/>
              </a:defRPr>
            </a:pPr>
            <a:r>
              <a:rPr sz="2850" b="1">
                <a:solidFill>
                  <a:srgbClr val="2E3B35"/>
                </a:solidFill>
                <a:latin typeface="Georgia"/>
                <a:ea typeface="Georgia"/>
                <a:cs typeface="Georgia"/>
              </a:rPr>
              <a:t>Kết quả mô tả rủi ro theo thời gian và nhóm</a:t>
            </a:r>
          </a:p>
        </p:txBody>
      </p:sp>
      <p:sp>
        <p:nvSpPr>
          <p:cNvPr id="4" name="">
            <a:extLst xmlns:a="http://schemas.openxmlformats.org/drawingml/2006/main">
              <a:ext uri="{FF2B5EF4-FFF2-40B4-BE49-F238E27FC236}">
                <a16:creationId xmlns:a16="http://schemas.microsoft.com/office/drawing/2014/main" id="{6736D935-D860-4887-B0B2-C68A24E914D9}"/>
              </a:ext>
            </a:extLst>
          </p:cNvPr>
          <p:cNvSpPr>
            <a:spLocks xmlns:a="http://schemas.openxmlformats.org/drawingml/2006/main" noGrp="1"/>
          </p:cNvSpPr>
          <p:nvPr/>
        </p:nvSpPr>
        <p:spPr>
          <a:xfrm xmlns:a="http://schemas.openxmlformats.org/drawingml/2006/main">
            <a:off x="628650" y="13239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748078"/>
                </a:solidFill>
                <a:latin typeface="Georgia"/>
                <a:ea typeface="Georgia"/>
                <a:cs typeface="Georgia"/>
              </a:defRPr>
            </a:pPr>
            <a:r>
              <a:rPr sz="1425" b="0">
                <a:solidFill>
                  <a:srgbClr val="748078"/>
                </a:solidFill>
                <a:latin typeface="Georgia"/>
                <a:ea typeface="Georgia"/>
                <a:cs typeface="Georgia"/>
              </a:rPr>
              <a:t>Diễn giải đúng estimand quan trọng ngang với con số.</a:t>
            </a:r>
          </a:p>
        </p:txBody>
      </p:sp>
      <p:sp>
        <p:nvSpPr>
          <p:cNvPr id="5" name="">
            <a:extLst xmlns:a="http://schemas.openxmlformats.org/drawingml/2006/main">
              <a:ext uri="{FF2B5EF4-FFF2-40B4-BE49-F238E27FC236}">
                <a16:creationId xmlns:a16="http://schemas.microsoft.com/office/drawing/2014/main" id="{A2E380A5-4C70-45AC-AD91-5CB8D4011C0E}"/>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8D4C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63F1620-7FD6-4F6E-ABA7-87E48635959E}"/>
              </a:ext>
            </a:extLst>
          </p:cNvPr>
          <p:cNvSpPr>
            <a:spLocks xmlns:a="http://schemas.openxmlformats.org/drawingml/2006/main" noGrp="1"/>
          </p:cNvSpPr>
          <p:nvPr/>
        </p:nvSpPr>
        <p:spPr>
          <a:xfrm xmlns:a="http://schemas.openxmlformats.org/drawingml/2006/main">
            <a:off x="628650" y="649605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0">
                <a:solidFill>
                  <a:srgbClr val="748078"/>
                </a:solidFill>
                <a:latin typeface="Arial"/>
                <a:ea typeface="Arial"/>
                <a:cs typeface="Arial"/>
              </a:defRPr>
            </a:pPr>
            <a:r>
              <a:rPr sz="750" b="0">
                <a:solidFill>
                  <a:srgbClr val="748078"/>
                </a:solidFill>
                <a:latin typeface="Arial"/>
                <a:ea typeface="Arial"/>
                <a:cs typeface="Arial"/>
              </a:rPr>
              <a:t>Mortgage Default &amp; Prepayment · Freddie Mac 2016–2026</a:t>
            </a:r>
          </a:p>
        </p:txBody>
      </p:sp>
      <p:sp>
        <p:nvSpPr>
          <p:cNvPr id="7" name="">
            <a:extLst xmlns:a="http://schemas.openxmlformats.org/drawingml/2006/main">
              <a:ext uri="{FF2B5EF4-FFF2-40B4-BE49-F238E27FC236}">
                <a16:creationId xmlns:a16="http://schemas.microsoft.com/office/drawing/2014/main" id="{9F04B3B8-AFDC-4905-B1E4-F9E01CED5970}"/>
              </a:ext>
            </a:extLst>
          </p:cNvPr>
          <p:cNvSpPr>
            <a:spLocks xmlns:a="http://schemas.openxmlformats.org/drawingml/2006/main" noGrp="1"/>
          </p:cNvSpPr>
          <p:nvPr/>
        </p:nvSpPr>
        <p:spPr>
          <a:xfrm xmlns:a="http://schemas.openxmlformats.org/drawingml/2006/main">
            <a:off x="11049000" y="647700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0">
                <a:solidFill>
                  <a:srgbClr val="748078"/>
                </a:solidFill>
                <a:latin typeface="Arial"/>
                <a:ea typeface="Arial"/>
                <a:cs typeface="Arial"/>
              </a:defRPr>
            </a:pPr>
            <a:r>
              <a:rPr sz="825" b="0">
                <a:solidFill>
                  <a:srgbClr val="748078"/>
                </a:solidFill>
                <a:latin typeface="Arial"/>
                <a:ea typeface="Arial"/>
                <a:cs typeface="Arial"/>
              </a:rPr>
              <a:t>12</a:t>
            </a:r>
          </a:p>
        </p:txBody>
      </p:sp>
      <p:sp>
        <p:nvSpPr>
          <p:cNvPr id="8" name="">
            <a:extLst xmlns:a="http://schemas.openxmlformats.org/drawingml/2006/main">
              <a:ext uri="{FF2B5EF4-FFF2-40B4-BE49-F238E27FC236}">
                <a16:creationId xmlns:a16="http://schemas.microsoft.com/office/drawing/2014/main" id="{B4B6075F-8262-40FD-A3F4-0B0AF7897DE1}"/>
              </a:ext>
            </a:extLst>
          </p:cNvPr>
          <p:cNvSpPr>
            <a:spLocks xmlns:a="http://schemas.openxmlformats.org/drawingml/2006/main" noGrp="1"/>
          </p:cNvSpPr>
          <p:nvPr/>
        </p:nvSpPr>
        <p:spPr>
          <a:xfrm xmlns:a="http://schemas.openxmlformats.org/drawingml/2006/main">
            <a:off x="628650" y="1952625"/>
            <a:ext cx="3381375" cy="1714500"/>
          </a:xfrm>
          <a:prstGeom xmlns:a="http://schemas.openxmlformats.org/drawingml/2006/main" prst="rect">
            <a:avLst/>
          </a:prstGeom>
          <a:solidFill xmlns:a="http://schemas.openxmlformats.org/drawingml/2006/main">
            <a:srgbClr val="FFFDF8"/>
          </a:solidFill>
          <a:ln xmlns:a="http://schemas.openxmlformats.org/drawingml/2006/main" w="12383">
            <a:solidFill>
              <a:srgbClr val="D8D4C6"/>
            </a:solidFill>
          </a:ln>
        </p:spPr>
      </p:sp>
      <p:sp>
        <p:nvSpPr>
          <p:cNvPr id="9" name="">
            <a:extLst xmlns:a="http://schemas.openxmlformats.org/drawingml/2006/main">
              <a:ext uri="{FF2B5EF4-FFF2-40B4-BE49-F238E27FC236}">
                <a16:creationId xmlns:a16="http://schemas.microsoft.com/office/drawing/2014/main" id="{B32E5036-FEE4-4E1E-A59E-AF490EAFBF9C}"/>
              </a:ext>
            </a:extLst>
          </p:cNvPr>
          <p:cNvSpPr>
            <a:spLocks xmlns:a="http://schemas.openxmlformats.org/drawingml/2006/main" noGrp="1"/>
          </p:cNvSpPr>
          <p:nvPr/>
        </p:nvSpPr>
        <p:spPr>
          <a:xfrm xmlns:a="http://schemas.openxmlformats.org/drawingml/2006/main">
            <a:off x="628650" y="1952625"/>
            <a:ext cx="57150" cy="1714500"/>
          </a:xfrm>
          <a:prstGeom xmlns:a="http://schemas.openxmlformats.org/drawingml/2006/main" prst="rect">
            <a:avLst/>
          </a:prstGeom>
          <a:solidFill xmlns:a="http://schemas.openxmlformats.org/drawingml/2006/main">
            <a:srgbClr val="B8625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3F16231-5E38-43A0-9359-EE87DA5BF0D3}"/>
              </a:ext>
            </a:extLst>
          </p:cNvPr>
          <p:cNvSpPr>
            <a:spLocks xmlns:a="http://schemas.openxmlformats.org/drawingml/2006/main" noGrp="1"/>
          </p:cNvSpPr>
          <p:nvPr/>
        </p:nvSpPr>
        <p:spPr>
          <a:xfrm xmlns:a="http://schemas.openxmlformats.org/drawingml/2006/main">
            <a:off x="838200" y="2095500"/>
            <a:ext cx="29622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056"/>
          </a:bodyPr>
          <a:lstStyle xmlns:a="http://schemas.openxmlformats.org/drawingml/2006/main"/>
          <a:p xmlns:a="http://schemas.openxmlformats.org/drawingml/2006/main">
            <a:pPr>
              <a:defRPr sz="900" b="1">
                <a:solidFill>
                  <a:srgbClr val="B86252"/>
                </a:solidFill>
                <a:latin typeface="Arial"/>
                <a:ea typeface="Arial"/>
                <a:cs typeface="Arial"/>
              </a:defRPr>
            </a:pPr>
            <a:r>
              <a:rPr sz="900" b="1">
                <a:solidFill>
                  <a:srgbClr val="B86252"/>
                </a:solidFill>
                <a:latin typeface="Arial"/>
                <a:ea typeface="Arial"/>
                <a:cs typeface="Arial"/>
              </a:rPr>
              <a:t>THẤY ĐƯỢC</a:t>
            </a:r>
          </a:p>
        </p:txBody>
      </p:sp>
      <p:sp>
        <p:nvSpPr>
          <p:cNvPr id="11" name="">
            <a:extLst xmlns:a="http://schemas.openxmlformats.org/drawingml/2006/main">
              <a:ext uri="{FF2B5EF4-FFF2-40B4-BE49-F238E27FC236}">
                <a16:creationId xmlns:a16="http://schemas.microsoft.com/office/drawing/2014/main" id="{AB3C58BE-C2B4-4D8D-B24B-CB1C1309DEDB}"/>
              </a:ext>
            </a:extLst>
          </p:cNvPr>
          <p:cNvSpPr>
            <a:spLocks xmlns:a="http://schemas.openxmlformats.org/drawingml/2006/main" noGrp="1"/>
          </p:cNvSpPr>
          <p:nvPr/>
        </p:nvSpPr>
        <p:spPr>
          <a:xfrm xmlns:a="http://schemas.openxmlformats.org/drawingml/2006/main">
            <a:off x="838200" y="2400300"/>
            <a:ext cx="296227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2E3B35"/>
                </a:solidFill>
                <a:latin typeface="Georgia"/>
                <a:ea typeface="Georgia"/>
                <a:cs typeface="Georgia"/>
              </a:defRPr>
            </a:pPr>
            <a:r>
              <a:rPr sz="1350" b="0">
                <a:solidFill>
                  <a:srgbClr val="2E3B35"/>
                </a:solidFill>
                <a:latin typeface="Georgia"/>
                <a:ea typeface="Georgia"/>
                <a:cs typeface="Georgia"/>
              </a:rPr>
              <a:t>CIF mô tả xác suất tích lũy theo kết cục, có xét event cạnh tranh.</a:t>
            </a:r>
          </a:p>
        </p:txBody>
      </p:sp>
      <p:sp>
        <p:nvSpPr>
          <p:cNvPr id="12" name="">
            <a:extLst xmlns:a="http://schemas.openxmlformats.org/drawingml/2006/main">
              <a:ext uri="{FF2B5EF4-FFF2-40B4-BE49-F238E27FC236}">
                <a16:creationId xmlns:a16="http://schemas.microsoft.com/office/drawing/2014/main" id="{1FE9AEF0-8C78-4993-A4CE-EF7DD6A5ED47}"/>
              </a:ext>
            </a:extLst>
          </p:cNvPr>
          <p:cNvSpPr>
            <a:spLocks xmlns:a="http://schemas.openxmlformats.org/drawingml/2006/main" noGrp="1"/>
          </p:cNvSpPr>
          <p:nvPr/>
        </p:nvSpPr>
        <p:spPr>
          <a:xfrm xmlns:a="http://schemas.openxmlformats.org/drawingml/2006/main">
            <a:off x="4400550" y="1952625"/>
            <a:ext cx="3381375" cy="1714500"/>
          </a:xfrm>
          <a:prstGeom xmlns:a="http://schemas.openxmlformats.org/drawingml/2006/main" prst="rect">
            <a:avLst/>
          </a:prstGeom>
          <a:solidFill xmlns:a="http://schemas.openxmlformats.org/drawingml/2006/main">
            <a:srgbClr val="FFFDF8"/>
          </a:solidFill>
          <a:ln xmlns:a="http://schemas.openxmlformats.org/drawingml/2006/main" w="12383">
            <a:solidFill>
              <a:srgbClr val="D8D4C6"/>
            </a:solidFill>
          </a:ln>
        </p:spPr>
      </p:sp>
      <p:sp>
        <p:nvSpPr>
          <p:cNvPr id="13" name="">
            <a:extLst xmlns:a="http://schemas.openxmlformats.org/drawingml/2006/main">
              <a:ext uri="{FF2B5EF4-FFF2-40B4-BE49-F238E27FC236}">
                <a16:creationId xmlns:a16="http://schemas.microsoft.com/office/drawing/2014/main" id="{125D8539-28BC-4EB7-BE03-2083ECEF3ED6}"/>
              </a:ext>
            </a:extLst>
          </p:cNvPr>
          <p:cNvSpPr>
            <a:spLocks xmlns:a="http://schemas.openxmlformats.org/drawingml/2006/main" noGrp="1"/>
          </p:cNvSpPr>
          <p:nvPr/>
        </p:nvSpPr>
        <p:spPr>
          <a:xfrm xmlns:a="http://schemas.openxmlformats.org/drawingml/2006/main">
            <a:off x="4400550" y="1952625"/>
            <a:ext cx="57150" cy="1714500"/>
          </a:xfrm>
          <a:prstGeom xmlns:a="http://schemas.openxmlformats.org/drawingml/2006/main" prst="rect">
            <a:avLst/>
          </a:prstGeom>
          <a:solidFill xmlns:a="http://schemas.openxmlformats.org/drawingml/2006/main">
            <a:srgbClr val="B5A15B"/>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33615CD-82FB-4E22-AD19-023596E69C23}"/>
              </a:ext>
            </a:extLst>
          </p:cNvPr>
          <p:cNvSpPr>
            <a:spLocks xmlns:a="http://schemas.openxmlformats.org/drawingml/2006/main" noGrp="1"/>
          </p:cNvSpPr>
          <p:nvPr/>
        </p:nvSpPr>
        <p:spPr>
          <a:xfrm xmlns:a="http://schemas.openxmlformats.org/drawingml/2006/main">
            <a:off x="4610100" y="2095500"/>
            <a:ext cx="29622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056"/>
          </a:bodyPr>
          <a:lstStyle xmlns:a="http://schemas.openxmlformats.org/drawingml/2006/main"/>
          <a:p xmlns:a="http://schemas.openxmlformats.org/drawingml/2006/main">
            <a:pPr>
              <a:defRPr sz="900" b="1">
                <a:solidFill>
                  <a:srgbClr val="B5A15B"/>
                </a:solidFill>
                <a:latin typeface="Arial"/>
                <a:ea typeface="Arial"/>
                <a:cs typeface="Arial"/>
              </a:defRPr>
            </a:pPr>
            <a:r>
              <a:rPr sz="900" b="1">
                <a:solidFill>
                  <a:srgbClr val="B5A15B"/>
                </a:solidFill>
                <a:latin typeface="Arial"/>
                <a:ea typeface="Arial"/>
                <a:cs typeface="Arial"/>
              </a:rPr>
              <a:t>CẦN THẬN TRỌNG</a:t>
            </a:r>
          </a:p>
        </p:txBody>
      </p:sp>
      <p:sp>
        <p:nvSpPr>
          <p:cNvPr id="15" name="">
            <a:extLst xmlns:a="http://schemas.openxmlformats.org/drawingml/2006/main">
              <a:ext uri="{FF2B5EF4-FFF2-40B4-BE49-F238E27FC236}">
                <a16:creationId xmlns:a16="http://schemas.microsoft.com/office/drawing/2014/main" id="{BF23BA72-9CA0-4CA9-B495-19D740B9A042}"/>
              </a:ext>
            </a:extLst>
          </p:cNvPr>
          <p:cNvSpPr>
            <a:spLocks xmlns:a="http://schemas.openxmlformats.org/drawingml/2006/main" noGrp="1"/>
          </p:cNvSpPr>
          <p:nvPr/>
        </p:nvSpPr>
        <p:spPr>
          <a:xfrm xmlns:a="http://schemas.openxmlformats.org/drawingml/2006/main">
            <a:off x="4610100" y="2400300"/>
            <a:ext cx="296227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2E3B35"/>
                </a:solidFill>
                <a:latin typeface="Georgia"/>
                <a:ea typeface="Georgia"/>
                <a:cs typeface="Georgia"/>
              </a:defRPr>
            </a:pPr>
            <a:r>
              <a:rPr sz="1350" b="0">
                <a:solidFill>
                  <a:srgbClr val="2E3B35"/>
                </a:solidFill>
                <a:latin typeface="Georgia"/>
                <a:ea typeface="Georgia"/>
                <a:cs typeface="Georgia"/>
              </a:rPr>
              <a:t>ZBC 01 gộp prepaid/matured. Vintage là liên hệ mô tả, không phải nguyên nhân.</a:t>
            </a:r>
          </a:p>
        </p:txBody>
      </p:sp>
      <p:sp>
        <p:nvSpPr>
          <p:cNvPr id="16" name="">
            <a:extLst xmlns:a="http://schemas.openxmlformats.org/drawingml/2006/main">
              <a:ext uri="{FF2B5EF4-FFF2-40B4-BE49-F238E27FC236}">
                <a16:creationId xmlns:a16="http://schemas.microsoft.com/office/drawing/2014/main" id="{A79E7AAF-2DD9-4499-8CB9-E1F4CBCAE30A}"/>
              </a:ext>
            </a:extLst>
          </p:cNvPr>
          <p:cNvSpPr>
            <a:spLocks xmlns:a="http://schemas.openxmlformats.org/drawingml/2006/main" noGrp="1"/>
          </p:cNvSpPr>
          <p:nvPr/>
        </p:nvSpPr>
        <p:spPr>
          <a:xfrm xmlns:a="http://schemas.openxmlformats.org/drawingml/2006/main">
            <a:off x="8172450" y="1952625"/>
            <a:ext cx="3381375" cy="1714500"/>
          </a:xfrm>
          <a:prstGeom xmlns:a="http://schemas.openxmlformats.org/drawingml/2006/main" prst="rect">
            <a:avLst/>
          </a:prstGeom>
          <a:solidFill xmlns:a="http://schemas.openxmlformats.org/drawingml/2006/main">
            <a:srgbClr val="FFFDF8"/>
          </a:solidFill>
          <a:ln xmlns:a="http://schemas.openxmlformats.org/drawingml/2006/main" w="12383">
            <a:solidFill>
              <a:srgbClr val="D8D4C6"/>
            </a:solidFill>
          </a:ln>
        </p:spPr>
      </p:sp>
      <p:sp>
        <p:nvSpPr>
          <p:cNvPr id="17" name="">
            <a:extLst xmlns:a="http://schemas.openxmlformats.org/drawingml/2006/main">
              <a:ext uri="{FF2B5EF4-FFF2-40B4-BE49-F238E27FC236}">
                <a16:creationId xmlns:a16="http://schemas.microsoft.com/office/drawing/2014/main" id="{360C078A-F471-4D0F-B92D-2A88FADC046D}"/>
              </a:ext>
            </a:extLst>
          </p:cNvPr>
          <p:cNvSpPr>
            <a:spLocks xmlns:a="http://schemas.openxmlformats.org/drawingml/2006/main" noGrp="1"/>
          </p:cNvSpPr>
          <p:nvPr/>
        </p:nvSpPr>
        <p:spPr>
          <a:xfrm xmlns:a="http://schemas.openxmlformats.org/drawingml/2006/main">
            <a:off x="8172450" y="1952625"/>
            <a:ext cx="57150" cy="1714500"/>
          </a:xfrm>
          <a:prstGeom xmlns:a="http://schemas.openxmlformats.org/drawingml/2006/main" prst="rect">
            <a:avLst/>
          </a:prstGeom>
          <a:solidFill xmlns:a="http://schemas.openxmlformats.org/drawingml/2006/main">
            <a:srgbClr val="64816D"/>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5FBDB08-C4B9-4507-BD47-25A31885566A}"/>
              </a:ext>
            </a:extLst>
          </p:cNvPr>
          <p:cNvSpPr>
            <a:spLocks xmlns:a="http://schemas.openxmlformats.org/drawingml/2006/main" noGrp="1"/>
          </p:cNvSpPr>
          <p:nvPr/>
        </p:nvSpPr>
        <p:spPr>
          <a:xfrm xmlns:a="http://schemas.openxmlformats.org/drawingml/2006/main">
            <a:off x="8382000" y="2095500"/>
            <a:ext cx="29622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056"/>
          </a:bodyPr>
          <a:lstStyle xmlns:a="http://schemas.openxmlformats.org/drawingml/2006/main"/>
          <a:p xmlns:a="http://schemas.openxmlformats.org/drawingml/2006/main">
            <a:pPr>
              <a:defRPr sz="900" b="1">
                <a:solidFill>
                  <a:srgbClr val="64816D"/>
                </a:solidFill>
                <a:latin typeface="Arial"/>
                <a:ea typeface="Arial"/>
                <a:cs typeface="Arial"/>
              </a:defRPr>
            </a:pPr>
            <a:r>
              <a:rPr sz="900" b="1">
                <a:solidFill>
                  <a:srgbClr val="64816D"/>
                </a:solidFill>
                <a:latin typeface="Arial"/>
                <a:ea typeface="Arial"/>
                <a:cs typeface="Arial"/>
              </a:rPr>
              <a:t>BƯỚC TIẾP</a:t>
            </a:r>
          </a:p>
        </p:txBody>
      </p:sp>
      <p:sp>
        <p:nvSpPr>
          <p:cNvPr id="19" name="">
            <a:extLst xmlns:a="http://schemas.openxmlformats.org/drawingml/2006/main">
              <a:ext uri="{FF2B5EF4-FFF2-40B4-BE49-F238E27FC236}">
                <a16:creationId xmlns:a16="http://schemas.microsoft.com/office/drawing/2014/main" id="{05B544C7-5870-4BF1-A47B-926D75537244}"/>
              </a:ext>
            </a:extLst>
          </p:cNvPr>
          <p:cNvSpPr>
            <a:spLocks xmlns:a="http://schemas.openxmlformats.org/drawingml/2006/main" noGrp="1"/>
          </p:cNvSpPr>
          <p:nvPr/>
        </p:nvSpPr>
        <p:spPr>
          <a:xfrm xmlns:a="http://schemas.openxmlformats.org/drawingml/2006/main">
            <a:off x="8382000" y="2400300"/>
            <a:ext cx="296227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2E3B35"/>
                </a:solidFill>
                <a:latin typeface="Georgia"/>
                <a:ea typeface="Georgia"/>
                <a:cs typeface="Georgia"/>
              </a:defRPr>
            </a:pPr>
            <a:r>
              <a:rPr sz="1350" b="0">
                <a:solidFill>
                  <a:srgbClr val="2E3B35"/>
                </a:solidFill>
                <a:latin typeface="Georgia"/>
                <a:ea typeface="Georgia"/>
                <a:cs typeface="Georgia"/>
              </a:rPr>
              <a:t>Bổ sung kiểm định ngoài thời gian/thị trường và đánh giá độ hiệu chuẩn trước mọi quyết định cá nhân.</a:t>
            </a:r>
          </a:p>
        </p:txBody>
      </p:sp>
      <p:sp>
        <p:nvSpPr>
          <p:cNvPr id="20" name="">
            <a:extLst xmlns:a="http://schemas.openxmlformats.org/drawingml/2006/main">
              <a:ext uri="{FF2B5EF4-FFF2-40B4-BE49-F238E27FC236}">
                <a16:creationId xmlns:a16="http://schemas.microsoft.com/office/drawing/2014/main" id="{FBF6EE79-D4DE-4BC1-8499-424044663691}"/>
              </a:ext>
            </a:extLst>
          </p:cNvPr>
          <p:cNvSpPr>
            <a:spLocks xmlns:a="http://schemas.openxmlformats.org/drawingml/2006/main" noGrp="1"/>
          </p:cNvSpPr>
          <p:nvPr/>
        </p:nvSpPr>
        <p:spPr>
          <a:xfrm xmlns:a="http://schemas.openxmlformats.org/drawingml/2006/main">
            <a:off x="857250" y="4429125"/>
            <a:ext cx="10334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2E3B35"/>
                </a:solidFill>
                <a:latin typeface="Georgia"/>
                <a:ea typeface="Georgia"/>
                <a:cs typeface="Georgia"/>
              </a:defRPr>
            </a:pPr>
            <a:r>
              <a:rPr sz="1500" b="0">
                <a:solidFill>
                  <a:srgbClr val="2E3B35"/>
                </a:solidFill>
                <a:latin typeface="Georgia"/>
                <a:ea typeface="Georgia"/>
                <a:cs typeface="Georgia"/>
              </a:rPr>
              <a:t>Giới hạn: proxy mốc thời gian, follow-up khác nhau giữa vintage, nguồn biến hạn chế và giả định mô hình. Kết quả không tương đương PD cá nhân hay ECL.</a:t>
            </a:r>
          </a:p>
        </p:txBody>
      </p:sp>
      <p:sp>
        <p:nvSpPr>
          <p:cNvPr id="21" name="">
            <a:extLst xmlns:a="http://schemas.openxmlformats.org/drawingml/2006/main">
              <a:ext uri="{FF2B5EF4-FFF2-40B4-BE49-F238E27FC236}">
                <a16:creationId xmlns:a16="http://schemas.microsoft.com/office/drawing/2014/main" id="{DE54251D-8520-45F0-8F6D-7E5D8DF91F35}"/>
              </a:ext>
            </a:extLst>
          </p:cNvPr>
          <p:cNvSpPr>
            <a:spLocks xmlns:a="http://schemas.openxmlformats.org/drawingml/2006/main" noGrp="1"/>
          </p:cNvSpPr>
          <p:nvPr/>
        </p:nvSpPr>
        <p:spPr>
          <a:xfrm xmlns:a="http://schemas.openxmlformats.org/drawingml/2006/main">
            <a:off x="857250" y="56197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defRPr sz="1425" b="1">
                <a:solidFill>
                  <a:srgbClr val="344F78"/>
                </a:solidFill>
                <a:latin typeface="Georgia"/>
                <a:ea typeface="Georgia"/>
                <a:cs typeface="Georgia"/>
              </a:defRPr>
            </a:pPr>
            <a:r>
              <a:rPr sz="1425" b="1">
                <a:solidFill>
                  <a:srgbClr val="344F78"/>
                </a:solidFill>
                <a:latin typeface="Georgia"/>
                <a:ea typeface="Georgia"/>
                <a:cs typeface="Georgia"/>
              </a:rPr>
              <a:t>Cảm ơn · Câu hỏi</a:t>
            </a:r>
          </a:p>
        </p:txBody>
      </p:sp>
    </p:spTree>
    <p:extLst>
      <p:ext uri="{BB962C8B-B14F-4D97-AF65-F5344CB8AC3E}">
        <p14:creationId xmlns:p14="http://schemas.microsoft.com/office/powerpoint/2010/main" val="17170647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2026-10-01T06:14:11.7670000Z</dcterms:created>
  <dcterms:modified xsi:type="dcterms:W3CDTF">2026-10-01T06:14:11.7670000Z</dcterms:modified>
</coreProperties>
</file>